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914400"/>
            <a:ext cx="6521481" cy="632651"/>
            <a:chOff x="678942" y="914400"/>
            <a:chExt cx="6521481" cy="632651"/>
          </a:xfrm>
        </p:grpSpPr>
        <p:sp>
          <p:nvSpPr>
            <p:cNvPr id="2" name="Rectangle 2"/>
            <p:cNvSpPr/>
            <p:nvPr/>
          </p:nvSpPr>
          <p:spPr>
            <a:xfrm>
              <a:off x="685800" y="91440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1283018"/>
              <a:ext cx="6521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AIEDAP 전문성 강화 영어교과 심화 연수 · AI Engineering Stack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" y="2177415"/>
            <a:ext cx="8929771" cy="2171700"/>
            <a:chOff x="647700" y="2177415"/>
            <a:chExt cx="8929771" cy="2171700"/>
          </a:xfrm>
        </p:grpSpPr>
        <p:sp>
          <p:nvSpPr>
            <p:cNvPr id="5" name="TextBox 5"/>
            <p:cNvSpPr txBox="1"/>
            <p:nvPr/>
          </p:nvSpPr>
          <p:spPr>
            <a:xfrm>
              <a:off x="647700" y="2177415"/>
              <a:ext cx="702861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프롬프트를 넘어,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7700" y="3129915"/>
              <a:ext cx="892977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AI 시스템을 </a:t>
              </a:r>
              <a:r>
                <a:rPr lang="ko-KR" sz="63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설계</a:t>
              </a:r>
              <a:r>
                <a:rPr lang="ko-KR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한다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3608" y="4236720"/>
            <a:ext cx="8261018" cy="469392"/>
            <a:chOff x="673608" y="4236720"/>
            <a:chExt cx="8261018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673608" y="4236720"/>
              <a:ext cx="82610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Prompt · Context · Harness · Agentic Engineering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6656" y="4911090"/>
            <a:ext cx="8613648" cy="694944"/>
            <a:chOff x="676656" y="4911090"/>
            <a:chExt cx="8613648" cy="6949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4911090"/>
              <a:ext cx="861364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질문은 「무엇을 말할까?」에서 「무엇을 보여줄까?」,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「어떤 환경에서 움직이게 할까?」, 「무엇을 스스로 판단하게 할까?」로 이동한다.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942" y="6019800"/>
            <a:ext cx="10834116" cy="499301"/>
            <a:chOff x="678942" y="6019800"/>
            <a:chExt cx="10834116" cy="499301"/>
          </a:xfrm>
        </p:grpSpPr>
        <p:sp>
          <p:nvSpPr>
            <p:cNvPr id="12" name="Line 12"/>
            <p:cNvSpPr/>
            <p:nvPr/>
          </p:nvSpPr>
          <p:spPr>
            <a:xfrm>
              <a:off x="685800" y="6019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8942" y="6255068"/>
              <a:ext cx="3893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좋은 프롬프트를 쓰는 기술 → 시스템 엔지니어링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099521" y="6255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708660"/>
            <a:ext cx="8707145" cy="1086041"/>
            <a:chOff x="669798" y="708660"/>
            <a:chExt cx="8707145" cy="1086041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708660"/>
              <a:ext cx="8223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강의 지도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993458"/>
              <a:ext cx="79219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AI Engineering Stack, 네 개의 설계 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1530668"/>
              <a:ext cx="86980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AI 시스템이 복잡해질수록 설계의 중심은 Prompt → Context → Harness → Agentic System으로 확장된다.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5132" y="1866900"/>
            <a:ext cx="10837926" cy="708851"/>
            <a:chOff x="675132" y="1866900"/>
            <a:chExt cx="10837926" cy="708851"/>
          </a:xfrm>
        </p:grpSpPr>
        <p:sp>
          <p:nvSpPr>
            <p:cNvPr id="6" name="Line 6"/>
            <p:cNvSpPr/>
            <p:nvPr/>
          </p:nvSpPr>
          <p:spPr>
            <a:xfrm>
              <a:off x="685800" y="1866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5132" y="20021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08532" y="2002155"/>
              <a:ext cx="66251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Prompt Engineering — 모델에게 어떻게 지시할까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99431" y="20831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§1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2342" y="2311718"/>
              <a:ext cx="7441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Instruction · Role · Zero/Few-shot · 구조화 · Schema · Constraint · Chaining · 한계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5132" y="2647950"/>
            <a:ext cx="10837926" cy="708851"/>
            <a:chOff x="675132" y="2647950"/>
            <a:chExt cx="10837926" cy="708851"/>
          </a:xfrm>
        </p:grpSpPr>
        <p:sp>
          <p:nvSpPr>
            <p:cNvPr id="12" name="Line 12"/>
            <p:cNvSpPr/>
            <p:nvPr/>
          </p:nvSpPr>
          <p:spPr>
            <a:xfrm>
              <a:off x="685800" y="264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5132" y="27832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08532" y="2783205"/>
              <a:ext cx="61298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Engineering — 지금 무엇을 보여줄까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99431" y="28641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§2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12342" y="3092768"/>
              <a:ext cx="7960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Window · Selection · Ordering · Compression · Pruning · Routing · RAG · Memory · Budget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5132" y="3429000"/>
            <a:ext cx="10837926" cy="708851"/>
            <a:chOff x="675132" y="3429000"/>
            <a:chExt cx="10837926" cy="708851"/>
          </a:xfrm>
        </p:grpSpPr>
        <p:sp>
          <p:nvSpPr>
            <p:cNvPr id="18" name="Line 18"/>
            <p:cNvSpPr/>
            <p:nvPr/>
          </p:nvSpPr>
          <p:spPr>
            <a:xfrm>
              <a:off x="685800" y="3429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132" y="35642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08532" y="3564255"/>
              <a:ext cx="82655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Harness Engineering — 어떤 환경·통제 안에서 움직이게 할까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99431" y="36452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§3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12342" y="3873818"/>
              <a:ext cx="7968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 Loop · Tool Access · Permissions · State · Verification · Retry · Sandbox · Tracing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5132" y="4210050"/>
            <a:ext cx="10837926" cy="708851"/>
            <a:chOff x="675132" y="4210050"/>
            <a:chExt cx="10837926" cy="708851"/>
          </a:xfrm>
        </p:grpSpPr>
        <p:sp>
          <p:nvSpPr>
            <p:cNvPr id="24" name="Line 24"/>
            <p:cNvSpPr/>
            <p:nvPr/>
          </p:nvSpPr>
          <p:spPr>
            <a:xfrm>
              <a:off x="685800" y="4210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132" y="43453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8532" y="4345305"/>
              <a:ext cx="83253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Agentic Engineering — 무엇을 스스로 판단하고 행동하게 할까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99431" y="44262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§4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12342" y="4654868"/>
              <a:ext cx="7774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Autonomy · Planning · Tool Selection · ReAct · Routing · Reflection · Multi-Agent · Eval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5132" y="4991100"/>
            <a:ext cx="10837926" cy="545973"/>
            <a:chOff x="675132" y="4991100"/>
            <a:chExt cx="10837926" cy="545973"/>
          </a:xfrm>
        </p:grpSpPr>
        <p:sp>
          <p:nvSpPr>
            <p:cNvPr id="30" name="Line 30"/>
            <p:cNvSpPr/>
            <p:nvPr/>
          </p:nvSpPr>
          <p:spPr>
            <a:xfrm>
              <a:off x="685800" y="4991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132" y="51263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08532" y="5126355"/>
              <a:ext cx="40286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네 층의 관계와 층별 실패 진단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99431" y="52073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§5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5132" y="5562600"/>
            <a:ext cx="10837926" cy="545973"/>
            <a:chOff x="675132" y="5562600"/>
            <a:chExt cx="10837926" cy="545973"/>
          </a:xfrm>
        </p:grpSpPr>
        <p:sp>
          <p:nvSpPr>
            <p:cNvPr id="35" name="Line 35"/>
            <p:cNvSpPr/>
            <p:nvPr/>
          </p:nvSpPr>
          <p:spPr>
            <a:xfrm>
              <a:off x="685800" y="5562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5132" y="56978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08532" y="5697855"/>
              <a:ext cx="44869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AX 관점의 Engineering 선택 기준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9431" y="57788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§6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5132" y="6134100"/>
            <a:ext cx="10837926" cy="545973"/>
            <a:chOff x="675132" y="6134100"/>
            <a:chExt cx="10837926" cy="545973"/>
          </a:xfrm>
        </p:grpSpPr>
        <p:sp>
          <p:nvSpPr>
            <p:cNvPr id="40" name="Line 40"/>
            <p:cNvSpPr/>
            <p:nvPr/>
          </p:nvSpPr>
          <p:spPr>
            <a:xfrm>
              <a:off x="685800" y="6134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5132" y="62693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08532" y="6269355"/>
              <a:ext cx="56269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AI Engineering Stack 총정리와 최종 비교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99521" y="635031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§7–8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540258" cy="594551"/>
            <a:chOff x="678942" y="1428750"/>
            <a:chExt cx="540258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4256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도입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5688406" cy="1562100"/>
            <a:chOff x="647700" y="2409825"/>
            <a:chExt cx="5688406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568840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왜 Prompt만으로는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258241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부족한가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5982081" cy="810768"/>
            <a:chOff x="675132" y="4211955"/>
            <a:chExt cx="5982081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598208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한 용어가 다른 용어를 「대체」하는 것이 아니라,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각각 서로 다른 설계 층을 담당한다.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8694281" cy="694944"/>
            <a:chOff x="676656" y="5292090"/>
            <a:chExt cx="8694281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82085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실제 업무에서는 여러 문서·도구·단계·사용자·권한·검증이 함께 작동한다.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86942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설계의 중심은 Prompt → Context → Harness → Agentic System으로 확장된다.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967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0-1 · 도입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1356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좋은 프롬프트만으로 해결되지 않는 것들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735742" cy="410718"/>
            <a:chOff x="675132" y="1678305"/>
            <a:chExt cx="1073574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7357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초기엔 "어떻게 질문할까"가 핵심이었지만, 실무는 한 번의 답변으로 끝나지 않는다.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5894" y="2400300"/>
            <a:ext cx="10830306" cy="3248025"/>
            <a:chOff x="675894" y="2400300"/>
            <a:chExt cx="10830306" cy="3248025"/>
          </a:xfrm>
        </p:grpSpPr>
        <p:sp>
          <p:nvSpPr>
            <p:cNvPr id="8" name="Line 8"/>
            <p:cNvSpPr/>
            <p:nvPr/>
          </p:nvSpPr>
          <p:spPr>
            <a:xfrm>
              <a:off x="685800" y="240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894" y="26088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9606" y="2625090"/>
              <a:ext cx="42951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최신 정보 — 모델이 갖고 있지 않은 사실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048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5894" y="32565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606" y="3272790"/>
              <a:ext cx="37378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장기 기억 — 세션을 넘는 상태 유지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3695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5894" y="39042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9606" y="3920490"/>
              <a:ext cx="4242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외부 도구 사용 — 검색·계산·DB·전송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4343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5894" y="45519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19606" y="4568190"/>
              <a:ext cx="2417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반복 실행과 실패 복구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4991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5894" y="51996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19606" y="5215890"/>
              <a:ext cx="1920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보안·감사 가능성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5638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5" name="Line 2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475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0-2 · 네 가지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4882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네 층은 서로 다른 질문에 답한다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1794837" cy="410718"/>
            <a:chOff x="675132" y="1640205"/>
            <a:chExt cx="1179483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17948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Prompt는 호출 하나, Context는 정보 환경, Harness는 실행 환경, Agentic은 시스템 전체.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800" y="2286000"/>
            <a:ext cx="10891457" cy="3819525"/>
            <a:chOff x="685800" y="2286000"/>
            <a:chExt cx="10891457" cy="3819525"/>
          </a:xfrm>
        </p:grpSpPr>
        <p:sp>
          <p:nvSpPr>
            <p:cNvPr id="8" name="Rectangle 8"/>
            <p:cNvSpPr/>
            <p:nvPr/>
          </p:nvSpPr>
          <p:spPr>
            <a:xfrm>
              <a:off x="685800" y="2286000"/>
              <a:ext cx="10820400" cy="4953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442" y="2454592"/>
              <a:ext cx="1078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Engineering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26942" y="2454592"/>
              <a:ext cx="834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핵심 질문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17942" y="2454592"/>
              <a:ext cx="1273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주된 설계 대상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543300" y="2286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734300" y="2286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85800" y="2781300"/>
              <a:ext cx="10820400" cy="620839"/>
              <a:chOff x="685800" y="2781300"/>
              <a:chExt cx="10820400" cy="620839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685800" y="27813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67918" y="3079432"/>
                <a:ext cx="221197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Prompt Engineering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725418" y="3079432"/>
                <a:ext cx="27155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모델에게 어떻게 지시할까?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17180" y="3095625"/>
                <a:ext cx="2155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지시 · 예시 · 출력 형식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600450"/>
              <a:ext cx="10820400" cy="620839"/>
              <a:chOff x="685800" y="3600450"/>
              <a:chExt cx="10820400" cy="620839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685800" y="36004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67918" y="3898582"/>
                <a:ext cx="229331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Context Engineering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25418" y="3898582"/>
                <a:ext cx="22713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지금 무엇을 보여줄까?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917180" y="3914775"/>
                <a:ext cx="35331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컨텍스트 · RAG · Memory · Tool 결과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85800" y="4419600"/>
              <a:ext cx="10891457" cy="620839"/>
              <a:chOff x="685800" y="4419600"/>
              <a:chExt cx="10891457" cy="620839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685800" y="4419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67918" y="4717732"/>
                <a:ext cx="229331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Harness Engineering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25418" y="4717732"/>
                <a:ext cx="38594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어떤 환경·통제 안에서 움직이게 할까?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917180" y="4733925"/>
                <a:ext cx="366007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실행 루프·도구·상태·검증·권한·관찰성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85800" y="5238750"/>
              <a:ext cx="10891457" cy="620839"/>
              <a:chOff x="685800" y="5238750"/>
              <a:chExt cx="10891457" cy="620839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685800" y="52387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67918" y="5536882"/>
                <a:ext cx="223464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Agentic Engineering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725418" y="5536882"/>
                <a:ext cx="35707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무엇을 스스로 판단·행동하게 할까?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917180" y="5553075"/>
                <a:ext cx="366007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계획·도구 선택·분기·반복·협업·자율성</a:t>
                </a: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685800" y="6096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6" name="Line 3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6144463" cy="1562100"/>
            <a:chOff x="647700" y="2409825"/>
            <a:chExt cx="6144463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602504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Prompt Engineering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614446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어떻게 지시할 것인가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5902071" cy="810768"/>
            <a:chOff x="675132" y="4211955"/>
            <a:chExt cx="5902071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590207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핵심은 「마법의 문장」이 아니라,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과업과 성공 조건을 명시적으로 전달하는 것이다.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7857211" cy="694944"/>
            <a:chOff x="676656" y="5292090"/>
            <a:chExt cx="7857211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61609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가중치를 바꾸지 않고 입력되는 지시와 예시를 설계한다.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78572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자연어 요청을 작업 명세(task specification)로 바꾸는 과정에 가깝다.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936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1-1 · Prompt Engineering이란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8239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자연어 요청을 작업 명세로 바꾸는 과정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9237421" cy="410718"/>
            <a:chOff x="675132" y="1678305"/>
            <a:chExt cx="923742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92374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같은 능력의 모델도 목적·조건·예시·출력 형식에 따라 다른 결과를 낸다.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6656" y="2514600"/>
            <a:ext cx="10829544" cy="2752725"/>
            <a:chOff x="676656" y="2514600"/>
            <a:chExt cx="10829544" cy="2752725"/>
          </a:xfrm>
        </p:grpSpPr>
        <p:sp>
          <p:nvSpPr>
            <p:cNvPr id="8" name="Line 8"/>
            <p:cNvSpPr/>
            <p:nvPr/>
          </p:nvSpPr>
          <p:spPr>
            <a:xfrm>
              <a:off x="685800" y="251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2853690"/>
              <a:ext cx="73362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가중치를 바꾸지 않고 지시·예시를 설계해 원하는 출력을 유도한다.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3429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6656" y="3768090"/>
              <a:ext cx="83781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「마법의 문장」이 아니라, 수행할 과업과 성공 조건을 명시적으로 전달한다.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4343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6656" y="4682490"/>
              <a:ext cx="4750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즉, task specification으로의 전환이다.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525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16" name="Line 1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12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1-2 · 1-3 · Instruction · Role Prompting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9593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무엇을 하라 지시하고, 어떤 관점으로 답하게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1030232" cy="410718"/>
            <a:chOff x="675132" y="1640205"/>
            <a:chExt cx="1103023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10302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좋은 Instruction은 목적·대상·제한·완료 기준을, Role은 책임과 판단 기준을 담는다.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429000"/>
            <a:chOff x="6096000" y="2286000"/>
            <a:chExt cx="9525" cy="34290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75894" y="2400300"/>
            <a:ext cx="4962906" cy="2918651"/>
            <a:chOff x="675894" y="2400300"/>
            <a:chExt cx="4962906" cy="2918651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5574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Instruction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136582"/>
              <a:ext cx="24475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수행할 작업을 직접적으로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명시하는 지시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5800" y="3962400"/>
              <a:ext cx="4953000" cy="8572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140518"/>
              <a:ext cx="1358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"요약해줘" 보다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9442" y="4445318"/>
              <a:ext cx="3802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"3문장으로 요약하고 주장과 근거를 구분하라"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5054918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모호한 지시는 결과 변동성을 높인다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14694" y="2400300"/>
            <a:ext cx="5191506" cy="2880551"/>
            <a:chOff x="6314694" y="2400300"/>
            <a:chExt cx="5191506" cy="2880551"/>
          </a:xfrm>
        </p:grpSpPr>
        <p:sp>
          <p:nvSpPr>
            <p:cNvPr id="18" name="Line 18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14694" y="2646998"/>
              <a:ext cx="20077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Role Prompting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218" y="3136582"/>
              <a:ext cx="20284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특정 역할이나 관점을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부여하는 방식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7742" y="3969068"/>
              <a:ext cx="2113979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"고등학교 영어교사로서" ·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"법률 문서 검토자로서"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7742" y="4769168"/>
              <a:ext cx="253403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정확성을 보장하진 않지만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관점·용어·우선순위 방향을 준다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4" name="Line 2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28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1-4 · 1-5 · Zero-shot · Few-shot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9539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지시만 vs 예시로 패턴을 추론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841715" cy="410718"/>
            <a:chOff x="675132" y="1640205"/>
            <a:chExt cx="884171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8417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작업 복잡도가 높아질수록 Few-shot이나 구조화된 출력이 유리하다.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333750"/>
            <a:chOff x="6096000" y="2286000"/>
            <a:chExt cx="9525" cy="333375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607945"/>
            <a:chOff x="675894" y="2400300"/>
            <a:chExt cx="4962906" cy="26079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28361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Zero-shot Prompting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136582"/>
              <a:ext cx="230085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별도의 예시 없이 지시만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제공하는 방식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402907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익숙한 작업에는 간단·효율적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448175"/>
              <a:ext cx="27679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 xml:space="preserve">출력 형식·판단 기준이 복잡하면 </a:t>
              </a: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의도를 다르게 해석할 수 있다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722245"/>
            <a:chOff x="6314694" y="2400300"/>
            <a:chExt cx="5191506" cy="27222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274014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Few-shot Prompting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136582"/>
              <a:ext cx="2206561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입력·출력 예시 몇 개로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모델이 패턴을 추론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4029075"/>
              <a:ext cx="2348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말투·분류 기준·평가 방식·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출력 구조 전달에 효과적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829175"/>
              <a:ext cx="32865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잘못된 예시는 잘못된 패턴을 따르게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8180" y="5848350"/>
            <a:ext cx="10828020" cy="493395"/>
            <a:chOff x="678180" y="5848350"/>
            <a:chExt cx="10828020" cy="493395"/>
          </a:xfrm>
        </p:grpSpPr>
        <p:sp>
          <p:nvSpPr>
            <p:cNvPr id="22" name="Line 22"/>
            <p:cNvSpPr/>
            <p:nvPr/>
          </p:nvSpPr>
          <p:spPr>
            <a:xfrm>
              <a:off x="685800" y="5848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180" y="6048375"/>
              <a:ext cx="7355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예시는 장식이 아니라 "어떤 결과가 좋은 결과인가"를 보여주는 암묵적 규칙이다.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5" name="Line 2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012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1-6 · 1-7 · Delimiters · Output Schema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정보의 역할을 구분하고, 출력을 계약으로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723882" cy="410718"/>
            <a:chOff x="675132" y="1640205"/>
            <a:chExt cx="972388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7238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구조화는 명령과 참고 자료를 구분하게 하고, Schema는 계약처럼 작동한다.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429000"/>
            <a:chOff x="6096000" y="2286000"/>
            <a:chExt cx="9525" cy="34290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722245"/>
            <a:chOff x="675894" y="2400300"/>
            <a:chExt cx="4962906" cy="2722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25422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Delimiters · 구조화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136582"/>
              <a:ext cx="260470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Markdown 제목·XML 태그·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코드 블록·구분자 활용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4029075"/>
              <a:ext cx="30156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지시 / 자료 / 예시 / 사용자 입력을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명확히 구분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829175"/>
              <a:ext cx="2692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RAG 문서가 들어갈수록 중요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14694" y="2400300"/>
            <a:ext cx="5191506" cy="2722245"/>
            <a:chOff x="6314694" y="2400300"/>
            <a:chExt cx="5191506" cy="27222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205092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Output Schema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136582"/>
              <a:ext cx="28565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JSON·표·정해진 필드 요구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324600" y="3619500"/>
              <a:ext cx="4572000" cy="5715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08242" y="3835718"/>
              <a:ext cx="2848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D2430"/>
                  </a:solidFill>
                  <a:latin typeface="Consolas"/>
                  <a:ea typeface="Consolas"/>
                  <a:cs typeface="Consolas"/>
                </a:rPr>
                <a:t>{ "level": "high", "score": 87 }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980" y="45624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"검증 가능한 형식의 답변"이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6980" y="4829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실무에서 더 중요할 수 있다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4" name="Line 2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8873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1-8 · 1-9 · Constraint Design · Prompt Chaining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자유도를 제한하고, 복잡한 요청을 나눈다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509666" cy="410718"/>
            <a:chOff x="675132" y="1640205"/>
            <a:chExt cx="1050966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5096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실행 단계가 많아지면 단순 Prompt Engineering을 넘어 Workflow의 문제가 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429000"/>
            <a:chOff x="6096000" y="2286000"/>
            <a:chExt cx="9525" cy="34290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760345"/>
            <a:chOff x="675894" y="2400300"/>
            <a:chExt cx="4962906" cy="27603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24070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Constraint Design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136582"/>
              <a:ext cx="263613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길이·출처·언어·허용 범위·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금지 사항을 제한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4029075"/>
              <a:ext cx="336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"문서에 없는 내용은 추측하지 말 것"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600575"/>
              <a:ext cx="30441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지나친 제한은 유용성을 떨어뜨린다</a:t>
              </a:r>
            </a:p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— 정확성·창의성·유연성의 균형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722245"/>
            <a:chOff x="6314694" y="2400300"/>
            <a:chExt cx="5191506" cy="27222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21593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Prompt Chaining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136582"/>
              <a:ext cx="292950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하나의 요청을 여러 프롬프트로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나누어 순차 처리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8123" y="4053364"/>
              <a:ext cx="2239423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28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 xml:space="preserve">자료 분석 → 주장 추출 → 초안 → </a:t>
              </a:r>
              <a:r>
                <a:rPr lang="ko-KR" sz="128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>검토 → 수정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829175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단계 분리로 오류 원인 파악이 쉽다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3133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1-10 · Prompt Engineering의 한계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8258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필요하지만, 시스템 전체를 설명하기엔 부족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368229" cy="410718"/>
            <a:chOff x="675132" y="1678305"/>
            <a:chExt cx="10368229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3682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최신 사실·컨텍스트 한계·외부 도구·장기 상태는 프롬프트만으로 해결할 수 없다.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5894" y="2438400"/>
            <a:ext cx="10830306" cy="3209925"/>
            <a:chOff x="675894" y="2438400"/>
            <a:chExt cx="10830306" cy="3209925"/>
          </a:xfrm>
        </p:grpSpPr>
        <p:sp>
          <p:nvSpPr>
            <p:cNvPr id="8" name="Line 8"/>
            <p:cNvSpPr/>
            <p:nvPr/>
          </p:nvSpPr>
          <p:spPr>
            <a:xfrm>
              <a:off x="685800" y="243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894" y="26469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9606" y="2663190"/>
              <a:ext cx="71060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모델이 갖고 있지 않은 최신 사실을 프롬프트만으로 만들 수 없다.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238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5894" y="34470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606" y="3463290"/>
              <a:ext cx="5506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컨텍스트 윈도우를 넘는 정보를 모두 넣을 수 없다.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4038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5894" y="42471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9606" y="4263390"/>
              <a:ext cx="6294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외부 도구 실행·장기 상태 관리는 프롬프트만으로 어렵다.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483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5894" y="50472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19606" y="5063490"/>
              <a:ext cx="72635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프롬프트가 길어질수록 비용·복잡성이 늘고 중요한 지시가 묻힌다.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5638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6246876" cy="1562100"/>
            <a:chOff x="647700" y="2409825"/>
            <a:chExt cx="6246876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624687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Context Engineering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614446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정보 환경을 설계하기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5622036" cy="810768"/>
            <a:chOff x="675132" y="4211955"/>
            <a:chExt cx="5622036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56220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중요한 질문은 "무슨 문장을 쓸까?"보다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"이 순간 모델이 알아야 할 것은 무엇인가?"다.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8287840" cy="694944"/>
            <a:chOff x="676656" y="5292090"/>
            <a:chExt cx="8287840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58823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컨텍스트는 유한하다 — 더 많이가 아니라 더 적절하게.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8287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대화 기록·RAG·Memory·Tool 결과·사용자 상태·작업 규칙을 함께 다룬다.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015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2-1 · Context Engineering이란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9352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무엇을, 어떤 순서와 형식으로 제공할지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830705"/>
            <a:ext cx="10071392" cy="410718"/>
            <a:chOff x="675132" y="1830705"/>
            <a:chExt cx="1007139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830705"/>
              <a:ext cx="100713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컨텍스트가 유한하므로 더 많은 정보보다 더 적절한 정보를 넣는 것이 중요하다.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2781300"/>
            <a:ext cx="10986586" cy="2562225"/>
            <a:chOff x="676656" y="2781300"/>
            <a:chExt cx="10986586" cy="2562225"/>
          </a:xfrm>
        </p:grpSpPr>
        <p:sp>
          <p:nvSpPr>
            <p:cNvPr id="8" name="Line 8"/>
            <p:cNvSpPr/>
            <p:nvPr/>
          </p:nvSpPr>
          <p:spPr>
            <a:xfrm>
              <a:off x="685800" y="2781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3158490"/>
              <a:ext cx="109865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프롬프트 문구뿐 아니라 대화 기록·RAG·Memory·Tool 결과·사용자 상태·작업 규칙을 함께 다룬다.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4305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6656" y="4758690"/>
              <a:ext cx="6887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"무슨 문장을 쓸까?" 보다 "이 순간 모델이 알아야 할 것은?"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5334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14" name="Line 1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851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2-2 · 2-3 · Context Window · Context Selection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3119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참고 범위와, 그 안에 넣을 것의 선택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378772" cy="410718"/>
            <a:chOff x="675132" y="1640205"/>
            <a:chExt cx="937877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3787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윈도우가 커졌다고 다 넣는 게 최선은 아니다 — 불필요한 정보는 희석한다.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333750"/>
            <a:chOff x="6096000" y="2286000"/>
            <a:chExt cx="9525" cy="333375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684145"/>
            <a:chOff x="675894" y="2400300"/>
            <a:chExt cx="4962906" cy="26841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21328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Window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57327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한 추론에서 참고할 수 있는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토큰 범위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990975"/>
              <a:ext cx="26631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불필요한 정보는 비용을 늘리고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중요 정보를 희석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79107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토큰 예산 배분의 문제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14694" y="2400300"/>
            <a:ext cx="5191506" cy="2722245"/>
            <a:chOff x="6314694" y="2400300"/>
            <a:chExt cx="5191506" cy="27222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24070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Context Selection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251040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현재 작업에 필요한 정보만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선택하는 과정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990975"/>
              <a:ext cx="33470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전체 대화가 아니라 관련 최근 결정만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410075"/>
              <a:ext cx="24556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수천 문서 중 관련 Chunk만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980" y="4829175"/>
              <a:ext cx="2114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Memory도 관련 정보만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3" name="Line 2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346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2-4 · 2-5 · Context Ordering · Context Compression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1301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정보의 위치, 그리고 밀도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576664" cy="410718"/>
            <a:chOff x="675132" y="1640205"/>
            <a:chExt cx="957666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5766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같은 정보라도 순서에 따라 반응이 달라지고, 압축의 목적은 밀도 향상이다.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760345"/>
            <a:chOff x="675894" y="2400300"/>
            <a:chExt cx="4962906" cy="27603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23803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Ordering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8821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정보의 위치와 우선순위 문제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800475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핵심 지시·중요 근거·최신 요구를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눈에 띄는 위치에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600575"/>
              <a:ext cx="26631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 xml:space="preserve">긴 컨텍스트에서는 중요 정보가 </a:t>
              </a: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중간에 묻힌다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493645"/>
            <a:chOff x="6314694" y="2400300"/>
            <a:chExt cx="5191506" cy="24936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28350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Context Compression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26600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의미를 유지하며 짧게 압축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800475"/>
              <a:ext cx="18630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요약·핵심 문장 추출·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구조화된 상태 변환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600575"/>
              <a:ext cx="32865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지나친 압축은 세부 근거를 손실한다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712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2-6 · 2-7 · Context Pruning · Context Routing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6236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필요 없는 것을 걷어내고, 채널만 연결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352902" cy="410718"/>
            <a:chOff x="675132" y="1640205"/>
            <a:chExt cx="935290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3529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Agent가 오래 실행될수록 컨텍스트가 누적되므로 Pruning이 중요해진다.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960245"/>
            <a:chOff x="675894" y="2400300"/>
            <a:chExt cx="4962906" cy="1960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2173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Pruning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6600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필요하지 않은 정보를 제거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800475"/>
              <a:ext cx="26536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오래된 대화 · 중복 Tool 결과 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해결된 중간 작업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379345"/>
            <a:chOff x="6314694" y="2400300"/>
            <a:chExt cx="5191506" cy="23793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4694" y="2646998"/>
              <a:ext cx="2173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Context Routing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6218" y="3098482"/>
              <a:ext cx="29487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필요한 정보 채널만 동적 연결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800475"/>
              <a:ext cx="1903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정책 질문 → 정책 DB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4143375"/>
              <a:ext cx="2430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개인 일정 → Calendar Tool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486275"/>
              <a:ext cx="2020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사내 규정 → 내부 RAG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8180" y="5715000"/>
            <a:ext cx="10828020" cy="512445"/>
            <a:chOff x="678180" y="5715000"/>
            <a:chExt cx="10828020" cy="512445"/>
          </a:xfrm>
        </p:grpSpPr>
        <p:sp>
          <p:nvSpPr>
            <p:cNvPr id="22" name="Line 22"/>
            <p:cNvSpPr/>
            <p:nvPr/>
          </p:nvSpPr>
          <p:spPr>
            <a:xfrm>
              <a:off x="685800" y="5715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180" y="5934075"/>
              <a:ext cx="4265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모든 데이터를 하나의 컨텍스트에 넣지 않는다.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5" name="Line 2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879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2-8 · 2-9 · RAG · Memory와 Context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93437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RAG는 대표 구현, Memory는 연결되지만 다름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275674" cy="410718"/>
            <a:chOff x="675132" y="1640205"/>
            <a:chExt cx="927567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275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RAG 성능 문제는 종종 모델 문제가 아니라 Context Engineering 문제다.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429000"/>
            <a:chOff x="6096000" y="2286000"/>
            <a:chExt cx="9525" cy="34290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760345"/>
            <a:chOff x="675894" y="2400300"/>
            <a:chExt cx="4962906" cy="27603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35535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RAG와 Context Engineering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34366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Context Engineering의 대표 구현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800475"/>
              <a:ext cx="26631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Retrieval은 "어떤 외부 정보를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넣을까"를 결정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600575"/>
              <a:ext cx="29394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어떤 Chunk를 몇 개, 어떤 순서로,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어떤 지시와 함께 제공할지까지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14694" y="2400300"/>
            <a:ext cx="5191506" cy="2607945"/>
            <a:chOff x="6314694" y="2400300"/>
            <a:chExt cx="5191506" cy="26079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24804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Memory와 Context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310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연결되지만 동일 개념은 아니다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800475"/>
              <a:ext cx="2817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Memory = 나중에 쓸 정보 저장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143375"/>
              <a:ext cx="2844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Context = 지금 보고 있는 정보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980" y="4714875"/>
              <a:ext cx="3230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Memory Retrieval이 둘을 잇는다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3" name="Line 2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5463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2-10 · 2-11 · Tool Result as Context · Context Budget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1783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도구 결과의 형식, 그리고 토큰 예산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539859" cy="410718"/>
            <a:chOff x="675132" y="1640205"/>
            <a:chExt cx="9539859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5398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좋은 Tool은 기능 수행만이 아니라 모델이 해석하기 좋은 결과를 반환한다.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684145"/>
            <a:chOff x="675894" y="2400300"/>
            <a:chExt cx="4962906" cy="26841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30371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Tool Result as Context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67804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Tool 결과가 다시 Context로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들어온다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990975"/>
              <a:ext cx="2339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 xml:space="preserve">너무 길거나 구조화 안 되면 </a:t>
              </a: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핵심을 놓친다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791075"/>
              <a:ext cx="3794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결과 형식도 Context Engineering의 대상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684145"/>
            <a:chOff x="6314694" y="2400300"/>
            <a:chExt cx="5191506" cy="26841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20911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Context Budget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3170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제한된 토큰 안에서의 공간 배분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990975"/>
              <a:ext cx="21297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입력 토큰↑ → 비용·지연·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KV Cache 메모리↑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791075"/>
              <a:ext cx="343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중요도·최신성·신뢰도·관련성에 따라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839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2-12 · Prompt vs Context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8444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어떻게 말할까 vs 무엇을 보여줄까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083305" cy="410718"/>
            <a:chOff x="675132" y="1678305"/>
            <a:chExt cx="1008330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0833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RAG·Tool·Memory·Agent를 쓸수록 Context Engineering의 중요성이 커진다.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2438400"/>
            <a:ext cx="10820400" cy="1905000"/>
            <a:chOff x="685800" y="2438400"/>
            <a:chExt cx="10820400" cy="1905000"/>
          </a:xfrm>
        </p:grpSpPr>
        <p:sp>
          <p:nvSpPr>
            <p:cNvPr id="8" name="Rectangle 8"/>
            <p:cNvSpPr/>
            <p:nvPr/>
          </p:nvSpPr>
          <p:spPr>
            <a:xfrm>
              <a:off x="685800" y="2438400"/>
              <a:ext cx="5143500" cy="1905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4494" y="2685098"/>
              <a:ext cx="26141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Prompt Engineering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256" y="3158490"/>
              <a:ext cx="32483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모델에게 </a:t>
              </a:r>
              <a:r>
                <a:rPr lang="ko-KR" sz="18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어떻게 말할 것인가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780" y="3762375"/>
              <a:ext cx="191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지시·예시·출력 형식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362700" y="2438400"/>
              <a:ext cx="5143500" cy="1905000"/>
            </a:xfrm>
            <a:prstGeom prst="rect">
              <a:avLst/>
            </a:prstGeom>
            <a:solidFill>
              <a:srgbClr val="F4F6F8"/>
            </a:solidFill>
            <a:ln w="14288">
              <a:solidFill>
                <a:srgbClr val="2563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81394" y="2685098"/>
              <a:ext cx="27102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Context Engineering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82156" y="3158490"/>
              <a:ext cx="35027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모델에게 </a:t>
              </a:r>
              <a:r>
                <a:rPr lang="ko-KR" sz="18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무엇을 보여줄 것인가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83680" y="3762375"/>
              <a:ext cx="3429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RAG·Memory·Tool 결과·사용자 상태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5894" y="4953000"/>
            <a:ext cx="10830306" cy="589979"/>
            <a:chOff x="675894" y="4953000"/>
            <a:chExt cx="10830306" cy="589979"/>
          </a:xfrm>
        </p:grpSpPr>
        <p:sp>
          <p:nvSpPr>
            <p:cNvPr id="17" name="Line 17"/>
            <p:cNvSpPr/>
            <p:nvPr/>
          </p:nvSpPr>
          <p:spPr>
            <a:xfrm>
              <a:off x="685800" y="4953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5894" y="5161598"/>
              <a:ext cx="37732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Prompt는 Context의 일부다.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6246876" cy="1562100"/>
            <a:chOff x="647700" y="2409825"/>
            <a:chExt cx="6246876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624687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Harness Engineering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614446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실행 환경을 설계하기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6275451" cy="810768"/>
            <a:chOff x="675132" y="4211955"/>
            <a:chExt cx="6275451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627545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모델이 "두뇌"라면 Harness는 두뇌가 실제 환경에서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일하도록 연결하는 실행·통제 시스템이다.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8053464" cy="694944"/>
            <a:chOff x="676656" y="5292090"/>
            <a:chExt cx="8053464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80534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Agent의 실제 성능은 모델 능력뿐 아니라 Harness 설계에 크게 좌우된다.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73880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 시스템의 신뢰성·재현성을 설명하는 신흥 Engineering 관점.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292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3-1 · 3-2 · Harness · Harness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68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실행 계층, 그리고 그것을 설계하는 공학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1281706" cy="410718"/>
            <a:chOff x="675132" y="1640205"/>
            <a:chExt cx="1128170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12817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Prompt가 지시를, Context가 정보 환경을 설계한다면 Harness는 Runtime을 설계한다.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429000"/>
            <a:chOff x="6096000" y="2286000"/>
            <a:chExt cx="9525" cy="34290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2417445"/>
            <a:chOff x="675894" y="2400300"/>
            <a:chExt cx="4962906" cy="24174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0895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Harness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751391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LLM을 실제 작업 환경과 잇는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소프트웨어 실행 계층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990975"/>
              <a:ext cx="28441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무엇을 보고 · 어떤 Tool을 쓰고 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어떤 순서로 · 언제 멈추고 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어떻게 복구할지 관리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2188845"/>
            <a:chOff x="6314694" y="2400300"/>
            <a:chExt cx="5191506" cy="21888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4694" y="2646998"/>
              <a:ext cx="27102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Harness Engineering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6218" y="3098482"/>
              <a:ext cx="317049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실행 환경·도구·상태·검증·권한·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피드백 루프·관찰 가능성을 설계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4029075"/>
              <a:ext cx="32061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단일 표준 정의보다 Agent Runtime과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운영 인프라를 포괄하는 신흥 관점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701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3-3 · Agent 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5568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모델 호출 → 선택 → 실행 → 관찰 → 반복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274787" cy="410718"/>
            <a:chOff x="675132" y="1678305"/>
            <a:chExt cx="1027478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2747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모델은 다음 행동을 제안하지만, 실제 Tool 호출과 결과 전달은 Harness가 한다.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5507" y="2495550"/>
            <a:ext cx="4726993" cy="2971800"/>
            <a:chOff x="35507" y="2495550"/>
            <a:chExt cx="4726993" cy="2971800"/>
          </a:xfrm>
        </p:grpSpPr>
        <p:grpSp>
          <p:nvGrpSpPr>
            <p:cNvPr id="10" name="Group 10"/>
            <p:cNvGrpSpPr/>
            <p:nvPr/>
          </p:nvGrpSpPr>
          <p:grpSpPr>
            <a:xfrm>
              <a:off x="1143000" y="2495550"/>
              <a:ext cx="3619500" cy="723900"/>
              <a:chOff x="1143000" y="2495550"/>
              <a:chExt cx="3619500" cy="7239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143000" y="2495550"/>
                <a:ext cx="3619500" cy="72390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442925" y="2755582"/>
                <a:ext cx="10196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모델 호출</a:t>
                </a: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876969" y="33108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143000" y="3619500"/>
              <a:ext cx="3619500" cy="723900"/>
              <a:chOff x="1143000" y="3619500"/>
              <a:chExt cx="3619500" cy="7239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143000" y="3619500"/>
                <a:ext cx="3619500" cy="7239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465677" y="3879532"/>
                <a:ext cx="9741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Tool 선택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876969" y="4434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143000" y="4743450"/>
              <a:ext cx="3619500" cy="723900"/>
              <a:chOff x="1143000" y="4743450"/>
              <a:chExt cx="3619500" cy="7239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143000" y="4743450"/>
                <a:ext cx="3619500" cy="7239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851827" y="5003482"/>
                <a:ext cx="22018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Tool 실행 → 결과 관찰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800100" y="2857500"/>
              <a:ext cx="342900" cy="2247900"/>
            </a:xfrm>
            <a:custGeom>
              <a:avLst/>
              <a:gdLst/>
              <a:ahLst/>
              <a:cxnLst/>
              <a:rect l="l" t="t" r="r" b="b"/>
              <a:pathLst>
                <a:path w="342900" h="2247900">
                  <a:moveTo>
                    <a:pt x="342900" y="2247900"/>
                  </a:moveTo>
                  <a:lnTo>
                    <a:pt x="0" y="2247900"/>
                  </a:lnTo>
                  <a:lnTo>
                    <a:pt x="0" y="0"/>
                  </a:lnTo>
                  <a:lnTo>
                    <a:pt x="3429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66800" y="2800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 rot="-5400000">
              <a:off x="35507" y="3868484"/>
              <a:ext cx="1273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다음 모델 호출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05500" y="2438400"/>
            <a:ext cx="9525" cy="3276600"/>
            <a:chOff x="5905500" y="2438400"/>
            <a:chExt cx="9525" cy="3276600"/>
          </a:xfrm>
        </p:grpSpPr>
        <p:sp>
          <p:nvSpPr>
            <p:cNvPr id="23" name="Line 23"/>
            <p:cNvSpPr/>
            <p:nvPr/>
          </p:nvSpPr>
          <p:spPr>
            <a:xfrm>
              <a:off x="5905500" y="2438400"/>
              <a:ext cx="9525" cy="3276600"/>
            </a:xfrm>
            <a:custGeom>
              <a:avLst/>
              <a:gdLst/>
              <a:ahLst/>
              <a:cxnLst/>
              <a:rect l="l" t="t" r="r" b="b"/>
              <a:pathLst>
                <a:path w="9525" h="3276600">
                  <a:moveTo>
                    <a:pt x="0" y="0"/>
                  </a:moveTo>
                  <a:lnTo>
                    <a:pt x="0" y="32766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353556" y="2739390"/>
            <a:ext cx="4635094" cy="2085594"/>
            <a:chOff x="6353556" y="2739390"/>
            <a:chExt cx="4635094" cy="2085594"/>
          </a:xfrm>
        </p:grpSpPr>
        <p:sp>
          <p:nvSpPr>
            <p:cNvPr id="25" name="TextBox 25"/>
            <p:cNvSpPr txBox="1"/>
            <p:nvPr/>
          </p:nvSpPr>
          <p:spPr>
            <a:xfrm>
              <a:off x="6353556" y="2739390"/>
              <a:ext cx="4635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이 반복 실행 구조를 Harness가 관리한다.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4318" y="4089082"/>
              <a:ext cx="24580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Agent의 자율성도 결국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3556" y="4472940"/>
              <a:ext cx="45618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Harness가 허용한 범위 안에서 작동한다.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9" name="Line 2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831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3-4 · 3-5 · Tool Access · Permissions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49003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어떤 도구를 주고, 어디까지 허용할까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479060" cy="410718"/>
            <a:chOff x="675132" y="1640205"/>
            <a:chExt cx="847906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4790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Tool을 쓸 수 있다고 모든 작업을 자동 허용해야 하는 것은 아니다.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493645"/>
            <a:chOff x="675894" y="2400300"/>
            <a:chExt cx="4962906" cy="24936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5669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Tool Access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6861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어떤 Tool을 제공할지 결정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800475"/>
              <a:ext cx="30441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웹 검색·파일·코드 실행·DB·이메일</a:t>
              </a:r>
            </a:p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— 각기 다른 위험 수준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600575"/>
              <a:ext cx="35313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입력·출력 Schema도 중요한 설계 요소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14694" y="2400300"/>
            <a:ext cx="5191506" cy="2684145"/>
            <a:chOff x="6314694" y="2400300"/>
            <a:chExt cx="5191506" cy="26841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1612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Permissions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3170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행동 수준에 따라 권한을 다르게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800475"/>
              <a:ext cx="296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읽기 · 쓰기 · 삭제 · 전송 · 결제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371975"/>
              <a:ext cx="35013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위험도 높은 행동은 Human Approval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980" y="4791075"/>
              <a:ext cx="3080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Agentic AI의 보안·책임성의 핵심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3" name="Line 2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8920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3-6 · 3-7 · State Management · Project Memory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7331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단기 진행 상황, 그리고 장기 정보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6971325" cy="410718"/>
            <a:chOff x="675132" y="1640205"/>
            <a:chExt cx="697132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69713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장시간 작업일수록 State Management가 중요해진다.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493645"/>
            <a:chOff x="675894" y="2400300"/>
            <a:chExt cx="4962906" cy="24936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25053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State Management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8821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현재까지의 진행 상황을 저장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800475"/>
              <a:ext cx="31584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사용자 목표·완료된 단계·Tool 결과·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오류 정보·중간 산출물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600575"/>
              <a:ext cx="29160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Harness가 저장·업데이트·복구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493645"/>
            <a:chOff x="6314694" y="2400300"/>
            <a:chExt cx="5191506" cy="24936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21328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Project Memory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26600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프로젝트 수준의 장기 정보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800475"/>
              <a:ext cx="29775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이전 결정·코드 구조·사용자 선호·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미완료 작업을 다시 활용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600575"/>
              <a:ext cx="3129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저장·폐기 정책도 Harness의 일부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364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3-8 · Verification 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8967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"완료"라는 말과 실제 완료는 다르다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9853734" cy="410718"/>
            <a:chOff x="675132" y="1678305"/>
            <a:chExt cx="985373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98537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Verification은 Agent의 자신감이 아니라 외부 증거로 완료를 판단하게 한다.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2743200"/>
            <a:ext cx="9906000" cy="857250"/>
            <a:chOff x="1143000" y="2743200"/>
            <a:chExt cx="9906000" cy="857250"/>
          </a:xfrm>
        </p:grpSpPr>
        <p:grpSp>
          <p:nvGrpSpPr>
            <p:cNvPr id="11" name="Group 11"/>
            <p:cNvGrpSpPr/>
            <p:nvPr/>
          </p:nvGrpSpPr>
          <p:grpSpPr>
            <a:xfrm>
              <a:off x="1143000" y="2743200"/>
              <a:ext cx="3048000" cy="857250"/>
              <a:chOff x="1143000" y="2743200"/>
              <a:chExt cx="3048000" cy="857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143000" y="2743200"/>
                <a:ext cx="3048000" cy="8572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276475" y="2981325"/>
                <a:ext cx="7810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Agent가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114169" y="3228975"/>
                <a:ext cx="11056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"완료" 주장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465320" y="29956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4953000" y="2743200"/>
              <a:ext cx="3048000" cy="857250"/>
              <a:chOff x="4953000" y="2743200"/>
              <a:chExt cx="3048000" cy="857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953000" y="2743200"/>
                <a:ext cx="3048000" cy="85725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618740" y="2913221"/>
                <a:ext cx="171652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테스트 · 규칙 검증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081557" y="3177064"/>
                <a:ext cx="27908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Schema Validation · Source Check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8275320" y="29956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763000" y="2743200"/>
              <a:ext cx="2286000" cy="857250"/>
              <a:chOff x="8763000" y="2743200"/>
              <a:chExt cx="2286000" cy="857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763000" y="2743200"/>
                <a:ext cx="2286000" cy="8572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092679" y="3076575"/>
                <a:ext cx="16266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실제 완료로 인정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677418" y="4305300"/>
            <a:ext cx="10828782" cy="601789"/>
            <a:chOff x="677418" y="4305300"/>
            <a:chExt cx="10828782" cy="601789"/>
          </a:xfrm>
        </p:grpSpPr>
        <p:sp>
          <p:nvSpPr>
            <p:cNvPr id="22" name="Line 22"/>
            <p:cNvSpPr/>
            <p:nvPr/>
          </p:nvSpPr>
          <p:spPr>
            <a:xfrm>
              <a:off x="685800" y="4305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418" y="4584382"/>
              <a:ext cx="74185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예 — 코딩 Agent가 "수정 완료"라고 말해도 테스트를 통과해야 실제 완료.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5" name="Line 2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25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3-9 · Retry · Recovery · Fallback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8239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성공 경로만이 아니라 실패 경로도 설계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9141523" cy="410718"/>
            <a:chOff x="675132" y="1678305"/>
            <a:chExt cx="914152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91415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외부 API 실패·Tool 오류·형식 오류·검증 실패에 대비한 세 가지 대응.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5894" y="2514600"/>
            <a:ext cx="10830306" cy="2752725"/>
            <a:chOff x="675894" y="2514600"/>
            <a:chExt cx="10830306" cy="2752725"/>
          </a:xfrm>
        </p:grpSpPr>
        <p:sp>
          <p:nvSpPr>
            <p:cNvPr id="8" name="Line 8"/>
            <p:cNvSpPr/>
            <p:nvPr/>
          </p:nvSpPr>
          <p:spPr>
            <a:xfrm>
              <a:off x="685800" y="251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894" y="28374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844" y="2837498"/>
              <a:ext cx="786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Retry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19856" y="2853690"/>
              <a:ext cx="2417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같은 작업을 다시 시도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3429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5894" y="37518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18844" y="3751898"/>
              <a:ext cx="12411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Recovery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19856" y="3768090"/>
              <a:ext cx="41720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저장된 State로 중단 지점에서 이어감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85800" y="4343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5894" y="46662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8844" y="4666298"/>
              <a:ext cx="11023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Fallback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19856" y="4682490"/>
              <a:ext cx="33727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다른 모델·Tool·전략으로 전환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525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77418" y="5594032"/>
            <a:ext cx="7328718" cy="322707"/>
            <a:chOff x="677418" y="5594032"/>
            <a:chExt cx="7328718" cy="322707"/>
          </a:xfrm>
        </p:grpSpPr>
        <p:sp>
          <p:nvSpPr>
            <p:cNvPr id="22" name="TextBox 22"/>
            <p:cNvSpPr txBox="1"/>
            <p:nvPr/>
          </p:nvSpPr>
          <p:spPr>
            <a:xfrm>
              <a:off x="677418" y="5594032"/>
              <a:ext cx="73287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신뢰성 있는 Agent는 성공 경로뿐 아니라 실패 경로도 설계되어 있다.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4" name="Line 2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161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3-10 · 3-11 · Sandboxing · Observability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5141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위험한 행동은 격리하고, 일어난 일은 기록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091928" cy="410718"/>
            <a:chOff x="675132" y="1640205"/>
            <a:chExt cx="1009192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0919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Observability가 없으면 "왜 Agent가 이런 행동을 했는가"를 진단하기 어렵다.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531745"/>
            <a:chOff x="675894" y="2400300"/>
            <a:chExt cx="4962906" cy="25317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4750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Sandboxing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310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위험한 행동을 격리된 환경에서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800475"/>
              <a:ext cx="2125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코드 실행·파일 조작 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371975"/>
              <a:ext cx="22250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Agent가 시스템 전체에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무제한 접근하지 못하도록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493645"/>
            <a:chOff x="6314694" y="2400300"/>
            <a:chExt cx="5191506" cy="24936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1846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Observability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310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내부에서 무슨 일이 일어났는지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800475"/>
              <a:ext cx="27774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모델 호출·Tool 호출·상태 변화·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오류·비용·지연시간을 기록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600575"/>
              <a:ext cx="2882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최종 답변보다 실행 과정을 추적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426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3-12 · 3-13 · Tracing · Completion Criteria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68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실행 경로를 남기고, 종료 조건을 정한다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330706" cy="410718"/>
            <a:chOff x="675132" y="1640205"/>
            <a:chExt cx="1033070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3307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Harness Engineering은 Agent의 시작뿐 아니라 "언제 멈출 것인가"도 설계한다.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684145"/>
            <a:chOff x="675894" y="2400300"/>
            <a:chExt cx="4962906" cy="26841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Tracing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52088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한 요청이 거친 모델·Tool·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Node·상태를 기록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990975"/>
              <a:ext cx="20535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실패한 단계·반복 횟수·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Tool 사용 이유 분석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791075"/>
              <a:ext cx="3397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테스트·개선을 위한 핵심 운영 데이터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836545"/>
            <a:chOff x="6314694" y="2400300"/>
            <a:chExt cx="5191506" cy="28365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26270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Completion Criteria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28821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명확한 종료 조건이 필요하다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876675"/>
              <a:ext cx="23869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 xml:space="preserve">"완료" 말만으로 종료하면 </a:t>
              </a: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조기 종료·잘못된 완료 판정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676775"/>
              <a:ext cx="21964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테스트 통과·필수 필드·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승인 완료·목표 조건 충족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3922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3-14 · Harness Engineering의 핵심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68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지능이 아니라, 신뢰성 있게 발휘할 환경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1940531" cy="410718"/>
            <a:chOff x="675132" y="1678305"/>
            <a:chExt cx="1194053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19405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같은 모델이라도 Tool·Context·Verification·State·Permission이 다르면 성능이 달라진다.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5894" y="2514600"/>
            <a:ext cx="10830306" cy="2981325"/>
            <a:chOff x="675894" y="2514600"/>
            <a:chExt cx="10830306" cy="2981325"/>
          </a:xfrm>
        </p:grpSpPr>
        <p:sp>
          <p:nvSpPr>
            <p:cNvPr id="8" name="Line 8"/>
            <p:cNvSpPr/>
            <p:nvPr/>
          </p:nvSpPr>
          <p:spPr>
            <a:xfrm>
              <a:off x="685800" y="251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894" y="28755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9606" y="2891790"/>
              <a:ext cx="46344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모델의 지능 자체를 높이는 작업이 아니다.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505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5894" y="38661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606" y="3882390"/>
              <a:ext cx="64033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능력을 신뢰성 있게 발휘하도록 환경을 설계하는 작업이다.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4495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5894" y="48567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9606" y="4872990"/>
              <a:ext cx="75462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평가에서는 Model + Harness + Environment 전체를 본다.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548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19" name="Line 1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4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6590919" cy="1562100"/>
            <a:chOff x="647700" y="2409825"/>
            <a:chExt cx="6590919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608685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Agentic Engineering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659091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자율적 AI 시스템 설계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8275701" cy="810768"/>
            <a:chOff x="675132" y="4211955"/>
            <a:chExt cx="8275701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827570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핵심은 자율성을 무조건 높이는 것이 아니라,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어떤 판단을 모델에게 맡기고 어떤 부분을 코드와 사람에게 남길지다.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5292090"/>
            <a:ext cx="9890973" cy="352044"/>
            <a:chOff x="676656" y="5292090"/>
            <a:chExt cx="9890973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9890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대상은 단일 Prompt가 아니라 목표·상태·도구·Workflow·Memory·평가·통제 구조 전체.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023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4-1 · 4-2 · Agentic Engineering ·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68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시스템을 설계하는 접근, 그리고 그 주체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141623" cy="410718"/>
            <a:chOff x="675132" y="1640205"/>
            <a:chExt cx="914162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141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Agent는 "한 번 답하는 모델"보다 "행동을 반복하는 시스템"에 가깝다.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2150745"/>
            <a:chOff x="675894" y="2400300"/>
            <a:chExt cx="4962906" cy="21507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26409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Agentic Engineering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63613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계획·도구 선택·행동·확인·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재시도하는 시스템 설계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4257675"/>
              <a:ext cx="34500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어떤 판단을 모델에게 맡길지가 핵심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14694" y="2400300"/>
            <a:ext cx="5191506" cy="2341245"/>
            <a:chOff x="6314694" y="2400300"/>
            <a:chExt cx="5191506" cy="2341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4694" y="2646998"/>
              <a:ext cx="786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6218" y="3098482"/>
              <a:ext cx="278282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현재 상태를 보고 다음 행동을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선택하는 AI 시스템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4029075"/>
              <a:ext cx="31213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필요 시 검색·계산·파일·API Tool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4448175"/>
              <a:ext cx="2822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결과를 관찰하고 목표 달성까지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1" name="Line 21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540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4-3 · Autonomy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6663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필요한 만큼만 자율성을 부여한다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376637" cy="410718"/>
            <a:chOff x="675132" y="1678305"/>
            <a:chExt cx="837663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3766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Autonomy는 Agent가 다음 행동을 스스로 선택할 수 있는 정도다.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85850" y="2965132"/>
            <a:ext cx="10020300" cy="1058419"/>
            <a:chOff x="1085850" y="2965132"/>
            <a:chExt cx="10020300" cy="1058419"/>
          </a:xfrm>
        </p:grpSpPr>
        <p:sp>
          <p:nvSpPr>
            <p:cNvPr id="8" name="Line 8"/>
            <p:cNvSpPr/>
            <p:nvPr/>
          </p:nvSpPr>
          <p:spPr>
            <a:xfrm>
              <a:off x="1143000" y="3429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E2E6EB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85850" y="3371850"/>
              <a:ext cx="114300" cy="114300"/>
            </a:xfrm>
            <a:prstGeom prst="ellipse">
              <a:avLst/>
            </a:prstGeom>
            <a:solidFill>
              <a:srgbClr val="14181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991850" y="33718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4618" y="2965132"/>
              <a:ext cx="2022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일부 선택지만 허용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01618" y="2965132"/>
              <a:ext cx="22557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모든 결정을 모델에게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6142" y="3759518"/>
              <a:ext cx="1594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예측 가능성·통제 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42455" y="37595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유연성 ↑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7418" y="4762500"/>
            <a:ext cx="10828782" cy="944689"/>
            <a:chOff x="677418" y="4762500"/>
            <a:chExt cx="10828782" cy="944689"/>
          </a:xfrm>
        </p:grpSpPr>
        <p:sp>
          <p:nvSpPr>
            <p:cNvPr id="16" name="Line 16"/>
            <p:cNvSpPr/>
            <p:nvPr/>
          </p:nvSpPr>
          <p:spPr>
            <a:xfrm>
              <a:off x="685800" y="4762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7418" y="5003482"/>
              <a:ext cx="76244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자율성이 높을수록 유연성은 커지지만 예측 가능성과 통제는 낮아질 수 있다.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7418" y="5384482"/>
              <a:ext cx="48562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실무에서는 필요한 만큼만 자율성을 부여한다.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2408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4-4 · 4-5 · Planning · Task Decomposition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69040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목표를 하위 과업으로 분해하고 순서를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028987" cy="410718"/>
            <a:chOff x="675132" y="1640205"/>
            <a:chExt cx="1002898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0289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작은 작업으로 나누면 각 단계의 성공 여부를 검증하기 쉽고, 오류 전파가 준다.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91000" y="2286000"/>
            <a:ext cx="3810000" cy="571500"/>
            <a:chOff x="4191000" y="2286000"/>
            <a:chExt cx="3810000" cy="571500"/>
          </a:xfrm>
        </p:grpSpPr>
        <p:sp>
          <p:nvSpPr>
            <p:cNvPr id="8" name="Rectangle 8"/>
            <p:cNvSpPr/>
            <p:nvPr/>
          </p:nvSpPr>
          <p:spPr>
            <a:xfrm>
              <a:off x="4191000" y="2286000"/>
              <a:ext cx="3810000" cy="5715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816519" y="2469832"/>
              <a:ext cx="2558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경쟁사 분석 보고서 작성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66875" y="2857500"/>
            <a:ext cx="8858250" cy="457200"/>
            <a:chOff x="1666875" y="2857500"/>
            <a:chExt cx="8858250" cy="457200"/>
          </a:xfrm>
        </p:grpSpPr>
        <p:sp>
          <p:nvSpPr>
            <p:cNvPr id="11" name="Freeform 11"/>
            <p:cNvSpPr/>
            <p:nvPr/>
          </p:nvSpPr>
          <p:spPr>
            <a:xfrm>
              <a:off x="1666875" y="2857500"/>
              <a:ext cx="8858250" cy="457200"/>
            </a:xfrm>
            <a:custGeom>
              <a:avLst/>
              <a:gdLst/>
              <a:ahLst/>
              <a:cxnLst/>
              <a:rect l="l" t="t" r="r" b="b"/>
              <a:pathLst>
                <a:path w="8858250" h="457200">
                  <a:moveTo>
                    <a:pt x="4429125" y="0"/>
                  </a:moveTo>
                  <a:lnTo>
                    <a:pt x="4429125" y="228600"/>
                  </a:lnTo>
                  <a:moveTo>
                    <a:pt x="0" y="228600"/>
                  </a:moveTo>
                  <a:lnTo>
                    <a:pt x="8858250" y="228600"/>
                  </a:lnTo>
                  <a:moveTo>
                    <a:pt x="0" y="228600"/>
                  </a:moveTo>
                  <a:lnTo>
                    <a:pt x="0" y="457200"/>
                  </a:lnTo>
                  <a:moveTo>
                    <a:pt x="1771650" y="228600"/>
                  </a:moveTo>
                  <a:lnTo>
                    <a:pt x="1771650" y="457200"/>
                  </a:lnTo>
                  <a:moveTo>
                    <a:pt x="3543300" y="228600"/>
                  </a:moveTo>
                  <a:lnTo>
                    <a:pt x="3543300" y="457200"/>
                  </a:lnTo>
                  <a:moveTo>
                    <a:pt x="5314950" y="228600"/>
                  </a:moveTo>
                  <a:lnTo>
                    <a:pt x="5314950" y="457200"/>
                  </a:lnTo>
                  <a:moveTo>
                    <a:pt x="7086600" y="228600"/>
                  </a:moveTo>
                  <a:lnTo>
                    <a:pt x="7086600" y="457200"/>
                  </a:lnTo>
                  <a:moveTo>
                    <a:pt x="8858250" y="228600"/>
                  </a:moveTo>
                  <a:lnTo>
                    <a:pt x="8858250" y="4572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57250" y="3314700"/>
            <a:ext cx="10477500" cy="819150"/>
            <a:chOff x="857250" y="3314700"/>
            <a:chExt cx="10477500" cy="819150"/>
          </a:xfrm>
        </p:grpSpPr>
        <p:grpSp>
          <p:nvGrpSpPr>
            <p:cNvPr id="15" name="Group 15"/>
            <p:cNvGrpSpPr/>
            <p:nvPr/>
          </p:nvGrpSpPr>
          <p:grpSpPr>
            <a:xfrm>
              <a:off x="857250" y="3314700"/>
              <a:ext cx="1619250" cy="819150"/>
              <a:chOff x="857250" y="3314700"/>
              <a:chExt cx="1619250" cy="8191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857250" y="3314700"/>
                <a:ext cx="1619250" cy="819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47194" y="3627596"/>
                <a:ext cx="83936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자료 검색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628900" y="3314700"/>
              <a:ext cx="1619250" cy="819150"/>
              <a:chOff x="2628900" y="3314700"/>
              <a:chExt cx="1619250" cy="8191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628900" y="3314700"/>
                <a:ext cx="1619250" cy="819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018844" y="3627596"/>
                <a:ext cx="83936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정보 비교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400550" y="3314700"/>
              <a:ext cx="1619250" cy="819150"/>
              <a:chOff x="4400550" y="3314700"/>
              <a:chExt cx="1619250" cy="8191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400550" y="3314700"/>
                <a:ext cx="1619250" cy="819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694577" y="3627596"/>
                <a:ext cx="103119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데이터 정리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2200" y="3314700"/>
              <a:ext cx="1619250" cy="819150"/>
              <a:chOff x="6172200" y="3314700"/>
              <a:chExt cx="1619250" cy="8191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172200" y="3314700"/>
                <a:ext cx="1619250" cy="819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562144" y="3627596"/>
                <a:ext cx="83936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초안 생성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943850" y="3314700"/>
              <a:ext cx="1619250" cy="819150"/>
              <a:chOff x="7943850" y="3314700"/>
              <a:chExt cx="1619250" cy="8191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943850" y="3314700"/>
                <a:ext cx="1619250" cy="819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554402" y="3627596"/>
                <a:ext cx="39814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검증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715500" y="3314700"/>
              <a:ext cx="1619250" cy="819150"/>
              <a:chOff x="9715500" y="3314700"/>
              <a:chExt cx="1619250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9715500" y="3314700"/>
                <a:ext cx="1619250" cy="819150"/>
              </a:xfrm>
              <a:prstGeom prst="rect">
                <a:avLst/>
              </a:prstGeom>
              <a:solidFill>
                <a:srgbClr val="F4F6F8"/>
              </a:solidFill>
              <a:ln w="14288">
                <a:solidFill>
                  <a:srgbClr val="E2E6E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326052" y="3627596"/>
                <a:ext cx="39814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수정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677418" y="4591050"/>
            <a:ext cx="10828782" cy="944689"/>
            <a:chOff x="677418" y="4591050"/>
            <a:chExt cx="10828782" cy="944689"/>
          </a:xfrm>
        </p:grpSpPr>
        <p:sp>
          <p:nvSpPr>
            <p:cNvPr id="32" name="Line 32"/>
            <p:cNvSpPr/>
            <p:nvPr/>
          </p:nvSpPr>
          <p:spPr>
            <a:xfrm>
              <a:off x="685800" y="4591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7418" y="4832032"/>
              <a:ext cx="58141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계획을 한 번에 만들 수도, 실행 중 계속 수정할 수도 있다.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7418" y="5213032"/>
              <a:ext cx="63031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하위 작업은 서로 다른 Tool이나 전문 Agent에 배정할 수 있다.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6" name="Line 3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693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4-6 · 4-7 · Tool Selection · ReAct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49003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어떤 도구를 쓸지 판단하고, 반복한다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053665" cy="410718"/>
            <a:chOff x="675132" y="1640205"/>
            <a:chExt cx="905366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0536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중요한 것은 추론 텍스트보다 행동 루프를 안정적으로 설계하는 것이다.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75894" y="2400300"/>
            <a:ext cx="4962906" cy="2607945"/>
            <a:chOff x="675894" y="2400300"/>
            <a:chExt cx="4962906" cy="26079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8826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Tool Selection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9790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현재 상태에 따라 Tool을 판단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800475"/>
              <a:ext cx="2145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단순 질문은 Tool 없이,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143375"/>
              <a:ext cx="2993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최신 정보는 검색, 계산은 계산기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180" y="4714875"/>
              <a:ext cx="3993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Tool이 많을수록 Description·Routing 품질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14694" y="2400300"/>
            <a:ext cx="5191506" cy="2341245"/>
            <a:chOff x="6314694" y="2400300"/>
            <a:chExt cx="5191506" cy="2341245"/>
          </a:xfrm>
        </p:grpSpPr>
        <p:sp>
          <p:nvSpPr>
            <p:cNvPr id="17" name="Line 17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14694" y="2646998"/>
              <a:ext cx="7949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ReAct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218" y="3098482"/>
              <a:ext cx="2747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Reasoning + Acting을 반복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3800475"/>
              <a:ext cx="3418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상황 판단 → 행동 → 결과 관찰 → 다시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980" y="4448175"/>
              <a:ext cx="2882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안정적인 행동 루프 설계가 핵심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3" name="Line 2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263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4-8 · 4-9 · Routing · Reflection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5141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다음 경로를 고르고, 자기 결과를 되짚는다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744471" cy="410718"/>
            <a:chOff x="675132" y="1640205"/>
            <a:chExt cx="974447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7444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Reflection을 무한 반복하면 비용·지연이 증가하므로 종료 조건이 필요하다.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455545"/>
            <a:chOff x="675894" y="2400300"/>
            <a:chExt cx="4962906" cy="24555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Routing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305523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입력·State에 따라 다음 Agent·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Tool·Workflow 선택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99097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질문 유형별 전문 경로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562475"/>
              <a:ext cx="26807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비용과 정확성 모두에 큰 영향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265045"/>
            <a:chOff x="6314694" y="2400300"/>
            <a:chExt cx="5191506" cy="22650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14057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Reflection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자기 결과를 재평가·수정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800475"/>
              <a:ext cx="2792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Critic·Evaluator로 오류 탐색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3719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종료 조건 필수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643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4-10 · Human-in-the-Loop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7758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자동화하지 않는 것도 설계다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5682204" cy="410718"/>
            <a:chOff x="675132" y="1678305"/>
            <a:chExt cx="568220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56822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Agent의 모든 결정을 자동화할 필요는 없다.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6656" y="2396490"/>
            <a:ext cx="6839483" cy="694944"/>
            <a:chOff x="676656" y="2396490"/>
            <a:chExt cx="6839483" cy="694944"/>
          </a:xfrm>
        </p:grpSpPr>
        <p:sp>
          <p:nvSpPr>
            <p:cNvPr id="8" name="TextBox 8"/>
            <p:cNvSpPr txBox="1"/>
            <p:nvPr/>
          </p:nvSpPr>
          <p:spPr>
            <a:xfrm>
              <a:off x="676656" y="2396490"/>
              <a:ext cx="6839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중요한 의사결정·외부 전송·데이터 삭제·결제와 같은 작업에는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2739390"/>
              <a:ext cx="35930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사람의 승인 단계를 둘 수 있다.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7418" y="3390900"/>
            <a:ext cx="10828782" cy="1724025"/>
            <a:chOff x="677418" y="3390900"/>
            <a:chExt cx="10828782" cy="1724025"/>
          </a:xfrm>
        </p:grpSpPr>
        <p:sp>
          <p:nvSpPr>
            <p:cNvPr id="11" name="Line 11"/>
            <p:cNvSpPr/>
            <p:nvPr/>
          </p:nvSpPr>
          <p:spPr>
            <a:xfrm>
              <a:off x="685800" y="3390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7418" y="3727132"/>
              <a:ext cx="16382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중요한 의사결정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82618" y="3727132"/>
              <a:ext cx="9718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외부 전송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11618" y="3727132"/>
              <a:ext cx="11940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데이터 삭제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4248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7418" y="45843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결제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2618" y="4584382"/>
              <a:ext cx="17048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민감 데이터 변경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510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77418" y="5460682"/>
            <a:ext cx="5999092" cy="322707"/>
            <a:chOff x="677418" y="5460682"/>
            <a:chExt cx="5999092" cy="322707"/>
          </a:xfrm>
        </p:grpSpPr>
        <p:sp>
          <p:nvSpPr>
            <p:cNvPr id="20" name="TextBox 20"/>
            <p:cNvSpPr txBox="1"/>
            <p:nvPr/>
          </p:nvSpPr>
          <p:spPr>
            <a:xfrm>
              <a:off x="677418" y="5460682"/>
              <a:ext cx="599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임시 장치가 아니라 책임성과 통제를 위한 설계 패턴이다.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850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4-11 · 4-12 · Single · Multi-Agent · Supervisor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5754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하나로 갈까, 역할을 나눌까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213757" cy="410718"/>
            <a:chOff x="675132" y="1640205"/>
            <a:chExt cx="1021375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2137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Multi-Agent가 항상 더 뛰어난 것은 아니다 — 통신·오류·디버깅 복잡성도 는다.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2819400"/>
            <a:chOff x="6096000" y="2286000"/>
            <a:chExt cx="9525" cy="28194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2819400"/>
            </a:xfrm>
            <a:custGeom>
              <a:avLst/>
              <a:gdLst/>
              <a:ahLst/>
              <a:cxnLst/>
              <a:rect l="l" t="t" r="r" b="b"/>
              <a:pathLst>
                <a:path w="9525"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75894" y="2400300"/>
            <a:ext cx="4962906" cy="1344739"/>
            <a:chOff x="675894" y="2400300"/>
            <a:chExt cx="4962906" cy="1344739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6488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Single Agent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136582"/>
              <a:ext cx="265709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하나의 Agent가 여러 Tool을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사용하며 전체 작업 수행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14694" y="2400300"/>
            <a:ext cx="5191506" cy="2226945"/>
            <a:chOff x="6314694" y="2400300"/>
            <a:chExt cx="5191506" cy="2226945"/>
          </a:xfrm>
        </p:grpSpPr>
        <p:sp>
          <p:nvSpPr>
            <p:cNvPr id="14" name="Line 14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14694" y="2646998"/>
              <a:ext cx="16226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Multi-Agent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16218" y="3136582"/>
              <a:ext cx="353720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Researcher·Planner·Critic·Writer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처럼 역할을 나눈다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6980" y="4067175"/>
              <a:ext cx="27774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 xml:space="preserve">Agent 수가 늘면 통신 비용·오류 </a:t>
              </a: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가능성·디버깅 복잡성도 증가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8180" y="5334000"/>
            <a:ext cx="11884553" cy="512445"/>
            <a:chOff x="678180" y="5334000"/>
            <a:chExt cx="11884553" cy="512445"/>
          </a:xfrm>
        </p:grpSpPr>
        <p:sp>
          <p:nvSpPr>
            <p:cNvPr id="19" name="Line 19"/>
            <p:cNvSpPr/>
            <p:nvPr/>
          </p:nvSpPr>
          <p:spPr>
            <a:xfrm>
              <a:off x="685800" y="5334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8180" y="5553075"/>
              <a:ext cx="118845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Supervisor Architecture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 — Supervisor가 목표·State를 보고 다음 작업을 맡을 Worker를 결정. 중앙 판단 오류가 전체에 영향.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896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4-13 · 4-14 · Agent Handoff · Agentic Workflow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68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작업을 넘기고, 흐름 안에 판단을 심는다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544298" cy="410718"/>
            <a:chOff x="675132" y="1640205"/>
            <a:chExt cx="1054429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5442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실무에서는 "고정 Workflow + 제한된 Agentic Decision"이 실용적인 경우가 많다.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2188845"/>
            <a:chOff x="675894" y="2400300"/>
            <a:chExt cx="4962906" cy="21888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9396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Handoff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309714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한 Agent가 다른 전문 Agent에게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작업을 넘김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4029075"/>
              <a:ext cx="26346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 xml:space="preserve">정보가 부족하면 이해 못 하고, </a:t>
              </a:r>
              <a:r>
                <a:rPr lang="ko-KR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너무 많으면 Context가 커진다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2188845"/>
            <a:chOff x="6314694" y="2400300"/>
            <a:chExt cx="5191506" cy="21888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4694" y="2646998"/>
              <a:ext cx="2366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Agentic Workflow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6218" y="3098482"/>
              <a:ext cx="331717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전체 흐름은 사람이, 일부 단계에서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LLM에게 판단 권한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4029075"/>
              <a:ext cx="2863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완전 자율 Agent보다 실행 경로를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통제하기 쉽다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379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4-15 · 4-16 · LangGraph · MCP와 Agentic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68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실행 경로를 명시하고, 외부와 표준 연결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551986" cy="410718"/>
            <a:chOff x="675132" y="1640205"/>
            <a:chExt cx="1055198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5519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중요한 것은 특정 프레임워크가 아니라 상태와 실행 경로를 명시적으로 설계함이다.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238500"/>
            <a:chOff x="6096000" y="2286000"/>
            <a:chExt cx="9525" cy="3238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760345"/>
            <a:chOff x="675894" y="2400300"/>
            <a:chExt cx="4962906" cy="27603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4013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LangGraph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33136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Graph 기반 Orchestration 도구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800475"/>
              <a:ext cx="28441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State·Node·Edge·Loop·Retry·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Human Approval을 명시적으로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600575"/>
              <a:ext cx="29108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행동을 대화가 아니라 실행 가능한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Workflow로 표현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493645"/>
            <a:chOff x="6314694" y="2400300"/>
            <a:chExt cx="5191506" cy="24936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5585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MCP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표준화된 프로토콜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800475"/>
              <a:ext cx="24345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Tool과 Resource를 Agent가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일정한 방식으로 발견·사용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600575"/>
              <a:ext cx="3662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외부 세계와 연결되는 인터페이스 설계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408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4-17 · Agent Evaluation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451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결과뿐 아니라 행동 궤적을 평가한다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9970103" cy="410718"/>
            <a:chOff x="675132" y="1678305"/>
            <a:chExt cx="997010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99701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Agentic Engineering은 실행 결과뿐 아니라 trajectory를 평가하는 공학이다.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5894" y="2438400"/>
            <a:ext cx="10830306" cy="3476625"/>
            <a:chOff x="675894" y="2438400"/>
            <a:chExt cx="10830306" cy="3476625"/>
          </a:xfrm>
        </p:grpSpPr>
        <p:sp>
          <p:nvSpPr>
            <p:cNvPr id="8" name="Line 8"/>
            <p:cNvSpPr/>
            <p:nvPr/>
          </p:nvSpPr>
          <p:spPr>
            <a:xfrm>
              <a:off x="685800" y="243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894" y="26469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9606" y="2663190"/>
              <a:ext cx="16505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Task Success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2618" y="267938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목표를 달성했는가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3238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5894" y="34470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19606" y="3463290"/>
              <a:ext cx="33744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Tool Accuracy · Step Count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1130" y="3800475"/>
              <a:ext cx="4110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올바른 Tool을 썼나, 불필요한 반복은 없었나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85800" y="4305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5894" y="45138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9606" y="4530090"/>
              <a:ext cx="301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Latency · Cost · Safety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85800" y="510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5894" y="53139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0368" y="5346382"/>
              <a:ext cx="6609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잘못된 경로를 선택하지 않았는지 </a:t>
              </a:r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행동 궤적(trajectory)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을 확인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" y="5905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4" name="Line 2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6037234" cy="1562100"/>
            <a:chOff x="647700" y="2409825"/>
            <a:chExt cx="6037234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603723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Prompt → Context 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555261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Harness → Agentic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8290369" cy="410718"/>
            <a:chOff x="675132" y="4211955"/>
            <a:chExt cx="8290369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82903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네 층은 서로 대체하는 유행어가 아니라 서로 다른 시스템 층이다.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5292090"/>
            <a:ext cx="5679156" cy="352044"/>
            <a:chOff x="676656" y="5292090"/>
            <a:chExt cx="5679156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56791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실제 Agent 시스템에서는 네 층이 동시에 작동한다.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96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5-1 · 네 층은 대체 관계가 아니다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46412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각 층이 담당하는 설계 대상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1338721" cy="410718"/>
            <a:chOff x="675132" y="1678305"/>
            <a:chExt cx="1133872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13387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Prompt는 지시를, Context는 정보 환경을, Harness는 실행 환경을, Agentic은 전체를.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6656" y="2438400"/>
            <a:ext cx="10829544" cy="3667125"/>
            <a:chOff x="676656" y="2438400"/>
            <a:chExt cx="10829544" cy="3667125"/>
          </a:xfrm>
        </p:grpSpPr>
        <p:sp>
          <p:nvSpPr>
            <p:cNvPr id="8" name="Line 8"/>
            <p:cNvSpPr/>
            <p:nvPr/>
          </p:nvSpPr>
          <p:spPr>
            <a:xfrm>
              <a:off x="685800" y="243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2777490"/>
              <a:ext cx="2413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Prompt Engineering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81856" y="2777490"/>
              <a:ext cx="1787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지시를 설계한다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352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6656" y="3691890"/>
              <a:ext cx="2501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Context Engineering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81856" y="3691890"/>
              <a:ext cx="34591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모델이 볼 정보 환경을 설계한다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4267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6656" y="4606290"/>
              <a:ext cx="2501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Harness Engineering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1856" y="4606290"/>
              <a:ext cx="47434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행동하는 실행 환경과 통제 장치를 설계한다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5181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6656" y="5520690"/>
              <a:ext cx="24377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Agentic Engineering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81856" y="5520690"/>
              <a:ext cx="5603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여러 판단·행동을 연결하는 전체 시스템을 설계한다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6096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3953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5-2 · 한 번의 LLM 호출에서 Agent System까지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48852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네 단계로 확장되는 설계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9421178" cy="410718"/>
            <a:chOff x="675132" y="1678305"/>
            <a:chExt cx="942117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94211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위로 갈수록 모델 하나보다 모델을 둘러싼 시스템 설계의 중요성이 커진다.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5132" y="2438400"/>
            <a:ext cx="10831068" cy="4413123"/>
            <a:chOff x="675132" y="2438400"/>
            <a:chExt cx="10831068" cy="4413123"/>
          </a:xfrm>
        </p:grpSpPr>
        <p:grpSp>
          <p:nvGrpSpPr>
            <p:cNvPr id="12" name="Group 12"/>
            <p:cNvGrpSpPr/>
            <p:nvPr/>
          </p:nvGrpSpPr>
          <p:grpSpPr>
            <a:xfrm>
              <a:off x="675132" y="2438400"/>
              <a:ext cx="10831068" cy="1020889"/>
              <a:chOff x="675132" y="2438400"/>
              <a:chExt cx="10831068" cy="1020889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685800" y="24384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75132" y="27832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2563EB"/>
                    </a:solidFill>
                    <a:latin typeface="Pretendard ExtraBold"/>
                    <a:ea typeface="Pretendard ExtraBold"/>
                    <a:cs typeface="Pretendard ExtraBold"/>
                  </a:rPr>
                  <a:t>01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19606" y="2815590"/>
                <a:ext cx="24130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Prompt Engineering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20368" y="3136582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"무엇을 해라"를 명확히 전달한다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75132" y="3657600"/>
              <a:ext cx="10831068" cy="1020889"/>
              <a:chOff x="675132" y="3657600"/>
              <a:chExt cx="10831068" cy="1020889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685800" y="3657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75132" y="40024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2563EB"/>
                    </a:solidFill>
                    <a:latin typeface="Pretendard ExtraBold"/>
                    <a:ea typeface="Pretendard ExtraBold"/>
                    <a:cs typeface="Pretendard ExtraBold"/>
                  </a:rPr>
                  <a:t>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19606" y="4034790"/>
                <a:ext cx="250179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Context Engineering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20368" y="4355782"/>
                <a:ext cx="459249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"판단할 때 무엇을 알아야 하는가"를 구성한다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75132" y="4876800"/>
              <a:ext cx="10831068" cy="1020889"/>
              <a:chOff x="675132" y="4876800"/>
              <a:chExt cx="10831068" cy="1020889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685800" y="48768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5132" y="52216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2563EB"/>
                    </a:solidFill>
                    <a:latin typeface="Pretendard ExtraBold"/>
                    <a:ea typeface="Pretendard ExtraBold"/>
                    <a:cs typeface="Pretendard ExtraBold"/>
                  </a:rPr>
                  <a:t>03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19606" y="5253990"/>
                <a:ext cx="250179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Harness Engineering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20368" y="5574982"/>
                <a:ext cx="65138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"어떤 도구·권한·상태·검증 환경에서 행동할 것인가"를 설계한다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75132" y="6096000"/>
              <a:ext cx="10831068" cy="755523"/>
              <a:chOff x="675132" y="6096000"/>
              <a:chExt cx="10831068" cy="755523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685800" y="60960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75132" y="64408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2563EB"/>
                    </a:solidFill>
                    <a:latin typeface="Pretendard ExtraBold"/>
                    <a:ea typeface="Pretendard ExtraBold"/>
                    <a:cs typeface="Pretendard ExtraBold"/>
                  </a:rPr>
                  <a:t>04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419606" y="6473190"/>
                <a:ext cx="24377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Agentic Engineering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68368" y="6489382"/>
                <a:ext cx="554762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"어떤 행동을 언제 선택하고 반복할 것인가"를 설계한다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19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5-3 · 5-4 · 설계 대상의 변화 · 층별 실패 진단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무엇을 설계하나, 그리고 어디서 실패하나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21155"/>
            <a:ext cx="7866316" cy="410718"/>
            <a:chOff x="675132" y="1621155"/>
            <a:chExt cx="786631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21155"/>
              <a:ext cx="78663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"모델이 틀렸다"라고만 말하면 실제 개선 지점을 찾기 어렵다.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2133600"/>
            <a:ext cx="10820400" cy="1941195"/>
            <a:chOff x="685800" y="2133600"/>
            <a:chExt cx="10820400" cy="1941195"/>
          </a:xfrm>
        </p:grpSpPr>
        <p:sp>
          <p:nvSpPr>
            <p:cNvPr id="8" name="Rectangle 8"/>
            <p:cNvSpPr/>
            <p:nvPr/>
          </p:nvSpPr>
          <p:spPr>
            <a:xfrm>
              <a:off x="685800" y="2133600"/>
              <a:ext cx="10820400" cy="3810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823" y="2253139"/>
              <a:ext cx="1931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08323" y="2253139"/>
              <a:ext cx="7879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설계 대상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924300" y="21336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85800" y="2514600"/>
              <a:ext cx="10820400" cy="1560195"/>
              <a:chOff x="685800" y="2514600"/>
              <a:chExt cx="10820400" cy="1560195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685800" y="2514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68680" y="2638425"/>
                <a:ext cx="7643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Prompt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07180" y="263842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문장과 지시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685800" y="2895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68680" y="3019425"/>
                <a:ext cx="83814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Context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107180" y="301942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정보와 토큰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685800" y="3276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68680" y="3400425"/>
                <a:ext cx="83814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Harness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107180" y="3400425"/>
                <a:ext cx="19287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Runtime과 통제 구조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685800" y="3657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68680" y="3781425"/>
                <a:ext cx="15978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Agentic System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107180" y="3781425"/>
                <a:ext cx="15499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목표와 행동 흐름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685800" y="4038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</p:grpSp>
      </p:grpSp>
      <p:grpSp>
        <p:nvGrpSpPr>
          <p:cNvPr id="32" name="Group 32"/>
          <p:cNvGrpSpPr/>
          <p:nvPr/>
        </p:nvGrpSpPr>
        <p:grpSpPr>
          <a:xfrm>
            <a:off x="677418" y="4317682"/>
            <a:ext cx="5844959" cy="1643063"/>
            <a:chOff x="677418" y="4317682"/>
            <a:chExt cx="5844959" cy="1643063"/>
          </a:xfrm>
        </p:grpSpPr>
        <p:sp>
          <p:nvSpPr>
            <p:cNvPr id="27" name="TextBox 27"/>
            <p:cNvSpPr txBox="1"/>
            <p:nvPr/>
          </p:nvSpPr>
          <p:spPr>
            <a:xfrm>
              <a:off x="677418" y="4317682"/>
              <a:ext cx="27921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실패 원인도 층별로 다르다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8180" y="4695825"/>
              <a:ext cx="3184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답변 형식이 잘못됨 → Prompt 문제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8180" y="5019675"/>
              <a:ext cx="4145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필요한 근거를 못 받음 → Context / RAG 문제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180" y="5343525"/>
              <a:ext cx="4860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Tool을 잘못 호출하거나 실패 후 멈춤 → Harness 문제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8180" y="5667375"/>
              <a:ext cx="58441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불필요한 행동 반복·잘못된 목표 추구 → Agentic Workflow 문제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3" name="Line 3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6527529" cy="1562100"/>
            <a:chOff x="647700" y="2409825"/>
            <a:chExt cx="6527529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299527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AX 관점의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652752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Engineering 선택 기준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5942076" cy="810768"/>
            <a:chOff x="675132" y="4211955"/>
            <a:chExt cx="5942076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594207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AX의 목표는 "가장 자율적인 AI"가 아니라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가장 적절하게 통제된 AI 시스템을 만드는 것이다.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5292090"/>
            <a:ext cx="9535643" cy="352044"/>
            <a:chOff x="676656" y="5292090"/>
            <a:chExt cx="9535643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95356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필요한 층만 골라 쓴다 — 단순할수록 Prompt, 복잡할수록 Context·Harness·Agentic.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559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6-1 · 6-2 · Prompt면 충분한 경우 · Context가 필요한 경우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어디까지 프롬프트로, 언제 컨텍스트 설계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652540" cy="410718"/>
            <a:chOff x="675132" y="1640205"/>
            <a:chExt cx="965254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6525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정보가 이미 프롬프트 안에 있고 실행 경로가 단순하면 Prompt로 충분하다.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76656" y="2400300"/>
            <a:ext cx="4962144" cy="2169795"/>
            <a:chOff x="676656" y="2400300"/>
            <a:chExt cx="4962144" cy="21697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6656" y="2644140"/>
              <a:ext cx="17647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Prompt면 충분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313372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단발성 요약·번역·분류·초안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514725"/>
              <a:ext cx="2620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필요한 정보가 프롬프트 안에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3895725"/>
              <a:ext cx="2554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외부 Tool·장기 상태 불필요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180" y="4276725"/>
              <a:ext cx="2216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결과를 사람이 바로 확인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15456" y="2400300"/>
            <a:ext cx="5190744" cy="2169795"/>
            <a:chOff x="6315456" y="2400300"/>
            <a:chExt cx="5190744" cy="2169795"/>
          </a:xfrm>
        </p:grpSpPr>
        <p:sp>
          <p:nvSpPr>
            <p:cNvPr id="17" name="Line 17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15456" y="2644140"/>
              <a:ext cx="1852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Context가 필요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1337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긴 문서·다양한 소스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3514725"/>
              <a:ext cx="2697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RAG·Memory·Tool 결과 함께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980" y="3895725"/>
              <a:ext cx="191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최신·개인·사내 정보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6980" y="4276725"/>
              <a:ext cx="2216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필요한 정보만 동적 선택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4" name="Line 2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593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6-3 · 6-4 · Harness가 필요한 경우 · Agentic이 필요한 경우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2024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운영 시스템일 때, 자율 판단이 가치일 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938918" cy="410718"/>
            <a:chOff x="675132" y="1640205"/>
            <a:chExt cx="993891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9389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"한 번 잘 되는 데모"가 아니라 반복 가능한 운영 시스템이 필요하면 Harness.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76656" y="2400300"/>
            <a:ext cx="4962144" cy="2169795"/>
            <a:chOff x="676656" y="2400300"/>
            <a:chExt cx="4962144" cy="21697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6656" y="2644140"/>
              <a:ext cx="1852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Harness가 필요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3133725"/>
              <a:ext cx="2182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Agent가 실제 Tool 실행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514725"/>
              <a:ext cx="1812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여러 단계 상태 유지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3895725"/>
              <a:ext cx="2579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실패 복구·재시도·검증 중요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180" y="4276725"/>
              <a:ext cx="2773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권한·Sandbox·감사 기록 필요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15456" y="2400300"/>
            <a:ext cx="5190744" cy="2169795"/>
            <a:chOff x="6315456" y="2400300"/>
            <a:chExt cx="5190744" cy="2169795"/>
          </a:xfrm>
        </p:grpSpPr>
        <p:sp>
          <p:nvSpPr>
            <p:cNvPr id="17" name="Line 17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15456" y="2644140"/>
              <a:ext cx="17880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Agentic이 필요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133725"/>
              <a:ext cx="2882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실행 경로를 미리 정하기 어려움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3514725"/>
              <a:ext cx="2418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상황에 따라 순서가 달라짐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980" y="3895725"/>
              <a:ext cx="16104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실행 중 계획 수정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6980" y="4276725"/>
              <a:ext cx="32865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제한된 자율 의사결정이 업무 가치로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4" name="Line 2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3421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6-5 · Agent를 쓰지 않는 것도 Engineering이다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6419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가장 적절하게 통제된 AI 시스템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830705"/>
            <a:ext cx="10961903" cy="410718"/>
            <a:chOff x="675132" y="1830705"/>
            <a:chExt cx="1096190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830705"/>
              <a:ext cx="109619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정해진 규칙으로 해결 가능한 작업은 deterministic workflow가 더 안정적일 수 있다.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2743200"/>
            <a:ext cx="10829544" cy="2066925"/>
            <a:chOff x="676656" y="2743200"/>
            <a:chExt cx="10829544" cy="2066925"/>
          </a:xfrm>
        </p:grpSpPr>
        <p:sp>
          <p:nvSpPr>
            <p:cNvPr id="8" name="Line 8"/>
            <p:cNvSpPr/>
            <p:nvPr/>
          </p:nvSpPr>
          <p:spPr>
            <a:xfrm>
              <a:off x="685800" y="2743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3196590"/>
              <a:ext cx="47215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모든 AI 업무를 Agent로 만들 필요는 없다.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3771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6656" y="4225290"/>
              <a:ext cx="9097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Agent는 자율성을 주지만 비용·지연·예측 불가능성·보안 위험도 함께 증가시킨다.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4800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85800" y="5143500"/>
            <a:ext cx="10820400" cy="723900"/>
            <a:chOff x="685800" y="5143500"/>
            <a:chExt cx="10820400" cy="723900"/>
          </a:xfrm>
        </p:grpSpPr>
        <p:sp>
          <p:nvSpPr>
            <p:cNvPr id="14" name="Rectangle 14"/>
            <p:cNvSpPr/>
            <p:nvPr/>
          </p:nvSpPr>
          <p:spPr>
            <a:xfrm>
              <a:off x="685800" y="5143500"/>
              <a:ext cx="10820400" cy="7239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5256" y="5406390"/>
              <a:ext cx="95484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AX의 목표는 "가장 자율적인 AI"가 아니라 가장 적절하게 통제된 AI 시스템이다.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17" name="Line 17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6317885" cy="1562100"/>
            <a:chOff x="647700" y="2409825"/>
            <a:chExt cx="6317885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631788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AI Engineering Stack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194633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총정리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7622286" cy="410718"/>
            <a:chOff x="675132" y="4211955"/>
            <a:chExt cx="7622286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76222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AI 시스템을 개선하려면 각 Layer를 분리해 평가해야 한다.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4911090"/>
            <a:ext cx="7430664" cy="694944"/>
            <a:chOff x="676656" y="4911090"/>
            <a:chExt cx="7430664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4911090"/>
              <a:ext cx="7430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Model → Prompt → Context → Harness → Agent → Orchestration 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253990"/>
              <a:ext cx="41504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Evaluation → Security &amp; Governance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2824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7-1 ~ 7-8 · AI Engineering Stack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34159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여덟 개의 레이어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77418" y="1676400"/>
            <a:ext cx="10828782" cy="4581525"/>
            <a:chOff x="677418" y="1676400"/>
            <a:chExt cx="10828782" cy="4581525"/>
          </a:xfrm>
        </p:grpSpPr>
        <p:grpSp>
          <p:nvGrpSpPr>
            <p:cNvPr id="9" name="Group 9"/>
            <p:cNvGrpSpPr/>
            <p:nvPr/>
          </p:nvGrpSpPr>
          <p:grpSpPr>
            <a:xfrm>
              <a:off x="677418" y="1676400"/>
              <a:ext cx="10828782" cy="430339"/>
              <a:chOff x="677418" y="1676400"/>
              <a:chExt cx="10828782" cy="430339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685800" y="16764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77418" y="1784032"/>
                <a:ext cx="6536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Model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802380" y="1800225"/>
                <a:ext cx="52048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학습된 파라미터로 토큰 생성 · 성능·비용·속도·컨텍스트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77418" y="2266950"/>
              <a:ext cx="10828782" cy="430339"/>
              <a:chOff x="677418" y="2266950"/>
              <a:chExt cx="10828782" cy="430339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685800" y="22669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677418" y="2374582"/>
                <a:ext cx="8407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Prompt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802380" y="2390775"/>
                <a:ext cx="289274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역할·작업·제한 조건·출력 형식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77418" y="2857500"/>
              <a:ext cx="10828782" cy="430339"/>
              <a:chOff x="677418" y="2857500"/>
              <a:chExt cx="10828782" cy="430339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685800" y="28575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77418" y="2965132"/>
                <a:ext cx="92195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Context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802380" y="2981325"/>
                <a:ext cx="54268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System Instruction·사용자 입력·RAG·Memory·Tool 결과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77418" y="3448050"/>
              <a:ext cx="10828782" cy="430339"/>
              <a:chOff x="677418" y="3448050"/>
              <a:chExt cx="10828782" cy="430339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685800" y="34480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7418" y="3555682"/>
                <a:ext cx="92195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Harness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802380" y="3571875"/>
                <a:ext cx="643661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Tool 실행·State·Retry·Permission·Sandbox·Verification·Logging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77418" y="4038600"/>
              <a:ext cx="10828782" cy="430339"/>
              <a:chOff x="677418" y="4038600"/>
              <a:chExt cx="10828782" cy="430339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685800" y="4038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77418" y="4146232"/>
                <a:ext cx="6654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Agent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802380" y="4162425"/>
                <a:ext cx="623801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목표 해석·다음 행동 선택 · Planning·Routing·Reflection·Handoff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77418" y="4629150"/>
              <a:ext cx="10828782" cy="430339"/>
              <a:chOff x="677418" y="4629150"/>
              <a:chExt cx="10828782" cy="430339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685800" y="46291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7418" y="4736782"/>
                <a:ext cx="16799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Orchestration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802380" y="4752975"/>
                <a:ext cx="613630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Node·Agent·Tool의 실행 순서 · Workflow·Graph·State Machine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77418" y="5219700"/>
              <a:ext cx="10828782" cy="430339"/>
              <a:chOff x="677418" y="5219700"/>
              <a:chExt cx="10828782" cy="430339"/>
            </a:xfrm>
          </p:grpSpPr>
          <p:sp>
            <p:nvSpPr>
              <p:cNvPr id="30" name="Line 30"/>
              <p:cNvSpPr/>
              <p:nvPr/>
            </p:nvSpPr>
            <p:spPr>
              <a:xfrm>
                <a:off x="685800" y="52197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7418" y="5327332"/>
                <a:ext cx="11895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Evaluation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802380" y="5343525"/>
                <a:ext cx="4771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답변·Retrieval·Tool Use·Trajectory·비용·안전성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77418" y="5810250"/>
              <a:ext cx="10828782" cy="447675"/>
              <a:chOff x="677418" y="5810250"/>
              <a:chExt cx="10828782" cy="447675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685800" y="58102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7418" y="5917882"/>
                <a:ext cx="25514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Security &amp; Governance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802380" y="5934075"/>
                <a:ext cx="47404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접근 권한·개인정보·감사 로그·승인 절차·정책 준수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85800" y="62484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</p:grpSp>
      </p:grpSp>
      <p:grpSp>
        <p:nvGrpSpPr>
          <p:cNvPr id="43" name="Group 4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0" name="Line 4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344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 · 네 가지 Engineering의 최종 비교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9352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대상 · 질문 · 요소 · 범위 · 실패 · 가치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685800" y="1619250"/>
            <a:ext cx="10820400" cy="4762500"/>
            <a:chOff x="685800" y="1619250"/>
            <a:chExt cx="10820400" cy="4762500"/>
          </a:xfrm>
        </p:grpSpPr>
        <p:sp>
          <p:nvSpPr>
            <p:cNvPr id="6" name="Rectangle 6"/>
            <p:cNvSpPr/>
            <p:nvPr/>
          </p:nvSpPr>
          <p:spPr>
            <a:xfrm>
              <a:off x="685800" y="1619250"/>
              <a:ext cx="10820400" cy="4191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7468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구분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17242" y="1730692"/>
              <a:ext cx="68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Prompt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50867" y="1730692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84492" y="1730692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Harness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18117" y="1730692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Agentic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171700" y="161925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505325" y="161925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838950" y="161925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172575" y="161925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85800" y="2038350"/>
              <a:ext cx="10820400" cy="4219575"/>
              <a:chOff x="685800" y="2038350"/>
              <a:chExt cx="10820400" cy="4219575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685800" y="20383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32104" y="2270760"/>
                <a:ext cx="7415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5B6472"/>
                    </a:solidFill>
                    <a:latin typeface="Pretendard SemiBold"/>
                    <a:ea typeface="Pretendard SemiBold"/>
                    <a:cs typeface="Pretendard SemiBold"/>
                  </a:rPr>
                  <a:t>핵심 대상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318004" y="22707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지시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51629" y="2270760"/>
                <a:ext cx="7068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정보 환경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985254" y="2270760"/>
                <a:ext cx="7068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실행 환경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18879" y="2270760"/>
                <a:ext cx="12803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목표·행동 시스템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685800" y="27622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32104" y="2994660"/>
                <a:ext cx="7415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5B6472"/>
                    </a:solidFill>
                    <a:latin typeface="Pretendard SemiBold"/>
                    <a:ea typeface="Pretendard SemiBold"/>
                    <a:cs typeface="Pretendard SemiBold"/>
                  </a:rPr>
                  <a:t>핵심 질문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318004" y="2994660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어떻게 말할까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51629" y="2994660"/>
                <a:ext cx="11914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무엇을 보여줄까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985254" y="2994660"/>
                <a:ext cx="15145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안정적으로 움직이게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318879" y="2994660"/>
                <a:ext cx="12803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스스로 판단·행동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685800" y="34861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32104" y="3718560"/>
                <a:ext cx="7415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5B6472"/>
                    </a:solidFill>
                    <a:latin typeface="Pretendard SemiBold"/>
                    <a:ea typeface="Pretendard SemiBold"/>
                    <a:cs typeface="Pretendard SemiBold"/>
                  </a:rPr>
                  <a:t>주요 요소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318004" y="3718560"/>
                <a:ext cx="14145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지시·예시·Schema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51629" y="3718560"/>
                <a:ext cx="14115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RAG·Memory·선택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985254" y="3718560"/>
                <a:ext cx="18687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Tool·State·검증·재시도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318879" y="3718560"/>
                <a:ext cx="15603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계획·Routing·ReAct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685800" y="42100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32104" y="4442460"/>
                <a:ext cx="7415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5B6472"/>
                    </a:solidFill>
                    <a:latin typeface="Pretendard SemiBold"/>
                    <a:ea typeface="Pretendard SemiBold"/>
                    <a:cs typeface="Pretendard SemiBold"/>
                  </a:rPr>
                  <a:t>주된 범위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318004" y="4442460"/>
                <a:ext cx="10783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소수 모델 호출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51629" y="4442460"/>
                <a:ext cx="9168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한 추론 시점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985254" y="4442460"/>
                <a:ext cx="11292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Agent Runtime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318879" y="4442460"/>
                <a:ext cx="12803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장기·다단계 목표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685800" y="49339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2104" y="5166360"/>
                <a:ext cx="7415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5B6472"/>
                    </a:solidFill>
                    <a:latin typeface="Pretendard SemiBold"/>
                    <a:ea typeface="Pretendard SemiBold"/>
                    <a:cs typeface="Pretendard SemiBold"/>
                  </a:rPr>
                  <a:t>대표 실패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318004" y="5166360"/>
                <a:ext cx="868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C2410C"/>
                    </a:solidFill>
                    <a:latin typeface="Pretendard"/>
                    <a:ea typeface="Pretendard"/>
                    <a:cs typeface="Pretendard"/>
                  </a:rPr>
                  <a:t>모호한 지시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51629" y="5166360"/>
                <a:ext cx="11914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C2410C"/>
                    </a:solidFill>
                    <a:latin typeface="Pretendard"/>
                    <a:ea typeface="Pretendard"/>
                    <a:cs typeface="Pretendard"/>
                  </a:rPr>
                  <a:t>과도한 컨텍스트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985254" y="5166360"/>
                <a:ext cx="15030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C2410C"/>
                    </a:solidFill>
                    <a:latin typeface="Pretendard"/>
                    <a:ea typeface="Pretendard"/>
                    <a:cs typeface="Pretendard"/>
                  </a:rPr>
                  <a:t>Tool 오류·상태 손실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318879" y="5166360"/>
                <a:ext cx="18134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C2410C"/>
                    </a:solidFill>
                    <a:latin typeface="Pretendard"/>
                    <a:ea typeface="Pretendard"/>
                    <a:cs typeface="Pretendard"/>
                  </a:rPr>
                  <a:t>무한 루프·과도한 자율성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685800" y="56578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32104" y="5890260"/>
                <a:ext cx="7415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5B6472"/>
                    </a:solidFill>
                    <a:latin typeface="Pretendard SemiBold"/>
                    <a:ea typeface="Pretendard SemiBold"/>
                    <a:cs typeface="Pretendard SemiBold"/>
                  </a:rPr>
                  <a:t>핵심 가치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2318004" y="5890260"/>
                <a:ext cx="7415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출력 품질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651629" y="5890260"/>
                <a:ext cx="11316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판단 정보 품질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985254" y="5890260"/>
                <a:ext cx="11232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신뢰성·재현성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318879" y="5890260"/>
                <a:ext cx="11316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목표 달성 능력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685800" y="62484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</p:grpSp>
      </p:grpSp>
      <p:grpSp>
        <p:nvGrpSpPr>
          <p:cNvPr id="58" name="Group 5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55" name="Line 5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9704" y="6537960"/>
              <a:ext cx="2318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AI Engineering Stack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838200"/>
            <a:ext cx="646767" cy="537401"/>
            <a:chOff x="678942" y="838200"/>
            <a:chExt cx="646767" cy="537401"/>
          </a:xfrm>
        </p:grpSpPr>
        <p:sp>
          <p:nvSpPr>
            <p:cNvPr id="2" name="Rectangle 2"/>
            <p:cNvSpPr/>
            <p:nvPr/>
          </p:nvSpPr>
          <p:spPr>
            <a:xfrm>
              <a:off x="685800" y="83820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1111568"/>
              <a:ext cx="646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마무리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1322" y="1749742"/>
            <a:ext cx="4556379" cy="3506153"/>
            <a:chOff x="671322" y="1749742"/>
            <a:chExt cx="4556379" cy="350615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1749742"/>
              <a:ext cx="29697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8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질문이 이동한다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5894" y="2570798"/>
              <a:ext cx="4551807" cy="11814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「어떤 모델을 쓸까?」에서</a:t>
              </a:r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「어떤 시스템을 설계해야 이 모델이 </a:t>
              </a:r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우리 업무에서 신뢰성 있게 일할까?」로.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8180" y="4314825"/>
              <a:ext cx="434911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AX의 핵심 역량은 프롬프트를 잘 쓰는 사람을 넘어,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AI의 정보·행동·통제 구조를 설계하고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실패 지점을 진단할 수 있는 사람이다.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24700" y="1676400"/>
            <a:ext cx="9525" cy="3657600"/>
            <a:chOff x="7124700" y="1676400"/>
            <a:chExt cx="9525" cy="3657600"/>
          </a:xfrm>
        </p:grpSpPr>
        <p:sp>
          <p:nvSpPr>
            <p:cNvPr id="9" name="Line 9"/>
            <p:cNvSpPr/>
            <p:nvPr/>
          </p:nvSpPr>
          <p:spPr>
            <a:xfrm>
              <a:off x="7124700" y="167640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610856" y="1803082"/>
            <a:ext cx="2823839" cy="3230119"/>
            <a:chOff x="7610856" y="1803082"/>
            <a:chExt cx="2823839" cy="3230119"/>
          </a:xfrm>
        </p:grpSpPr>
        <p:sp>
          <p:nvSpPr>
            <p:cNvPr id="11" name="TextBox 11"/>
            <p:cNvSpPr txBox="1"/>
            <p:nvPr/>
          </p:nvSpPr>
          <p:spPr>
            <a:xfrm>
              <a:off x="7611618" y="1803082"/>
              <a:ext cx="16260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네 개의 설계 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10856" y="2396490"/>
              <a:ext cx="9172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Prompt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13142" y="2711768"/>
              <a:ext cx="1340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어떻게 지시할지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10856" y="30822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Context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13142" y="3397568"/>
              <a:ext cx="1394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무엇을 보게 할지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10856" y="37680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Harness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3142" y="4083368"/>
              <a:ext cx="2694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어떤 실행 환경·통제 구조 안에서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10856" y="4453890"/>
              <a:ext cx="9416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Agentic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13142" y="4769168"/>
              <a:ext cx="2821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무엇을 스스로 선택·반복하게 할지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9704" y="6305550"/>
            <a:ext cx="10832592" cy="409956"/>
            <a:chOff x="679704" y="6305550"/>
            <a:chExt cx="10832592" cy="409956"/>
          </a:xfrm>
        </p:grpSpPr>
        <p:sp>
          <p:nvSpPr>
            <p:cNvPr id="21" name="Line 21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9704" y="6480810"/>
              <a:ext cx="4716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전문성 강화 영어교과 심화 연수 · AI Engineering Stack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2026-09-06T21:31:21Z</dcterms:created>
  <dcterms:modified xsi:type="dcterms:W3CDTF">2026-09-06T21:31:21Z</dcterms:modified>
  <cp:category/>
  <cp:contentStatus/>
</cp:coreProperties>
</file>