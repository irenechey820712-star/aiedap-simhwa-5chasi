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914400"/>
            <a:ext cx="6245530" cy="632651"/>
            <a:chOff x="678942" y="914400"/>
            <a:chExt cx="6245530" cy="632651"/>
          </a:xfrm>
        </p:grpSpPr>
        <p:sp>
          <p:nvSpPr>
            <p:cNvPr id="2" name="Rectangle 2"/>
            <p:cNvSpPr/>
            <p:nvPr/>
          </p:nvSpPr>
          <p:spPr>
            <a:xfrm>
              <a:off x="685800" y="9144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283018"/>
              <a:ext cx="6245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AIEDAP 전문성 강화 영어교과 심화 연수 · Agentic AI System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177415"/>
            <a:ext cx="8929771" cy="2171700"/>
            <a:chOff x="647700" y="2177415"/>
            <a:chExt cx="8929771" cy="2171700"/>
          </a:xfrm>
        </p:grpSpPr>
        <p:sp>
          <p:nvSpPr>
            <p:cNvPr id="5" name="TextBox 5"/>
            <p:cNvSpPr txBox="1"/>
            <p:nvPr/>
          </p:nvSpPr>
          <p:spPr>
            <a:xfrm>
              <a:off x="647700" y="2177415"/>
              <a:ext cx="892977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LLM에서 운영 가능한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7700" y="3129915"/>
              <a:ext cx="6085701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 xml:space="preserve">AI </a:t>
              </a:r>
              <a:r>
                <a:rPr lang="en-US" sz="63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System</a:t>
              </a:r>
              <a:r>
                <a:rPr lang="ko-KR" sz="63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으로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3608" y="4236720"/>
            <a:ext cx="12560001" cy="469392"/>
            <a:chOff x="673608" y="4236720"/>
            <a:chExt cx="12560001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673608" y="4236720"/>
              <a:ext cx="125600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5B6472"/>
                  </a:solidFill>
                  <a:latin typeface="Pretendard SemiBold"/>
                  <a:ea typeface="Pretendard SemiBold"/>
                  <a:cs typeface="Pretendard SemiBold"/>
                </a:rPr>
                <a:t>Harness · Context · Memory · Runtime · Async · A2A · Security · Reliability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76656" y="4911090"/>
            <a:ext cx="9928098" cy="694944"/>
            <a:chOff x="676656" y="4911090"/>
            <a:chExt cx="992809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911090"/>
              <a:ext cx="992809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2026년의 학습 단위는 Prompt 작성법이 아니라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Model + Context + Harness + Runtime + Protocol + Security + Reliability의 전체 시스템이다.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78942" y="6019800"/>
            <a:ext cx="10834116" cy="499301"/>
            <a:chOff x="678942" y="6019800"/>
            <a:chExt cx="10834116" cy="499301"/>
          </a:xfrm>
        </p:grpSpPr>
        <p:sp>
          <p:nvSpPr>
            <p:cNvPr id="12" name="Line 12"/>
            <p:cNvSpPr/>
            <p:nvPr/>
          </p:nvSpPr>
          <p:spPr>
            <a:xfrm>
              <a:off x="685800" y="601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8942" y="6255068"/>
              <a:ext cx="2654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확장 개념 49–128 · PART 6–13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099521" y="6255068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708660"/>
            <a:ext cx="8955748" cy="1028891"/>
            <a:chOff x="669798" y="708660"/>
            <a:chExt cx="8955748" cy="1028891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708660"/>
              <a:ext cx="8223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강의 지도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936308"/>
              <a:ext cx="781809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확장 개념 49–128이 다루는 8개 PART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1473518"/>
              <a:ext cx="89466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LLM·Agent 다음 단계 — 실행 틀·정보 관리·기억·장기 실행·비동기·협력·보안·신뢰성을 순서대로 익힌다.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75894" y="1809750"/>
            <a:ext cx="10837164" cy="4429125"/>
            <a:chOff x="675894" y="1809750"/>
            <a:chExt cx="10837164" cy="4429125"/>
          </a:xfrm>
        </p:grpSpPr>
        <p:sp>
          <p:nvSpPr>
            <p:cNvPr id="6" name="Line 6"/>
            <p:cNvSpPr/>
            <p:nvPr/>
          </p:nvSpPr>
          <p:spPr>
            <a:xfrm>
              <a:off x="685800" y="1809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5894" y="19421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10056" y="1958340"/>
              <a:ext cx="61758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 Engineering — 모델 주변 실행 틀을 설계한다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99565" y="20069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49–58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85800" y="2362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5894" y="24945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0056" y="2510790"/>
              <a:ext cx="69439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Engineering 심화 — 지금 무엇을 보여줄지 설계한다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99565" y="25593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59–70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2914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894" y="30470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10056" y="3063240"/>
              <a:ext cx="7578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 · Skill · Subagent — 기억하고 능력을 불러오고 위임한다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99565" y="31118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71–80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85800" y="3467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5894" y="359949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10056" y="3615690"/>
              <a:ext cx="7970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Runtime · Long-Horizon — 오래 걸리는 작업을 실행·복구한다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99565" y="366426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81–92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85800" y="4019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5894" y="41519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10056" y="4168140"/>
              <a:ext cx="57555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Asynchronous Agent — 비동기로 실행하고 알린다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99565" y="421671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93–98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5894" y="47043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0056" y="4720590"/>
              <a:ext cx="646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Interoperability · A2A — Agent끼리 표준으로 협력한다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99610" y="476916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99–110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" y="51244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894" y="525684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10056" y="5273040"/>
              <a:ext cx="8582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Security · Identity · Permissions — 최소 권한으로 행동 범위를 제한한다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99655" y="53216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111–120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85800" y="5676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894" y="580929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10056" y="5825490"/>
              <a:ext cx="7358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Reliability Engineering — 반복해도 안정적으로 목표를 달성한다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99655" y="58740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121–128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85800" y="6229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40" name="Line 4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524125"/>
            <a:ext cx="6246876" cy="876300"/>
            <a:chOff x="647700" y="2524125"/>
            <a:chExt cx="6246876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24125"/>
              <a:ext cx="62468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Harness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132" y="3773805"/>
            <a:ext cx="8573072" cy="410718"/>
            <a:chOff x="675132" y="3773805"/>
            <a:chExt cx="857307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3773805"/>
              <a:ext cx="85730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모델도 어떤 실행 틀로 감싸느냐에 따라 실제 성능이 달라진다.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4491990"/>
            <a:ext cx="5729745" cy="694944"/>
            <a:chOff x="676656" y="4491990"/>
            <a:chExt cx="5729745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491990"/>
              <a:ext cx="5729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모델 주변의 Tool · Context · Memory · Runtime을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4834890"/>
              <a:ext cx="47701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Permission · Evaluation까지 설계하는 일.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49 · 50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88529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틀을 설계한다는 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445856" cy="410718"/>
            <a:chOff x="675132" y="1640205"/>
            <a:chExt cx="844585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445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모델을 감싸는 실행 구조 전체를 설계하고, 그 틀을 하나로 묶는다.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2150745"/>
            <a:chOff x="675894" y="2400300"/>
            <a:chExt cx="4962906" cy="21507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49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710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 Engineering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2061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 주변의 Tool·Context·Memory·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Runtime·Permission·Evaluation을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설계해 Agent가 안정적으로 일하게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만드는 시스템 엔지니어링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9396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Harness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48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Loop가 실제 업무를 수행하도록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지침·도구·상태·실행환경·복구 구조를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하나로 묶은 실행 틀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51 · 52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64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Agent가 실제로 실행하고 저장하는 곳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643747" cy="410718"/>
            <a:chOff x="675132" y="1640205"/>
            <a:chExt cx="864374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6437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행동을 실행하는 컴퓨팅 환경, 그 결과를 지속적으로 저장하는 공간.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8212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Runtime Environment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244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파일·명령·코드·외부 Tool을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실제로 실행하는 컴퓨팅 환경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4482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Workspace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파일·코드·중간 결과·산출물을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저장하고 수정하는 지속적 작업 공간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53 · 54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격리해서 실행하고, 감싸서 성능을 바꾼다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138410" cy="410718"/>
            <a:chOff x="675132" y="1640205"/>
            <a:chExt cx="1013841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1384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Sandbox는 영향 범위를 제한하고, Harness는 성능이 어디서 오는지 다시 본다.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08958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Sandbox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291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모델이 생성한 코드와 명령을 격리된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환경에서 실행해 시스템 전체에 미치는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영향을 제한하는 장치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3121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 vs Model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같은 모델도 어떤 Tool·Context·Runtime·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평가 구조로 감싸느냐에 따라 실제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 성능이 달라진다는 관점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55 · 56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49003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상황별로 묶고, 중간에 로직을 끼운다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299087" cy="410718"/>
            <a:chOff x="675132" y="1678305"/>
            <a:chExt cx="1029908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2990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Harness Profile은 구성을 바꿔 적용하고, Middleware는 실행 중간에 삽입한다.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2036445"/>
            <a:chOff x="675132" y="2552700"/>
            <a:chExt cx="4963668" cy="203644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22656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 Profile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50139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모델·업무 유형에 따라 System Prompt·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Tool·실행 규칙을 다르게 묶어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적용하는 구성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16333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Middleware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6061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실행 과정 중간에서 Context·Tool·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Guardrail·Logging·Routing 로직을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삽입하는 계층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57 · 58 · Harness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959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정해진 시점에 끼어들고, 필요할 때만 꺼낸다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508894" cy="410718"/>
            <a:chOff x="675132" y="1640205"/>
            <a:chExt cx="1050889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5088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Hook은 실행 전·중·후 자동 호출되고, Disclosure는 지식을 단계적으로 공개한다.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9521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Lifecycle Hook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196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실행 전·중·후 특정 시점에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자동으로 호출되는 관찰·검사·후처리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지점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3095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Progressive Disclosure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063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처음부터 모든 지식을 넣지 않고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필요할 때만 Skill·문서·도구 정보를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추가로 공개하는 방식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08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524125"/>
            <a:ext cx="7719060" cy="876300"/>
            <a:chOff x="647700" y="2524125"/>
            <a:chExt cx="7719060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24125"/>
              <a:ext cx="771906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Context Engineering 심화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132" y="3773805"/>
            <a:ext cx="9322232" cy="410718"/>
            <a:chOff x="675132" y="3773805"/>
            <a:chExt cx="932223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3773805"/>
              <a:ext cx="93222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무엇을 넣고, 무엇을 빼고, 어떤 순서로, 얼마나 줄지가 품질을 좌우한다.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4491990"/>
            <a:ext cx="4392092" cy="694944"/>
            <a:chOff x="676656" y="4491990"/>
            <a:chExt cx="4392092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491990"/>
              <a:ext cx="37413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현재 추론에 필요한 정보와 Tool을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4834890"/>
              <a:ext cx="43920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길수록 좋은 게 아니라 밀도가 핵심이다.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59 · 60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5754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정보를 설계한다, 그 시작점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726216" cy="410718"/>
            <a:chOff x="675132" y="1640205"/>
            <a:chExt cx="972621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7262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추론에 줄 정보와 Tool의 형식·순서·양을 설계하고, 그 초기 정보를 채운다.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59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710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Engineering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901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추론에 필요한 정보와 Tool을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어떤 형식·순서·양으로 제공할지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설계하는 일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8700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Input Context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실행 시작 시 System Prompt·Memory·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Skill·Tool Description 등으로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모델에게 주는 초기 정보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61 · 62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57758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실행 시점마다 달라지는 정보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844257" cy="410718"/>
            <a:chOff x="675132" y="1640205"/>
            <a:chExt cx="784425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84425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누가·어떤 권한으로 실행하느냐에 따라 Context가 달라진다.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228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Runtime Context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577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사용자·권한·연결정보처럼 실행 시점마다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달라지며 Tool과 Sub-agent에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전달되는 정보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2288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Dynamic Context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825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요청·사용자·상태에 따라 System Prompt나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Tool 정보가 동적으로 달라지는 </a:t>
              </a: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63 · 64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51412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필요한 것만 고르고, 요약해 밀도를 높인다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365606" cy="410718"/>
            <a:chOff x="675132" y="1640205"/>
            <a:chExt cx="836560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3656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Selection은 넣을 것을 고르고, Compression은 그것을 요약한다.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407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Selection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720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작업에 필요한 정보만 골라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 Window에 넣는 과정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83509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Compression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10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긴 대화·검색 결과·작업 기록을 요약해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중요한 정보 밀도를 높이는 과정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65 · 66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00025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안 쓰는 건 버리고, 큰 건 밖에 둔다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003692" cy="410718"/>
            <a:chOff x="675132" y="1678305"/>
            <a:chExt cx="900369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003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Pruning은 무관한 Context를 제거하고, Offloading은 밖으로 빼둔다.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1712595"/>
            <a:chOff x="675132" y="2552700"/>
            <a:chExt cx="4963668" cy="171259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23404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Pruning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0727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오래되거나 중복되거나 현재 작업과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관련 없는 Context를 제거하는 과정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28152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Offloading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3585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큰 문서·중간 결과를 Prompt 안에 계속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들고 있지 않고 파일·외부 저장소로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빼두는 전략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67 · 68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결과만 돌려받고, 한계에 닿으면 압축한다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932203" cy="410718"/>
            <a:chOff x="675132" y="1640205"/>
            <a:chExt cx="993220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9322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Isolation은 필요한 결과만 반환하고, Compaction은 상태를 압축해 이어간다.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3376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Isolation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310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Sub-agent가 처리한 대량 정보를 Main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Agent에 모두 전달하지 않고 필요한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결과만 반환하도록 격리하는 구조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5305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Compaction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5680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장기 실행 중 Context 한계에 가까워질 때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작업 상태를 압축해 다음 추론 단계로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이어가는 과정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58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69 · 70 · Context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624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Token을 배분하고, 길어질 때를 경계한다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7879118" cy="410718"/>
            <a:chOff x="675132" y="1640205"/>
            <a:chExt cx="787911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78791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Budget은 자원 배분 문제, Rot은 길이가 부르는 품질 저하다.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69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0911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Budget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910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System Prompt·Memory·Tool Description·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RAG·대화 기록에 Token을 어떻게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배분할지 정하는 자원 관리 문제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Pretendard ExtraBold"/>
                  <a:ea typeface="Pretendard ExtraBold"/>
                  <a:cs typeface="Pretendard ExtraBold"/>
                </a:rPr>
                <a:t>70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63659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 Rot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96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Context가 지나치게 길어질수록 중요한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정보의 활용도가 떨어질 수 있다는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장기 Agent의 품질 저하 문제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524125"/>
            <a:ext cx="7995979" cy="876300"/>
            <a:chOff x="647700" y="2524125"/>
            <a:chExt cx="7995979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24125"/>
              <a:ext cx="799597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Memory · Skill · Subagent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132" y="3773805"/>
            <a:ext cx="8149018" cy="410718"/>
            <a:chOff x="675132" y="3773805"/>
            <a:chExt cx="814901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3773805"/>
              <a:ext cx="81490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요청 밖의 정보를 저장하고, 능력을 불러오고, 일부를 위임한다.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4491990"/>
            <a:ext cx="5631904" cy="694944"/>
            <a:chOff x="676656" y="4491990"/>
            <a:chExt cx="5631904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491990"/>
              <a:ext cx="40770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기억은 범위와 안정성에 따라 나뉜다.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4834890"/>
              <a:ext cx="56319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큰 업무는 독립 Context를 가진 Agent에게 맡긴다.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5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71 · 72 · Memory · Skill · Subagent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5052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요청 밖의 정보, 지금 Task 안의 정보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55891" cy="410718"/>
            <a:chOff x="675132" y="1640205"/>
            <a:chExt cx="1035589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558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Memory는 이후 다시 쓰려고 저장하고, Working Memory는 지금 Task를 붙든다.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0492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Memory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967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요청 바깥의 정보를 저장해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이후 작업에서 다시 사용할 수 있게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하는 구조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188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Working 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158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Task 안에서 필요한 질문·계획·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중간 결과·상태를 유지하는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단기 작업 기억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5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73 · 74 · Memory · Skill · Subagent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6236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세션을 넘는 기억, 그중 안정적인 사실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020919" cy="410718"/>
            <a:chOff x="675132" y="1640205"/>
            <a:chExt cx="1002091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02091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Long-Term은 세션을 넘어 보존하고, Semantic은 그중 안정적인 것을 담는다.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5724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Long-Term Memory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396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여러 세션을 넘어 사용자 선호·프로젝트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규칙·과거 결정 등을 지속적으로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보존하는 기억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33997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Semantic 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291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사람·프로젝트·규칙처럼 비교적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안정적인 사실과 개념을 저장하는 기억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5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75 · 76 · Memory · Skill · Subagent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1783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사건 단위 기억, 불러오는 능력 묶음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034440" cy="410718"/>
            <a:chOff x="675132" y="1640205"/>
            <a:chExt cx="803444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0344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Episodic은 무슨 일이 있었나를, Skill은 어떻게 하나를 담는다.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2149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Episodic Memory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158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이전에 어떤 일이 있었고 어떤 결정을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했는지 사건 단위로 저장하는 기억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5773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Skill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28632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특정 업무 절차·도메인 지식·Tool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사용법을 필요할 때 불러오는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재사용 가능한 능력 묶음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19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5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77 · 78 · Memory · Skill · Subagent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필요한 능력을 먼저 판단하고, 위임한다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818636" cy="410718"/>
            <a:chOff x="675132" y="1678305"/>
            <a:chExt cx="881863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8186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Metadata는 무엇이 필요한지 알려주고, Subagent는 일부를 맡는다.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2036445"/>
            <a:chOff x="675132" y="2552700"/>
            <a:chExt cx="4963668" cy="203644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20873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Skill Metadata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1108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전체 Skill을 읽기 전에 어떤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Skill이 필요한지 판단하도록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제공하는 짧은 설명 정보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13366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Subagent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50139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큰 업무의 일부를 별도 Context와 Tool을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가진 독립 Agent에게 위임해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처리하는 실행 단위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051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79 · 80 · Memory · Skill · Subagent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적합한 곳에 넘기고, 독립 작업은 동시에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52280" cy="410718"/>
            <a:chOff x="675132" y="1640205"/>
            <a:chExt cx="935228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522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Delegation은 넘기는 과정, Parallel Subagents는 동시에 처리하는 구조.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79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40578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Delegation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5109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Main Agent가 특정 하위 Task를 적합한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Subagent나 다른 Agent에게 넘기는 과정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4892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Parallel Subagents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91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서로 독립적인 하위 작업을 여러 Agent가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동시에 수행해 긴 Research·Coding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작업의 시간을 줄이는 구조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76273" y="2638425"/>
            <a:ext cx="2253777" cy="5448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8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788693" cy="594551"/>
            <a:chOff x="678942" y="1428750"/>
            <a:chExt cx="788693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7886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7318900" cy="1562100"/>
            <a:chOff x="647700" y="2409825"/>
            <a:chExt cx="7318900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507843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 Runtime과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73189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Long-Horizon Execution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8431720" cy="410718"/>
            <a:chOff x="675132" y="4211955"/>
            <a:chExt cx="8431720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84317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오래 걸리는 작업은 실행 계층·중간 저장·복구가 있어야 완주한다.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4911090"/>
            <a:ext cx="5930798" cy="694944"/>
            <a:chOff x="676656" y="4911090"/>
            <a:chExt cx="5930798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4911090"/>
              <a:ext cx="593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화면·코드·파일·명령을 실제로 실행하는 계층 위에서,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253990"/>
              <a:ext cx="4902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Window를 넘으면 State를 저장해 이어간다.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81 · 82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반복 실행을 관리하고, 화면을 조작한다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932289" cy="410718"/>
            <a:chOff x="675132" y="1640205"/>
            <a:chExt cx="9932289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9322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Runtime은 반복 추론을 실행·관리하고, Computer Use는 GUI를 직접 다룬다.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9257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Runtime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549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Agent의 반복 추론·Tool 호출·파일 작업·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상태 업데이트를 실제로 실행하고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관리하는 계층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8437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Computer Use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063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모델이 화면을 인식하고 클릭·입력·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스크롤 등 GUI 행동을 수행하는 방식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83 · 84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6594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웹을 탐색하고, 코드를 실행한다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005517" cy="410718"/>
            <a:chOff x="675132" y="1640205"/>
            <a:chExt cx="10005517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0055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Browser Agent는 웹 업무를, Code Execution은 계산·분석·자동화를 맡는다.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9952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Browser 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539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웹페이지를 탐색하며 검색·폼 작성·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다운로드·웹 기반 업무를 수행하는 Agent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02166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Code Execution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918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Python·Shell·JavaScript 등의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코드를 실행해 계산·분석·자동화를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수행하는 기능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85 · 86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0206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파일을 다루고, 명령줄을 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170871" cy="410718"/>
            <a:chOff x="675132" y="1640205"/>
            <a:chExt cx="1017087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1708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File System Access는 작업공간 접근을, Shell Tool은 명령줄 실행을 제공한다.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55470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File System Access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634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파일을 읽고·검색하고·수정하고·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생성할 수 있도록 작업공간에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접근하는 기능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275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Shell Tool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96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운영체제 명령줄을 통해 프로그램 실행·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환경 확인·파일 처리를 수행하는 Tool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87 · 88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만들어지는 산출물, 오래 이어지는 작업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9784922" cy="410718"/>
            <a:chOff x="675132" y="1678305"/>
            <a:chExt cx="978492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97849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Artifact는 작업의 결과물, Long-Horizon Task는 오래 진행되는 복합 작업.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1712595"/>
            <a:chOff x="675132" y="2552700"/>
            <a:chExt cx="4963668" cy="171259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126192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Artifact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4537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작업 결과로 생성되는 문서·코드·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이미지·데이터·보고서 등의 산출물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2678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Long-Horizon Task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3013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여러 Context Window·Tool 호출·중간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판단을 거쳐 오랫동안 진행되는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복합 작업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89 · 90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9593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진행 상황을 저장하고, 거기서 이어 실행한다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487686" cy="410718"/>
            <a:chOff x="675132" y="1640205"/>
            <a:chExt cx="948768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4876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Checkpoint는 그 시점을 저장하고, Resume은 그 지점에서 다시 시작한다.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89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4750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Checkpoint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920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장기 실행 중 특정 시점의 State와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진행 상황을 저장하는 지점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9936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Resume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966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중단·승인·오류 이후 저장된 State에서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Workflow를 다시 이어서 실행하는 기능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4450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91 · 92 · Agent Runtime · Long-Horizon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087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프로세스가 사라져도 계속된다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263821" cy="410718"/>
            <a:chOff x="675132" y="1640205"/>
            <a:chExt cx="1026382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2638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Durable Execution은 외부 State로 복구하고, Snapshot은 새 환경에 복원한다.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407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Durable Execution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396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프로세스나 Sandbox가 사라져도 외부에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저장된 State를 복구해 장기 Task를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계속 수행할 수 있는 실행 방식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31669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Snapshot / Rehydration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2939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Workspace·State를 저장한 뒤 새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실행환경에 다시 복원해 작업을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이어가는 메커니즘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28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524125"/>
            <a:ext cx="6217143" cy="876300"/>
            <a:chOff x="647700" y="2524125"/>
            <a:chExt cx="6217143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24125"/>
              <a:ext cx="6217143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Asynchronous Agent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132" y="3735705"/>
            <a:ext cx="7555344" cy="410718"/>
            <a:chOff x="675132" y="3735705"/>
            <a:chExt cx="755534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3735705"/>
              <a:ext cx="75553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오래 걸리는 작업은 현재 요청과 분리해 비동기로 실행한다.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4453890"/>
            <a:ext cx="5009998" cy="694944"/>
            <a:chOff x="676656" y="4453890"/>
            <a:chExt cx="5009998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453890"/>
              <a:ext cx="44294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Task에는 진행 상태와 수명주기가 있다.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4796790"/>
              <a:ext cx="50099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바뀌면 알리고, 필요 없으면 안전하게 멈춘다.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30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93 · 94 · Asynchronous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3805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요청과 분리해 실행하고, 상태로 추적한다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413791" cy="410718"/>
            <a:chOff x="675132" y="1640205"/>
            <a:chExt cx="941379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4137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Async Execution은 분리해 실행하고, Task State는 그 진행을 표시한다.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Async Execution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053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오래 걸리는 Agent 작업을 사용자의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현재 요청과 분리해 비동기적으로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실행하는 방식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4850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Task State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644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submitted · working · input-required 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completed · failed 같은 장기 Task의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현재 진행 상태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30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95 · 96 · Asynchronous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35645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점진적으로 전달하고, 바뀌면 알린다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946964" cy="410718"/>
            <a:chOff x="675132" y="1678305"/>
            <a:chExt cx="894696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9469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Streaming은 기다리지 않고 흘려보내고, Push는 상태 변화를 알린다.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2036445"/>
            <a:chOff x="675132" y="2552700"/>
            <a:chExt cx="4963668" cy="203644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14849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Streaming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0537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최종 결과를 기다리지 않고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상태나 생성 결과를 점진적으로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전달하는 방식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25174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Push Notification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44424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장기 Task 상태가 바뀌었을 때 Server가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Webhook 등으로 Client에 비동기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알림을 보내는 방식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430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97 · 98 · Asynchronous Agent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3529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안전하게 멈추고, 여러 작업을 관리한다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414233" cy="410718"/>
            <a:chOff x="675132" y="1640205"/>
            <a:chExt cx="841423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4142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Cancellation은 안전한 중단, Task Queue는 순서·우선순위 관리.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6398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Cancellation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920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더 이상 필요하지 않은 장기 Agent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Task를 안전하게 중단하는 기능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5409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Task Queue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2910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동시에 들어오는 여러 장기 작업을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순서·우선순위·자원 상황에 따라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관리하는 구조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7616276" cy="1562100"/>
            <a:chOff x="647700" y="2409825"/>
            <a:chExt cx="7616276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761627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Agent Interoperability와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1147039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A2A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6339779" cy="410718"/>
            <a:chOff x="675132" y="4211955"/>
            <a:chExt cx="6339779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63397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이종 Agent가 공통 방식으로 협력하게 하는 표준.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4911090"/>
            <a:ext cx="7529352" cy="694944"/>
            <a:chOff x="676656" y="4911090"/>
            <a:chExt cx="7529352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4911090"/>
              <a:ext cx="7529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A2A는 Discovery · Message · Task · Artifact 교환을 표준화한다.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253990"/>
              <a:ext cx="4670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MCP는 Agent↔Tool, A2A는 Agent↔Agent.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7990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99 · 100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33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협력할 수 있는 능력, 그 프로토콜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38634" cy="410718"/>
            <a:chOff x="675132" y="1640205"/>
            <a:chExt cx="933863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386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Interoperability는 협력할 능력, A2A는 그것을 표준화한 공개 프로토콜.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99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3026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Interoperability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444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서로 다른 프레임워크·언어·벤더로 만든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공통 방식으로 협력할 수 있는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능력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5003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A2A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7014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Agent2Agent Protocol — 독립적인 Agent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시스템 사이의 Discovery·Message·Task·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Artifact 교환을 표준화하는 공개 프로토콜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3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101 · 102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요청을 보내는 쪽, 노출하고 처리하는 쪽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319571" cy="410718"/>
            <a:chOff x="675132" y="1640205"/>
            <a:chExt cx="1031957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3195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Client는 Remote Agent에 요청하고, Server는 기능을 노출해 Task를 처리한다.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3568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A2A Client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387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사용자나 상위 시스템을 대신해 Remote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Agent에 요청을 보내는 Agent 또는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애플리케이션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49760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A2A Server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자신의 기능을 A2A Endpoint로 노출하고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Task를 처리하는 Remote Agent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3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103 · 104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0115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자기소개 문서, 적합한 Agent 찾기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95708" cy="410718"/>
            <a:chOff x="675132" y="1640205"/>
            <a:chExt cx="9395708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957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 Card는 자기를 공개하고, Discovery는 그것으로 적임자를 찾는다.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4850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Card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729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Agent의 Identity·Capabilities·Skills·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Endpoint·Authentication 정보를 공개하는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자기설명형 메타데이터 문서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17325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Discovery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710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 Card·Registry·직접 설정 등을 통해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어떤 Agent가 현재 Task에 적합한지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찾아내는 과정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36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3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105 · 106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46668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선언된 능력, 한 번의 통신 Turn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8755654" cy="410718"/>
            <a:chOff x="675132" y="1678305"/>
            <a:chExt cx="8755654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875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 Skill은 Card 안의 능력 선언, Message는 요청·응답 한 Turn.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2036445"/>
            <a:chOff x="675132" y="2552700"/>
            <a:chExt cx="4963668" cy="203644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15373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Skill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22516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A2A Agent Card 안에서 해당 Agent가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수행할 수 있다고 선언하는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구체적인 능력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12332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Message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234690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A2A Client와 Remote Agent 사이에서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요청·응답 내용을 주고받는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하나의 통신 Turn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3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107 · 108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17835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콘텐츠 최소 단위, 그리고 작업 단위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198875" cy="410718"/>
            <a:chOff x="675132" y="1640205"/>
            <a:chExt cx="1019887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19887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Part는 Message·Artifact를 이루는 조각, Task는 수명주기를 가진 작업 단위.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6347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Part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7109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Message나 Artifact를 이루는 최소 콘텐츠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단위로 Text·File·Structured Data 등을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담는 구조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6347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Task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2977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A2A에서 상태와 수명주기를 가지며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Agent가 수행하는 핵심 작업 단위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135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109 · 110 · Interoperability · A2A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2343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Task의 결과물, 두 프로토콜의 역할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162933" cy="410718"/>
            <a:chOff x="675132" y="1640205"/>
            <a:chExt cx="9162933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1629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Artifact는 Task의 반환물, MCP·A2A는 서로 다른 연결을 표준화한다.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109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1717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Artifact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815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Remote Agent가 Task 수행 결과로 반환하는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문서·파일·이미지·구조화 데이터 등의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결과물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51106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MCP vs A2A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291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MCP는 Agent↔Tool/Resource 연결을,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A2A는 독립 Agent↔Agent 협업을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표준화한다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39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7700" y="2409825"/>
            <a:ext cx="6475930" cy="1562100"/>
            <a:chOff x="647700" y="2409825"/>
            <a:chExt cx="6475930" cy="15621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409825"/>
              <a:ext cx="647593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Security · Identity 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7700" y="3095625"/>
              <a:ext cx="3714378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Permissions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5132" y="4211955"/>
            <a:ext cx="7781506" cy="410718"/>
            <a:chOff x="675132" y="4211955"/>
            <a:chExt cx="7781506" cy="410718"/>
          </a:xfrm>
        </p:grpSpPr>
        <p:sp>
          <p:nvSpPr>
            <p:cNvPr id="9" name="TextBox 9"/>
            <p:cNvSpPr txBox="1"/>
            <p:nvPr/>
          </p:nvSpPr>
          <p:spPr>
            <a:xfrm>
              <a:off x="675132" y="4211955"/>
              <a:ext cx="77815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입력·출력·행동 범위를 최소 권한과 사람 승인으로 제한한다.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6656" y="4911090"/>
            <a:ext cx="7336177" cy="694944"/>
            <a:chOff x="676656" y="4911090"/>
            <a:chExt cx="7336177" cy="694944"/>
          </a:xfrm>
        </p:grpSpPr>
        <p:sp>
          <p:nvSpPr>
            <p:cNvPr id="11" name="TextBox 11"/>
            <p:cNvSpPr txBox="1"/>
            <p:nvPr/>
          </p:nvSpPr>
          <p:spPr>
            <a:xfrm>
              <a:off x="676656" y="4911090"/>
              <a:ext cx="73361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외부 데이터의 숨은 지시가 System Instruction을 우회할 수 있다.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6656" y="5253990"/>
              <a:ext cx="49494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필요 이상의 권한은 오작동 시 피해를 키운다.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063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111 · 112 · Security · Identity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64770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허용 범위를 지키는 장치, 그것을 뚫는 공격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256382" cy="410718"/>
            <a:chOff x="675132" y="1640205"/>
            <a:chExt cx="1025638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2563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Guardrail은 행동을 범위 안에 두고, Prompt Injection은 그 지시를 우회시킨다.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2541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Guardrail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025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AI 시스템의 입력·출력·Tool 행동이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허용된 범위를 벗어나지 않도록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제한하는 규칙과 기술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Pretendard ExtraBold"/>
                  <a:ea typeface="Pretendard ExtraBold"/>
                  <a:cs typeface="Pretendard ExtraBold"/>
                </a:rPr>
                <a:t>112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2415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Prompt Injection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434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사용자 입력이나 외부 콘텐츠의 지시가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원래 System Instruction을 우회하도록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모델을 조작하는 공격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063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113 · 114 · Security · Identity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2024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읽은 문서에 숨은 지시, 그리고 과한 권한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01921" cy="410718"/>
            <a:chOff x="675132" y="1640205"/>
            <a:chExt cx="9501921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019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Indirect Injection은 데이터에 숨고, Excessive Agency는 피해를 키운다.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Pretendard ExtraBold"/>
                  <a:ea typeface="Pretendard ExtraBold"/>
                  <a:cs typeface="Pretendard ExtraBold"/>
                </a:rPr>
                <a:t>113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34073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Indirect Prompt Injection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1203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웹·PDF·메일·RAG 문서처럼 Agent가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읽은 외부 데이터에 악성 지시를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숨기는 공격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C2410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C2410C"/>
                  </a:solidFill>
                  <a:latin typeface="Pretendard ExtraBold"/>
                  <a:ea typeface="Pretendard ExtraBold"/>
                  <a:cs typeface="Pretendard ExtraBold"/>
                </a:rPr>
                <a:t>114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32484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Excessive Agency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015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Agent에게 필요 이상의 기능·권한·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자율성을 줘 오작동 시 피해 범위가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커지는 보안 취약점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063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115 · 116 · Security · Identity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9859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최소한만 주고, Tool별로 제한한다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311945" cy="410718"/>
            <a:chOff x="675132" y="1640205"/>
            <a:chExt cx="931194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3119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Least Privilege는 최소 권한 원칙, Tool Permission은 기능별 제한이다.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034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Least Privilege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101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Agent와 Tool에 업무 수행에 필요한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최소한의 권한만 부여하는 보안 원칙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0898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Tool Permission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253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특정 Agent가 어떤 Tool의 읽기·쓰기·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삭제·전송 기능을 사용할 수 있는지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제한하는 권한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063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117 · 118 · Security · Identity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17843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되돌리기 어려운 행동엔 승인, Secret은 분리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78305"/>
            <a:ext cx="10018080" cy="410718"/>
            <a:chOff x="675132" y="1678305"/>
            <a:chExt cx="10018080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78305"/>
              <a:ext cx="100180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Human Approval은 사람 승인을, Credential Isolation은 Secret 분리를 둔다.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438400"/>
            <a:ext cx="9525" cy="3390900"/>
            <a:chOff x="6096000" y="2438400"/>
            <a:chExt cx="9525" cy="3390900"/>
          </a:xfrm>
        </p:grpSpPr>
        <p:sp>
          <p:nvSpPr>
            <p:cNvPr id="8" name="Line 8"/>
            <p:cNvSpPr/>
            <p:nvPr/>
          </p:nvSpPr>
          <p:spPr>
            <a:xfrm>
              <a:off x="6096000" y="24384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132" y="2552700"/>
            <a:ext cx="4963668" cy="2036445"/>
            <a:chOff x="675132" y="2552700"/>
            <a:chExt cx="4963668" cy="2036445"/>
          </a:xfrm>
        </p:grpSpPr>
        <p:sp>
          <p:nvSpPr>
            <p:cNvPr id="10" name="Line 10"/>
            <p:cNvSpPr/>
            <p:nvPr/>
          </p:nvSpPr>
          <p:spPr>
            <a:xfrm>
              <a:off x="685800" y="25527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7660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132" y="3030855"/>
              <a:ext cx="22370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Human Approval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648075"/>
              <a:ext cx="33585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결제·삭제·발송·권한 변경 등 되돌리기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어려운 행동 전에 사람의 명시적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승인을 요구하는 구조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3932" y="2552700"/>
            <a:ext cx="5192268" cy="2036445"/>
            <a:chOff x="6313932" y="2552700"/>
            <a:chExt cx="5192268" cy="2036445"/>
          </a:xfrm>
        </p:grpSpPr>
        <p:sp>
          <p:nvSpPr>
            <p:cNvPr id="15" name="Line 15"/>
            <p:cNvSpPr/>
            <p:nvPr/>
          </p:nvSpPr>
          <p:spPr>
            <a:xfrm>
              <a:off x="6324600" y="25527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76606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3932" y="3030855"/>
              <a:ext cx="285809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Credential Isolation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648075"/>
              <a:ext cx="3282315" cy="941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API Key·Access Token 같은 Secret을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 Context와 모델 생성 코드로부터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분리해 보관하는 설계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44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5063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119 · 120 · Security · Identity · Permissions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73310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최대 피해 범위, 그리고 검증 기록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565386" cy="410718"/>
            <a:chOff x="675132" y="1640205"/>
            <a:chExt cx="956538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5653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Blast Radius는 피해가 닿는 최대 범위, Audit Trail은 나중에 검증할 기록.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119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6488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Blast Radius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3013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잘못된 행동을 했을 때 영향을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줄 수 있는 데이터·시스템·사용자의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최대 범위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4275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Audit Trail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5775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누가 어떤 Agent·Tool·데이터에 접근했고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어떤 행동을 했는지 나중에 검증할 수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있도록 남기는 기록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45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93513" y="3095625"/>
            <a:ext cx="3536537" cy="430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22500" b="1" dirty="0">
                <a:solidFill>
                  <a:srgbClr val="EDF0F3"/>
                </a:solidFill>
                <a:latin typeface="Pretendard ExtraBold"/>
                <a:ea typeface="Pretendard ExtraBold"/>
                <a:cs typeface="Pretendard ExtraBold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678942" y="1428750"/>
            <a:ext cx="931591" cy="594551"/>
            <a:chOff x="678942" y="1428750"/>
            <a:chExt cx="931591" cy="594551"/>
          </a:xfrm>
        </p:grpSpPr>
        <p:sp>
          <p:nvSpPr>
            <p:cNvPr id="3" name="Rectangle 3"/>
            <p:cNvSpPr/>
            <p:nvPr/>
          </p:nvSpPr>
          <p:spPr>
            <a:xfrm>
              <a:off x="685800" y="142875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78942" y="1759268"/>
              <a:ext cx="931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PART 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7700" y="2524125"/>
            <a:ext cx="6847206" cy="876300"/>
            <a:chOff x="647700" y="2524125"/>
            <a:chExt cx="6847206" cy="876300"/>
          </a:xfrm>
        </p:grpSpPr>
        <p:sp>
          <p:nvSpPr>
            <p:cNvPr id="6" name="TextBox 6"/>
            <p:cNvSpPr txBox="1"/>
            <p:nvPr/>
          </p:nvSpPr>
          <p:spPr>
            <a:xfrm>
              <a:off x="647700" y="2524125"/>
              <a:ext cx="684720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50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Reliability Engineering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5132" y="3735705"/>
            <a:ext cx="8120748" cy="410718"/>
            <a:chOff x="675132" y="3735705"/>
            <a:chExt cx="81207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3735705"/>
              <a:ext cx="81207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같은 조건에서 목표를 반복적으로 안정되게 달성하게 만드는 일.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6656" y="4453890"/>
            <a:ext cx="7968082" cy="694944"/>
            <a:chOff x="676656" y="4453890"/>
            <a:chExt cx="7968082" cy="694944"/>
          </a:xfrm>
        </p:grpSpPr>
        <p:sp>
          <p:nvSpPr>
            <p:cNvPr id="10" name="TextBox 10"/>
            <p:cNvSpPr txBox="1"/>
            <p:nvPr/>
          </p:nvSpPr>
          <p:spPr>
            <a:xfrm>
              <a:off x="676656" y="4453890"/>
              <a:ext cx="79680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예측 가능성이 필요하면 규칙으로, 유연성이 필요하면 LLM 판단으로.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6656" y="4796790"/>
              <a:ext cx="7627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80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재시도·타임아웃·대체 경로·사람 에스컬레이션으로 실패를 흡수한다.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2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121 · 122 · Reliability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659952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반복 안정성, 규칙으로 정한 경로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158436" cy="410718"/>
            <a:chOff x="675132" y="1640205"/>
            <a:chExt cx="915843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1584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Reliability는 반복 달성 정도, Deterministic Workflow는 정해진 경로.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3496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Reliability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0441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같은 조건에서 Agent가 목표를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반복적으로 안정되게 달성하는 정도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31928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Deterministic Workflow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101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코드·규칙으로 실행 경로를 정해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예측 가능성과 재현성을 높이는 구조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47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2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123 · 124 · Reliability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9827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LLM 판단에 따른 경로, 재시도 안전성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10423136" cy="410718"/>
            <a:chOff x="675132" y="1640205"/>
            <a:chExt cx="1042313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104231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Probabilistic Workflow는 경로가 달라지고, Idempotency는 재시도를 안전하게.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579245"/>
            <a:chOff x="675894" y="2400300"/>
            <a:chExt cx="4962906" cy="157924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30681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Probabilistic Workflow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LLM 판단에 따라 다음 행동·Tool·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경로가 달라질 수 있는 구조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124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6821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Idempotency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2918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같은 Tool Action이 재시도되어도 중복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결제·중복 발송처럼 시스템 상태가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망가지지 않도록 만드는 성질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48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2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125 · 126 · Reliability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775719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언제 몇 번 다시 시도할지, 언제 끊을지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339842" cy="410718"/>
            <a:chOff x="675132" y="1640205"/>
            <a:chExt cx="8339842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3398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Retry Policy는 재시도 규칙, Timeout은 시간 초과 시 전환 기준.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16488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Retry Policy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28251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어떤 오류를 몇 번, 어떤 간격과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Backoff 전략으로 다시 시도할지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정하는 규칙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864995"/>
            <a:chOff x="6314694" y="2400300"/>
            <a:chExt cx="5191506" cy="186499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10756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Timeout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5585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Tool·API·Agent Task가 정해진 시간 안에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완료되지 않으면 중단하거나 다른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경로로 전환하는 기준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49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392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개념 127 · 128 · Reliability Engineering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80688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실패하면 대체 경로로, 안 되면 사람에게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8493815" cy="410718"/>
            <a:chOff x="675132" y="1640205"/>
            <a:chExt cx="849381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84938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Fallback은 대체 수단으로, Human Escalation은 사람에게 넘긴다.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96000" y="2286000"/>
            <a:ext cx="9525" cy="3619500"/>
            <a:chOff x="6096000" y="2286000"/>
            <a:chExt cx="9525" cy="3619500"/>
          </a:xfrm>
        </p:grpSpPr>
        <p:sp>
          <p:nvSpPr>
            <p:cNvPr id="8" name="Line 8"/>
            <p:cNvSpPr/>
            <p:nvPr/>
          </p:nvSpPr>
          <p:spPr>
            <a:xfrm>
              <a:off x="6096000" y="22860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75894" y="2400300"/>
            <a:ext cx="4962906" cy="1864995"/>
            <a:chOff x="675894" y="2400300"/>
            <a:chExt cx="4962906" cy="1864995"/>
          </a:xfrm>
        </p:grpSpPr>
        <p:sp>
          <p:nvSpPr>
            <p:cNvPr id="10" name="Line 10"/>
            <p:cNvSpPr/>
            <p:nvPr/>
          </p:nvSpPr>
          <p:spPr>
            <a:xfrm>
              <a:off x="685800" y="24003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9050">
              <a:solidFill>
                <a:srgbClr val="14181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797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127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5894" y="2856548"/>
              <a:ext cx="24070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Fallback Strategy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180" y="3400425"/>
              <a:ext cx="3749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첫 모델·Retriever·Tool·API가 실패했을 때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대체 모델·검색·경로를 사용하는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복구 전략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14694" y="2400300"/>
            <a:ext cx="5191506" cy="1579245"/>
            <a:chOff x="6314694" y="2400300"/>
            <a:chExt cx="5191506" cy="1579245"/>
          </a:xfrm>
        </p:grpSpPr>
        <p:sp>
          <p:nvSpPr>
            <p:cNvPr id="15" name="Line 15"/>
            <p:cNvSpPr/>
            <p:nvPr/>
          </p:nvSpPr>
          <p:spPr>
            <a:xfrm>
              <a:off x="6324600" y="24003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18504" y="2594610"/>
              <a:ext cx="292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128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14694" y="2856548"/>
              <a:ext cx="23109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Human Escalation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16980" y="3400425"/>
              <a:ext cx="3387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Agent가 해결하지 못하거나 위험도가 </a:t>
              </a:r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높은 Task를 사람에게 넘기는 운영 방식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0" name="Line 20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50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1908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정리 · 다음 확장 추천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43064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여기서 더 나아간다면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9223286" cy="410718"/>
            <a:chOff x="675132" y="1640205"/>
            <a:chExt cx="9223286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922328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추론 효율·평가·관측·고급 보안·프로덕션 아키텍처가 다음 학습 축이다.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76656" y="2209800"/>
            <a:ext cx="10829544" cy="4105275"/>
            <a:chOff x="676656" y="2209800"/>
            <a:chExt cx="10829544" cy="4105275"/>
          </a:xfrm>
        </p:grpSpPr>
        <p:sp>
          <p:nvSpPr>
            <p:cNvPr id="8" name="Line 8"/>
            <p:cNvSpPr/>
            <p:nvPr/>
          </p:nvSpPr>
          <p:spPr>
            <a:xfrm>
              <a:off x="685800" y="2209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6656" y="2358390"/>
              <a:ext cx="2717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Inference Engineering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942" y="2673668"/>
              <a:ext cx="8522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Prefill · Decode · TTFT · TPS · KV Cache · Prompt Caching · Continuous Batching · Model Routing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85800" y="3028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6656" y="3177540"/>
              <a:ext cx="1297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Evaluation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3492818"/>
              <a:ext cx="8214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Offline / Online Eval · Golden Dataset · Regression Eval · LLM-as-a-Judge · Trajectory Eval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85800" y="3848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6656" y="3996690"/>
              <a:ext cx="17048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Observability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4311968"/>
              <a:ext cx="7952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Trace · Span · Log · Metric · OpenTelemetry · Latency · Token Cost · Error Rate · Alert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" y="46672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6656" y="4815840"/>
              <a:ext cx="3070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Agent Security Advanced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5131118"/>
              <a:ext cx="8494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Agent Identity · OAuth Scope · Capability Boundary · Tool Supply Chain · MCP/A2A Authorization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85800" y="5486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6656" y="5634990"/>
              <a:ext cx="3061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Production Architecture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942" y="5950268"/>
              <a:ext cx="8004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Queue · Scheduler · Worker Pool · Rate Limit · Circuit Breaker · Backpressure · SLA/SLO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25" name="Line 25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51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9798" y="670560"/>
            <a:ext cx="10836402" cy="824675"/>
            <a:chOff x="669798" y="670560"/>
            <a:chExt cx="10836402" cy="824675"/>
          </a:xfrm>
        </p:grpSpPr>
        <p:sp>
          <p:nvSpPr>
            <p:cNvPr id="2" name="TextBox 2"/>
            <p:cNvSpPr txBox="1"/>
            <p:nvPr/>
          </p:nvSpPr>
          <p:spPr>
            <a:xfrm>
              <a:off x="679704" y="670560"/>
              <a:ext cx="28129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b="1" spc="150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정리 · 2026년의 핵심 학습 단위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9798" y="879158"/>
              <a:ext cx="98276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31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학습 단위는 Prompt가 아니라 AI System 전체다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85800" y="14287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75132" y="1640205"/>
            <a:ext cx="6012485" cy="410718"/>
            <a:chOff x="675132" y="1640205"/>
            <a:chExt cx="6012485" cy="410718"/>
          </a:xfrm>
        </p:grpSpPr>
        <p:sp>
          <p:nvSpPr>
            <p:cNvPr id="6" name="TextBox 6"/>
            <p:cNvSpPr txBox="1"/>
            <p:nvPr/>
          </p:nvSpPr>
          <p:spPr>
            <a:xfrm>
              <a:off x="675132" y="1640205"/>
              <a:ext cx="601248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1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업무 수준의 Agentic AI는 일곱 층의 조합이다.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2286000"/>
            <a:ext cx="10515600" cy="438150"/>
            <a:chOff x="685800" y="2286000"/>
            <a:chExt cx="10515600" cy="438150"/>
          </a:xfrm>
        </p:grpSpPr>
        <p:sp>
          <p:nvSpPr>
            <p:cNvPr id="8" name="Rectangle 8"/>
            <p:cNvSpPr/>
            <p:nvPr/>
          </p:nvSpPr>
          <p:spPr>
            <a:xfrm>
              <a:off x="68580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6773" y="2432685"/>
              <a:ext cx="475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Model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3545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2885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522243" y="2432685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Context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7850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065293" y="2432685"/>
              <a:ext cx="6705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Harness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2155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1495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12618" y="2432685"/>
              <a:ext cx="661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Runtime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460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85800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26100" y="2432685"/>
              <a:ext cx="721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Protocol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0765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401050" y="2286000"/>
              <a:ext cx="1257300" cy="438150"/>
            </a:xfrm>
            <a:prstGeom prst="rect">
              <a:avLst/>
            </a:prstGeom>
            <a:solidFill>
              <a:srgbClr val="F4F6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69150" y="2432685"/>
              <a:ext cx="721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Security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50704" y="24326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944100" y="2286000"/>
              <a:ext cx="1257300" cy="4381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157468" y="2432685"/>
              <a:ext cx="830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Reliability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8180" y="3571875"/>
            <a:ext cx="5546148" cy="2350770"/>
            <a:chOff x="678180" y="3571875"/>
            <a:chExt cx="5546148" cy="2350770"/>
          </a:xfrm>
        </p:grpSpPr>
        <p:sp>
          <p:nvSpPr>
            <p:cNvPr id="29" name="TextBox 29"/>
            <p:cNvSpPr txBox="1"/>
            <p:nvPr/>
          </p:nvSpPr>
          <p:spPr>
            <a:xfrm>
              <a:off x="678180" y="3571875"/>
              <a:ext cx="38442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Model — 토큰을 생성하는 학습된 파라미터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8180" y="3914775"/>
              <a:ext cx="3455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Context — 지금 무엇을 보여줄지 관리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8180" y="4257675"/>
              <a:ext cx="5456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Harness — Workspace·Sandbox에서 행동하게 하는 실행 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8180" y="4600575"/>
              <a:ext cx="3867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Runtime — State를 저장해 긴 작업을 복구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8180" y="4943475"/>
              <a:ext cx="4258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Protocol — 다른 Agent와 표준으로 협력(A2A)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180" y="5286375"/>
              <a:ext cx="4916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Security — 최소 권한과 사람 승인으로 행동 범위 제한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8180" y="5629275"/>
              <a:ext cx="55461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Reliability — 재시도·타임아웃·대체 경로로 반복 안정성 확보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79704" y="6457950"/>
            <a:ext cx="10832592" cy="314706"/>
            <a:chOff x="679704" y="6457950"/>
            <a:chExt cx="10832592" cy="314706"/>
          </a:xfrm>
        </p:grpSpPr>
        <p:sp>
          <p:nvSpPr>
            <p:cNvPr id="37" name="Line 37"/>
            <p:cNvSpPr/>
            <p:nvPr/>
          </p:nvSpPr>
          <p:spPr>
            <a:xfrm>
              <a:off x="685800" y="64579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9704" y="6537960"/>
              <a:ext cx="2127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· Agentic AI System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89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52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78942" y="838200"/>
            <a:ext cx="646767" cy="537401"/>
            <a:chOff x="678942" y="838200"/>
            <a:chExt cx="646767" cy="537401"/>
          </a:xfrm>
        </p:grpSpPr>
        <p:sp>
          <p:nvSpPr>
            <p:cNvPr id="2" name="Rectangle 2"/>
            <p:cNvSpPr/>
            <p:nvPr/>
          </p:nvSpPr>
          <p:spPr>
            <a:xfrm>
              <a:off x="685800" y="838200"/>
              <a:ext cx="533400" cy="47625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1111568"/>
              <a:ext cx="646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350" b="1" spc="225" dirty="0">
                  <a:solidFill>
                    <a:srgbClr val="2563EB"/>
                  </a:solidFill>
                  <a:latin typeface="Pretendard ExtraBold"/>
                  <a:ea typeface="Pretendard ExtraBold"/>
                  <a:cs typeface="Pretendard ExtraBold"/>
                </a:rPr>
                <a:t>마무리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71322" y="1711642"/>
            <a:ext cx="4527042" cy="3347181"/>
            <a:chOff x="671322" y="1711642"/>
            <a:chExt cx="4527042" cy="3347181"/>
          </a:xfrm>
        </p:grpSpPr>
        <p:sp>
          <p:nvSpPr>
            <p:cNvPr id="5" name="TextBox 5"/>
            <p:cNvSpPr txBox="1"/>
            <p:nvPr/>
          </p:nvSpPr>
          <p:spPr>
            <a:xfrm>
              <a:off x="671322" y="1711642"/>
              <a:ext cx="349346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2850" b="1" dirty="0">
                  <a:solidFill>
                    <a:srgbClr val="14181F"/>
                  </a:solidFill>
                  <a:latin typeface="Pretendard ExtraBold"/>
                  <a:ea typeface="Pretendard ExtraBold"/>
                  <a:cs typeface="Pretendard ExtraBold"/>
                </a:rPr>
                <a:t>학습 단위가 바뀐다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76656" y="2529840"/>
              <a:ext cx="4521708" cy="14950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2026년의 핵심은 Prompt 작성법이 아니라 </a:t>
              </a:r>
              <a:r>
                <a:rPr lang="en-US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Model + Context + Harness + Runtime +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 xml:space="preserve">Protocol + Security + Reliability로 구성된 </a:t>
              </a:r>
              <a:r>
                <a:rPr lang="ko-KR" sz="1800" dirty="0">
                  <a:solidFill>
                    <a:srgbClr val="1D2430"/>
                  </a:solidFill>
                  <a:latin typeface="Pretendard"/>
                  <a:ea typeface="Pretendard"/>
                  <a:cs typeface="Pretendard"/>
                </a:rPr>
                <a:t>전체 AI System이다.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78561" y="4475321"/>
              <a:ext cx="3995928" cy="5835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ko-KR" sz="142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 xml:space="preserve">LLM은 모델, Agent는 반복 판단·Tool 사용 구조. </a:t>
              </a:r>
              <a:r>
                <a:rPr lang="ko-KR" sz="1420" dirty="0">
                  <a:solidFill>
                    <a:srgbClr val="5B6472"/>
                  </a:solidFill>
                  <a:latin typeface="Pretendard"/>
                  <a:ea typeface="Pretendard"/>
                  <a:cs typeface="Pretendard"/>
                </a:rPr>
                <a:t>업무 수준의 Agentic AI는 여기서 끝나지 않는다.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239000" y="1638300"/>
            <a:ext cx="9525" cy="3752850"/>
            <a:chOff x="7239000" y="1638300"/>
            <a:chExt cx="9525" cy="3752850"/>
          </a:xfrm>
        </p:grpSpPr>
        <p:sp>
          <p:nvSpPr>
            <p:cNvPr id="9" name="Line 9"/>
            <p:cNvSpPr/>
            <p:nvPr/>
          </p:nvSpPr>
          <p:spPr>
            <a:xfrm>
              <a:off x="7239000" y="1638300"/>
              <a:ext cx="9525" cy="3752850"/>
            </a:xfrm>
            <a:custGeom>
              <a:avLst/>
              <a:gdLst/>
              <a:ahLst/>
              <a:cxnLst/>
              <a:rect l="l" t="t" r="r" b="b"/>
              <a:pathLst>
                <a:path w="9525" h="3752850">
                  <a:moveTo>
                    <a:pt x="0" y="0"/>
                  </a:moveTo>
                  <a:lnTo>
                    <a:pt x="0" y="3752850"/>
                  </a:lnTo>
                </a:path>
              </a:pathLst>
            </a:custGeom>
            <a:noFill/>
            <a:ln w="14288">
              <a:solidFill>
                <a:srgbClr val="E2E6EB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687818" y="1704975"/>
            <a:ext cx="1203350" cy="3202114"/>
            <a:chOff x="7687818" y="1704975"/>
            <a:chExt cx="1203350" cy="3202114"/>
          </a:xfrm>
        </p:grpSpPr>
        <p:sp>
          <p:nvSpPr>
            <p:cNvPr id="11" name="TextBox 11"/>
            <p:cNvSpPr txBox="1"/>
            <p:nvPr/>
          </p:nvSpPr>
          <p:spPr>
            <a:xfrm>
              <a:off x="7688580" y="1704975"/>
              <a:ext cx="12025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500" b="1" dirty="0">
                  <a:solidFill>
                    <a:srgbClr val="14181F"/>
                  </a:solidFill>
                  <a:latin typeface="Pretendard SemiBold"/>
                  <a:ea typeface="Pretendard SemiBold"/>
                  <a:cs typeface="Pretendard SemiBold"/>
                </a:rPr>
                <a:t>일곱 개의 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7818" y="2184082"/>
              <a:ext cx="6536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Model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87818" y="2584132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Context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87818" y="2984182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Harness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7818" y="3384232"/>
              <a:ext cx="9102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Runtime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87818" y="378428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Protocol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7818" y="4184332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1D2430"/>
                  </a:solidFill>
                  <a:latin typeface="Pretendard SemiBold"/>
                  <a:ea typeface="Pretendard SemiBold"/>
                  <a:cs typeface="Pretendard SemiBold"/>
                </a:rPr>
                <a:t>Security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7818" y="4584382"/>
              <a:ext cx="11420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563EB"/>
                  </a:solidFill>
                  <a:latin typeface="Pretendard SemiBold"/>
                  <a:ea typeface="Pretendard SemiBold"/>
                  <a:cs typeface="Pretendard SemiBold"/>
                </a:rPr>
                <a:t>Reliability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79704" y="6305550"/>
            <a:ext cx="10832592" cy="409956"/>
            <a:chOff x="679704" y="6305550"/>
            <a:chExt cx="10832592" cy="409956"/>
          </a:xfrm>
        </p:grpSpPr>
        <p:sp>
          <p:nvSpPr>
            <p:cNvPr id="20" name="Line 20"/>
            <p:cNvSpPr/>
            <p:nvPr/>
          </p:nvSpPr>
          <p:spPr>
            <a:xfrm>
              <a:off x="685800" y="63055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E2E6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9704" y="6480810"/>
              <a:ext cx="4532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ko-KR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AIEDAP 전문성 강화 영어교과 심화 연수 · Agentic AI System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8932" y="64808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94A0AE"/>
                  </a:solidFill>
                  <a:latin typeface="Pretendard"/>
                  <a:ea typeface="Pretendard"/>
                  <a:cs typeface="Pretendard"/>
                </a:rPr>
                <a:t>53 / 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2026-09-06T22:47:40Z</dcterms:created>
  <dcterms:modified xsi:type="dcterms:W3CDTF">2026-09-06T22:47:40Z</dcterms:modified>
  <cp:category/>
  <cp:contentStatus/>
</cp:coreProperties>
</file>