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78942" y="914400"/>
            <a:ext cx="5478506" cy="632651"/>
            <a:chOff x="678942" y="914400"/>
            <a:chExt cx="5478506" cy="632651"/>
          </a:xfrm>
        </p:grpSpPr>
        <p:sp>
          <p:nvSpPr>
            <p:cNvPr id="2" name="Rectangle 2"/>
            <p:cNvSpPr/>
            <p:nvPr/>
          </p:nvSpPr>
          <p:spPr>
            <a:xfrm>
              <a:off x="685800" y="914400"/>
              <a:ext cx="533400" cy="47625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8942" y="1283018"/>
              <a:ext cx="54785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AIEDAP 전문성 강화 영어교과 심화 연수 · PART 6–12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7700" y="2177415"/>
            <a:ext cx="7684616" cy="2171700"/>
            <a:chOff x="647700" y="2177415"/>
            <a:chExt cx="7684616" cy="2171700"/>
          </a:xfrm>
        </p:grpSpPr>
        <p:sp>
          <p:nvSpPr>
            <p:cNvPr id="5" name="TextBox 5"/>
            <p:cNvSpPr txBox="1"/>
            <p:nvPr/>
          </p:nvSpPr>
          <p:spPr>
            <a:xfrm>
              <a:off x="647700" y="2177415"/>
              <a:ext cx="7684616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63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LLM Application을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47700" y="3129915"/>
              <a:ext cx="475781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63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조립</a:t>
              </a:r>
              <a:r>
                <a:rPr lang="ko-KR" sz="63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하는 법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73608" y="4236720"/>
            <a:ext cx="12259169" cy="469392"/>
            <a:chOff x="673608" y="4236720"/>
            <a:chExt cx="12259169" cy="469392"/>
          </a:xfrm>
        </p:grpSpPr>
        <p:sp>
          <p:nvSpPr>
            <p:cNvPr id="8" name="TextBox 8"/>
            <p:cNvSpPr txBox="1"/>
            <p:nvPr/>
          </p:nvSpPr>
          <p:spPr>
            <a:xfrm>
              <a:off x="673608" y="4236720"/>
              <a:ext cx="1225916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5B6472"/>
                  </a:solidFill>
                  <a:latin typeface="Pretendard SemiBold"/>
                  <a:ea typeface="Pretendard SemiBold"/>
                  <a:cs typeface="Pretendard SemiBold"/>
                </a:rPr>
                <a:t>LangChain · Agent · LangGraph · Memory · MCP · Multi-Agent · Evaluation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76656" y="5330190"/>
            <a:ext cx="6796278" cy="694944"/>
            <a:chOff x="676656" y="5330190"/>
            <a:chExt cx="6796278" cy="694944"/>
          </a:xfrm>
        </p:grpSpPr>
        <p:sp>
          <p:nvSpPr>
            <p:cNvPr id="10" name="TextBox 10"/>
            <p:cNvSpPr txBox="1"/>
            <p:nvPr/>
          </p:nvSpPr>
          <p:spPr>
            <a:xfrm>
              <a:off x="676656" y="5330190"/>
              <a:ext cx="679627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중요한 것은 가장 복잡한 Agent가 아니라, </a:t>
              </a: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문제에 맞게 필요한 만큼만 확장하고 통제하는 시스템 문해력이다.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78942" y="6115050"/>
            <a:ext cx="10834116" cy="499301"/>
            <a:chOff x="678942" y="6115050"/>
            <a:chExt cx="10834116" cy="499301"/>
          </a:xfrm>
        </p:grpSpPr>
        <p:sp>
          <p:nvSpPr>
            <p:cNvPr id="12" name="Line 12"/>
            <p:cNvSpPr/>
            <p:nvPr/>
          </p:nvSpPr>
          <p:spPr>
            <a:xfrm>
              <a:off x="685800" y="61150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8942" y="6350318"/>
              <a:ext cx="39646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PART 6 LangChain부터 PART 12 Evaluation까지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099521" y="635031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2026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708660"/>
            <a:ext cx="9364828" cy="1086041"/>
            <a:chOff x="669798" y="708660"/>
            <a:chExt cx="9364828" cy="1086041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708660"/>
              <a:ext cx="8223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강의 지도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993458"/>
              <a:ext cx="621853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PART 6–12가 다루는 7개 챕터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942" y="1530668"/>
              <a:ext cx="93556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LLM에서 시작해 조립층·판단·통제·기억·연결·역할 분담·검증까지, 필요한 만큼만 확장하는 순서로 훑는다.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75132" y="1866900"/>
            <a:ext cx="10837926" cy="708851"/>
            <a:chOff x="675132" y="1866900"/>
            <a:chExt cx="10837926" cy="708851"/>
          </a:xfrm>
        </p:grpSpPr>
        <p:sp>
          <p:nvSpPr>
            <p:cNvPr id="6" name="Line 6"/>
            <p:cNvSpPr/>
            <p:nvPr/>
          </p:nvSpPr>
          <p:spPr>
            <a:xfrm>
              <a:off x="685800" y="1866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75132" y="200215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06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22832" y="2002155"/>
              <a:ext cx="56570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LangChain — 구성 요소를 어떻게 조립할까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9565" y="208311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49–58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26642" y="2311718"/>
              <a:ext cx="82646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Prompt · Model · Loader · Splitter · Retriever · Tool · Structured Output · Runnable · LCEL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75132" y="2647950"/>
            <a:ext cx="10837926" cy="708851"/>
            <a:chOff x="675132" y="2647950"/>
            <a:chExt cx="10837926" cy="708851"/>
          </a:xfrm>
        </p:grpSpPr>
        <p:sp>
          <p:nvSpPr>
            <p:cNvPr id="12" name="Line 12"/>
            <p:cNvSpPr/>
            <p:nvPr/>
          </p:nvSpPr>
          <p:spPr>
            <a:xfrm>
              <a:off x="685800" y="264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5132" y="278320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07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22832" y="2783205"/>
              <a:ext cx="47644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Agent — 다음 행동을 누가 결정할까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99565" y="286416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59–68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26642" y="3092768"/>
              <a:ext cx="77197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Agent Loop · Planning · Tool/Function Calling · ReAct · Reflection · Human-in-the-Loop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5132" y="3429000"/>
            <a:ext cx="10837926" cy="708851"/>
            <a:chOff x="675132" y="3429000"/>
            <a:chExt cx="10837926" cy="708851"/>
          </a:xfrm>
        </p:grpSpPr>
        <p:sp>
          <p:nvSpPr>
            <p:cNvPr id="18" name="Line 18"/>
            <p:cNvSpPr/>
            <p:nvPr/>
          </p:nvSpPr>
          <p:spPr>
            <a:xfrm>
              <a:off x="685800" y="34290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5132" y="356425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08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22832" y="3564255"/>
              <a:ext cx="672406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LangGraph — 복잡한 실행 흐름을 어떻게 통제할까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99565" y="364521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69–80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26642" y="3873818"/>
              <a:ext cx="77691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Node · Edge · Conditional Edge · State · Cyclic Graph · Checkpoint · Interrupt · Resume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75132" y="4210050"/>
            <a:ext cx="10837926" cy="708851"/>
            <a:chOff x="675132" y="4210050"/>
            <a:chExt cx="10837926" cy="708851"/>
          </a:xfrm>
        </p:grpSpPr>
        <p:sp>
          <p:nvSpPr>
            <p:cNvPr id="24" name="Line 24"/>
            <p:cNvSpPr/>
            <p:nvPr/>
          </p:nvSpPr>
          <p:spPr>
            <a:xfrm>
              <a:off x="685800" y="42100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5132" y="434530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09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22832" y="4345305"/>
              <a:ext cx="437087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Memory · Context Engineering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999565" y="442626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81–92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26642" y="4654868"/>
              <a:ext cx="75102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Short/Long-term · Semantic · Episodic · Selection · Compression · Routing · Budget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75132" y="4991100"/>
            <a:ext cx="10837926" cy="708851"/>
            <a:chOff x="675132" y="4991100"/>
            <a:chExt cx="10837926" cy="708851"/>
          </a:xfrm>
        </p:grpSpPr>
        <p:sp>
          <p:nvSpPr>
            <p:cNvPr id="30" name="Line 30"/>
            <p:cNvSpPr/>
            <p:nvPr/>
          </p:nvSpPr>
          <p:spPr>
            <a:xfrm>
              <a:off x="685800" y="49911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5132" y="512635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22832" y="5126355"/>
              <a:ext cx="638485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MCP — 외부 Tool·Data를 어떻게 표준 연결할까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899610" y="5207318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93–102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26642" y="5435918"/>
              <a:ext cx="66331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API · Tool · Connector · Host · Client · Server · Resource · Tool Discovery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75132" y="5772150"/>
            <a:ext cx="10837926" cy="545973"/>
            <a:chOff x="675132" y="5772150"/>
            <a:chExt cx="10837926" cy="545973"/>
          </a:xfrm>
        </p:grpSpPr>
        <p:sp>
          <p:nvSpPr>
            <p:cNvPr id="36" name="Line 36"/>
            <p:cNvSpPr/>
            <p:nvPr/>
          </p:nvSpPr>
          <p:spPr>
            <a:xfrm>
              <a:off x="685800" y="57721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5132" y="590740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22832" y="5907405"/>
              <a:ext cx="497459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Multi-Agent — 역할을 어떻게 나눌까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799655" y="5988368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103–112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75132" y="6343650"/>
            <a:ext cx="10837926" cy="507873"/>
            <a:chOff x="675132" y="6343650"/>
            <a:chExt cx="10837926" cy="507873"/>
          </a:xfrm>
        </p:grpSpPr>
        <p:sp>
          <p:nvSpPr>
            <p:cNvPr id="41" name="Line 41"/>
            <p:cNvSpPr/>
            <p:nvPr/>
          </p:nvSpPr>
          <p:spPr>
            <a:xfrm>
              <a:off x="685800" y="6343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5132" y="644080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322832" y="6440805"/>
              <a:ext cx="749370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Evaluation · Observability — 잘 작동하는지·왜 그런지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799655" y="6521768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113–126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76273" y="2638425"/>
            <a:ext cx="2253777" cy="5448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8500" b="1" dirty="0">
                <a:solidFill>
                  <a:srgbClr val="EDF0F3"/>
                </a:solidFill>
                <a:latin typeface="Pretendard ExtraBold"/>
                <a:ea typeface="Pretendard ExtraBold"/>
                <a:cs typeface="Pretendard ExtraBold"/>
              </a:rPr>
              <a:t>6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8942" y="1428750"/>
            <a:ext cx="788693" cy="594551"/>
            <a:chOff x="678942" y="1428750"/>
            <a:chExt cx="788693" cy="594551"/>
          </a:xfrm>
        </p:grpSpPr>
        <p:sp>
          <p:nvSpPr>
            <p:cNvPr id="3" name="Rectangle 3"/>
            <p:cNvSpPr/>
            <p:nvPr/>
          </p:nvSpPr>
          <p:spPr>
            <a:xfrm>
              <a:off x="685800" y="1428750"/>
              <a:ext cx="533400" cy="47625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78942" y="1759268"/>
              <a:ext cx="788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225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PART 6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7700" y="2409825"/>
            <a:ext cx="9515685" cy="1562100"/>
            <a:chOff x="647700" y="2409825"/>
            <a:chExt cx="9515685" cy="1562100"/>
          </a:xfrm>
        </p:grpSpPr>
        <p:sp>
          <p:nvSpPr>
            <p:cNvPr id="6" name="TextBox 6"/>
            <p:cNvSpPr txBox="1"/>
            <p:nvPr/>
          </p:nvSpPr>
          <p:spPr>
            <a:xfrm>
              <a:off x="647700" y="2409825"/>
              <a:ext cx="3065278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LangChain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47700" y="3095625"/>
              <a:ext cx="9515685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구성 요소를 조립하는 프레임워크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5132" y="4211955"/>
            <a:ext cx="5248656" cy="810768"/>
            <a:chOff x="675132" y="4211955"/>
            <a:chExt cx="5248656" cy="810768"/>
          </a:xfrm>
        </p:grpSpPr>
        <p:sp>
          <p:nvSpPr>
            <p:cNvPr id="9" name="TextBox 9"/>
            <p:cNvSpPr txBox="1"/>
            <p:nvPr/>
          </p:nvSpPr>
          <p:spPr>
            <a:xfrm>
              <a:off x="675132" y="4211955"/>
              <a:ext cx="5248656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LangChain은 「LLM 자체」가 아니라 </a:t>
              </a: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LLM Application을 조립하는 프레임워크다.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6656" y="5292090"/>
            <a:ext cx="8293379" cy="694944"/>
            <a:chOff x="676656" y="5292090"/>
            <a:chExt cx="8293379" cy="694944"/>
          </a:xfrm>
        </p:grpSpPr>
        <p:sp>
          <p:nvSpPr>
            <p:cNvPr id="11" name="TextBox 11"/>
            <p:cNvSpPr txBox="1"/>
            <p:nvPr/>
          </p:nvSpPr>
          <p:spPr>
            <a:xfrm>
              <a:off x="676656" y="5292090"/>
              <a:ext cx="75179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모델·프롬프트·검색·도구·출력 형식을 공통 인터페이스로 연결한다.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6656" y="5634990"/>
              <a:ext cx="82933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핵심은 "어떤 모델을 쓰느냐"보다 "여러 구성 요소를 어떻게 연결하느냐"다.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14716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49 · LangChain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993894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모델·프롬프트·검색·도구를 조합하는 프레임워크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8728558" cy="410718"/>
            <a:chOff x="675132" y="1678305"/>
            <a:chExt cx="8728558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87285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반복되는 구성 요소를 표준화해 연결한다 — 모델 호출 하나가 아니다.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76656" y="2438400"/>
            <a:ext cx="10829544" cy="2024634"/>
            <a:chOff x="676656" y="2438400"/>
            <a:chExt cx="10829544" cy="2024634"/>
          </a:xfrm>
        </p:grpSpPr>
        <p:sp>
          <p:nvSpPr>
            <p:cNvPr id="8" name="Line 8"/>
            <p:cNvSpPr/>
            <p:nvPr/>
          </p:nvSpPr>
          <p:spPr>
            <a:xfrm>
              <a:off x="685800" y="2438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6656" y="2663190"/>
              <a:ext cx="76763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Prompt · Retriever · Tool · Structured Output을 조합할 수 있다.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85800" y="31623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6656" y="3387090"/>
              <a:ext cx="72715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단순 챗봇 · RAG · Tool Calling · Agent Workflow의 기반 조립층.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85800" y="3886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6656" y="4110990"/>
              <a:ext cx="80510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핵심은 "어떤 모델을 쓰느냐"보다 "여러 구성 요소를 어떻게 연결하느냐".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76656" y="4762500"/>
            <a:ext cx="10829544" cy="1020889"/>
            <a:chOff x="676656" y="4762500"/>
            <a:chExt cx="10829544" cy="1020889"/>
          </a:xfrm>
        </p:grpSpPr>
        <p:sp>
          <p:nvSpPr>
            <p:cNvPr id="15" name="Line 15"/>
            <p:cNvSpPr/>
            <p:nvPr/>
          </p:nvSpPr>
          <p:spPr>
            <a:xfrm>
              <a:off x="685800" y="4762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76656" y="4987290"/>
              <a:ext cx="78782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한 줄 비유 — AI 모델이라기보다 「LLM Application용 레고 조립판」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7418" y="5460682"/>
              <a:ext cx="97801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AX 포인트 — "입력 → 검색 → 생성 → 후처리 → 외부 시스템 연결"이 필요해질 때 의미가 커진다.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19" name="Line 19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9704" y="6537960"/>
              <a:ext cx="232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LLM Application 조립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04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45435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50 · 51 · Prompt Template · Model Interface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49003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재사용 가능한 프롬프트, 모델 추상화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9438513" cy="410718"/>
            <a:chOff x="675132" y="1640205"/>
            <a:chExt cx="9438513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943851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Prompt는 변수를 가진 구성 요소로, 모델은 공통 인터페이스로 관리한다.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581400"/>
            <a:chOff x="6096000" y="2286000"/>
            <a:chExt cx="9525" cy="35814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581400"/>
            </a:xfrm>
            <a:custGeom>
              <a:avLst/>
              <a:gdLst/>
              <a:ahLst/>
              <a:cxnLst/>
              <a:rect l="l" t="t" r="r" b="b"/>
              <a:pathLst>
                <a:path w="9525" h="3581400">
                  <a:moveTo>
                    <a:pt x="0" y="0"/>
                  </a:moveTo>
                  <a:lnTo>
                    <a:pt x="0" y="35814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675894" y="2380298"/>
            <a:ext cx="4962906" cy="3529203"/>
            <a:chOff x="675894" y="2380298"/>
            <a:chExt cx="4962906" cy="3529203"/>
          </a:xfrm>
        </p:grpSpPr>
        <p:sp>
          <p:nvSpPr>
            <p:cNvPr id="10" name="TextBox 10"/>
            <p:cNvSpPr txBox="1"/>
            <p:nvPr/>
          </p:nvSpPr>
          <p:spPr>
            <a:xfrm>
              <a:off x="675894" y="2380298"/>
              <a:ext cx="228439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Prompt Template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7418" y="2793682"/>
              <a:ext cx="349529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고정 문장 구조 안에 질문·검색 결과·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역할·출력 형식 변수를 삽입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85800" y="3619500"/>
              <a:ext cx="4953000" cy="190500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69442" y="3816668"/>
              <a:ext cx="18129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D2430"/>
                  </a:solidFill>
                  <a:latin typeface="Consolas"/>
                  <a:ea typeface="Microsoft YaHei"/>
                  <a:cs typeface="Consolas"/>
                </a:rPr>
                <a:t>당신은 {role}입니다.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9442" y="4102418"/>
              <a:ext cx="895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D2430"/>
                  </a:solidFill>
                  <a:latin typeface="Consolas"/>
                  <a:ea typeface="Microsoft YaHei"/>
                  <a:cs typeface="Consolas"/>
                </a:rPr>
                <a:t>참고 문서: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9442" y="4388168"/>
              <a:ext cx="913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B6472"/>
                  </a:solidFill>
                  <a:latin typeface="Consolas"/>
                  <a:ea typeface="Consolas"/>
                  <a:cs typeface="Consolas"/>
                </a:rPr>
                <a:t>{context}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69442" y="4673918"/>
              <a:ext cx="14857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D2430"/>
                  </a:solidFill>
                  <a:latin typeface="Consolas"/>
                  <a:ea typeface="Microsoft YaHei"/>
                  <a:cs typeface="Consolas"/>
                </a:rPr>
                <a:t>질문: {question}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69442" y="4959668"/>
              <a:ext cx="17856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1D2430"/>
                  </a:solidFill>
                  <a:latin typeface="Consolas"/>
                  <a:ea typeface="Microsoft YaHei"/>
                  <a:cs typeface="Consolas"/>
                </a:rPr>
                <a:t>출력 형식: {format}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8942" y="5645468"/>
              <a:ext cx="25035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코드와 함께 관리·테스트한다.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467094" y="2380298"/>
            <a:ext cx="4200906" cy="3643503"/>
            <a:chOff x="6467094" y="2380298"/>
            <a:chExt cx="4200906" cy="3643503"/>
          </a:xfrm>
        </p:grpSpPr>
        <p:sp>
          <p:nvSpPr>
            <p:cNvPr id="20" name="TextBox 20"/>
            <p:cNvSpPr txBox="1"/>
            <p:nvPr/>
          </p:nvSpPr>
          <p:spPr>
            <a:xfrm>
              <a:off x="6467094" y="2380298"/>
              <a:ext cx="215935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Model Interface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68618" y="2793682"/>
              <a:ext cx="265709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서로 다른 API를 비슷한 호출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방식으로 추상화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6477000" y="3619500"/>
              <a:ext cx="4191000" cy="1981200"/>
              <a:chOff x="6477000" y="3619500"/>
              <a:chExt cx="4191000" cy="19812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477000" y="3619500"/>
                <a:ext cx="4191000" cy="4572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659880" y="3743325"/>
                <a:ext cx="109097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Application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483984" y="4127182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↓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6477000" y="4381500"/>
                <a:ext cx="4191000" cy="457200"/>
              </a:xfrm>
              <a:prstGeom prst="rect">
                <a:avLst/>
              </a:prstGeom>
              <a:solidFill>
                <a:srgbClr val="F4F6F8"/>
              </a:solidFill>
              <a:ln w="19050">
                <a:solidFill>
                  <a:srgbClr val="2563EB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659880" y="4505325"/>
                <a:ext cx="16610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2563EB"/>
                    </a:solidFill>
                    <a:latin typeface="Pretendard SemiBold"/>
                    <a:ea typeface="Pretendard SemiBold"/>
                    <a:cs typeface="Pretendard SemiBold"/>
                  </a:rPr>
                  <a:t>Model Interface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483984" y="4889182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↓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6477000" y="5143500"/>
                <a:ext cx="4191000" cy="4572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659880" y="5267325"/>
                <a:ext cx="343066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GPT / Claude / Gemini / Local Model</a:t>
                </a:r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6470142" y="5759768"/>
              <a:ext cx="31305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모델 교체·비교·fallback이 쉬워진다.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33" name="Line 33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9704" y="6537960"/>
              <a:ext cx="232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LLM Application 조립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05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42916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52 · 53 · Document Loader · Text Splitter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21423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외부 자료를 불러와 Chunk로 나누기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10079500" cy="410718"/>
            <a:chOff x="675132" y="1640205"/>
            <a:chExt cx="10079500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1007950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Loader는 metadata와 함께 Document로 바꾸고, Splitter는 Chunk로 나눈다.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85800" y="2362200"/>
            <a:ext cx="9334500" cy="666750"/>
            <a:chOff x="685800" y="2362200"/>
            <a:chExt cx="9334500" cy="666750"/>
          </a:xfrm>
        </p:grpSpPr>
        <p:grpSp>
          <p:nvGrpSpPr>
            <p:cNvPr id="10" name="Group 10"/>
            <p:cNvGrpSpPr/>
            <p:nvPr/>
          </p:nvGrpSpPr>
          <p:grpSpPr>
            <a:xfrm>
              <a:off x="685800" y="2362200"/>
              <a:ext cx="1428750" cy="666750"/>
              <a:chOff x="685800" y="2362200"/>
              <a:chExt cx="1428750" cy="6667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685800" y="2362200"/>
                <a:ext cx="1428750" cy="66675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987171" y="2600325"/>
                <a:ext cx="82600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PDF · 웹</a:t>
                </a:r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2257806" y="25679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2590800" y="2362200"/>
              <a:ext cx="2095500" cy="666750"/>
              <a:chOff x="2590800" y="2362200"/>
              <a:chExt cx="2095500" cy="6667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2590800" y="2362200"/>
                <a:ext cx="2095500" cy="666750"/>
              </a:xfrm>
              <a:prstGeom prst="rect">
                <a:avLst/>
              </a:prstGeom>
              <a:noFill/>
              <a:ln w="14288">
                <a:solidFill>
                  <a:srgbClr val="2563EB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2754592" y="2600325"/>
                <a:ext cx="176791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14181F"/>
                    </a:solidFill>
                    <a:latin typeface="Pretendard SemiBold"/>
                    <a:ea typeface="Pretendard SemiBold"/>
                    <a:cs typeface="Pretendard SemiBold"/>
                  </a:rPr>
                  <a:t>Document Loader</a:t>
                </a:r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4829556" y="25679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5162550" y="2362200"/>
              <a:ext cx="2476500" cy="666750"/>
              <a:chOff x="5162550" y="2362200"/>
              <a:chExt cx="2476500" cy="6667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5162550" y="2362200"/>
                <a:ext cx="2476500" cy="66675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5925455" y="2533650"/>
                <a:ext cx="9506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Document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376977" y="2775585"/>
                <a:ext cx="204764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5B6472"/>
                    </a:solidFill>
                    <a:latin typeface="Pretendard"/>
                    <a:ea typeface="Pretendard"/>
                    <a:cs typeface="Pretendard"/>
                  </a:rPr>
                  <a:t>+ metadata(page·source)</a:t>
                </a:r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7782306" y="25679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8115300" y="2362200"/>
              <a:ext cx="1905000" cy="666750"/>
              <a:chOff x="8115300" y="2362200"/>
              <a:chExt cx="1905000" cy="6667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8115300" y="2362200"/>
                <a:ext cx="1905000" cy="666750"/>
              </a:xfrm>
              <a:prstGeom prst="rect">
                <a:avLst/>
              </a:prstGeom>
              <a:solidFill>
                <a:srgbClr val="F4F6F8"/>
              </a:solidFill>
              <a:ln w="19050">
                <a:solidFill>
                  <a:srgbClr val="2563EB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375294" y="2533650"/>
                <a:ext cx="138501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2563EB"/>
                    </a:solidFill>
                    <a:latin typeface="Pretendard SemiBold"/>
                    <a:ea typeface="Pretendard SemiBold"/>
                    <a:cs typeface="Pretendard SemiBold"/>
                  </a:rPr>
                  <a:t>Text Splitter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723338" y="2775585"/>
                <a:ext cx="6889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5B6472"/>
                    </a:solidFill>
                    <a:latin typeface="Pretendard"/>
                    <a:ea typeface="Pretendard"/>
                    <a:cs typeface="Pretendard"/>
                  </a:rPr>
                  <a:t>→ Chunks</a:t>
                </a:r>
              </a:p>
            </p:txBody>
          </p:sp>
        </p:grpSp>
      </p:grpSp>
      <p:grpSp>
        <p:nvGrpSpPr>
          <p:cNvPr id="27" name="Group 27"/>
          <p:cNvGrpSpPr/>
          <p:nvPr/>
        </p:nvGrpSpPr>
        <p:grpSpPr>
          <a:xfrm>
            <a:off x="678180" y="3343275"/>
            <a:ext cx="12055983" cy="293370"/>
            <a:chOff x="678180" y="3343275"/>
            <a:chExt cx="12055983" cy="293370"/>
          </a:xfrm>
        </p:grpSpPr>
        <p:sp>
          <p:nvSpPr>
            <p:cNvPr id="26" name="TextBox 26"/>
            <p:cNvSpPr txBox="1"/>
            <p:nvPr/>
          </p:nvSpPr>
          <p:spPr>
            <a:xfrm>
              <a:off x="678180" y="3343275"/>
              <a:ext cx="120559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페이지·출처·문서명을 보존해야 나중에 Citation과 Grounding이 가능하다. Chunk Size·Overlap은 Retrieval Quality에 직접 영향.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85800" y="3905250"/>
            <a:ext cx="10820400" cy="1738884"/>
            <a:chOff x="685800" y="3905250"/>
            <a:chExt cx="10820400" cy="1738884"/>
          </a:xfrm>
        </p:grpSpPr>
        <p:sp>
          <p:nvSpPr>
            <p:cNvPr id="28" name="Rectangle 28"/>
            <p:cNvSpPr/>
            <p:nvPr/>
          </p:nvSpPr>
          <p:spPr>
            <a:xfrm>
              <a:off x="685800" y="3905250"/>
              <a:ext cx="10820400" cy="45720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69442" y="4064318"/>
              <a:ext cx="5444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5B6472"/>
                  </a:solidFill>
                  <a:latin typeface="Pretendard SemiBold"/>
                  <a:ea typeface="Pretendard SemiBold"/>
                  <a:cs typeface="Pretendard SemiBold"/>
                </a:rPr>
                <a:t>Chunk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612642" y="40643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1E7F4F"/>
                  </a:solidFill>
                  <a:latin typeface="Pretendard SemiBold"/>
                  <a:ea typeface="Pretendard SemiBold"/>
                  <a:cs typeface="Pretendard SemiBold"/>
                </a:rPr>
                <a:t>장점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32142" y="40643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C2410C"/>
                  </a:solidFill>
                  <a:latin typeface="Pretendard SemiBold"/>
                  <a:ea typeface="Pretendard SemiBold"/>
                  <a:cs typeface="Pretendard SemiBold"/>
                </a:rPr>
                <a:t>위험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3429000" y="3905250"/>
              <a:ext cx="9525" cy="1676400"/>
            </a:xfrm>
            <a:custGeom>
              <a:avLst/>
              <a:gdLst/>
              <a:ahLst/>
              <a:cxnLst/>
              <a:rect l="l" t="t" r="r" b="b"/>
              <a:pathLst>
                <a:path w="9525" h="1676400">
                  <a:moveTo>
                    <a:pt x="0" y="0"/>
                  </a:moveTo>
                  <a:lnTo>
                    <a:pt x="0" y="167640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7048500" y="3905250"/>
              <a:ext cx="9525" cy="1676400"/>
            </a:xfrm>
            <a:custGeom>
              <a:avLst/>
              <a:gdLst/>
              <a:ahLst/>
              <a:cxnLst/>
              <a:rect l="l" t="t" r="r" b="b"/>
              <a:pathLst>
                <a:path w="9525" h="1676400">
                  <a:moveTo>
                    <a:pt x="0" y="0"/>
                  </a:moveTo>
                  <a:lnTo>
                    <a:pt x="0" y="167640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85800" y="4362450"/>
              <a:ext cx="10820400" cy="614934"/>
              <a:chOff x="685800" y="4362450"/>
              <a:chExt cx="10820400" cy="614934"/>
            </a:xfrm>
          </p:grpSpPr>
          <p:sp>
            <p:nvSpPr>
              <p:cNvPr id="34" name="Line 34"/>
              <p:cNvSpPr/>
              <p:nvPr/>
            </p:nvSpPr>
            <p:spPr>
              <a:xfrm>
                <a:off x="685800" y="436245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867156" y="4625340"/>
                <a:ext cx="10602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너무 작음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3610356" y="4625340"/>
                <a:ext cx="10602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정밀 검색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229856" y="4625340"/>
                <a:ext cx="10602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문맥 손실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685800" y="5048250"/>
              <a:ext cx="10820400" cy="595884"/>
              <a:chOff x="685800" y="5048250"/>
              <a:chExt cx="10820400" cy="595884"/>
            </a:xfrm>
          </p:grpSpPr>
          <p:sp>
            <p:nvSpPr>
              <p:cNvPr id="39" name="Line 39"/>
              <p:cNvSpPr/>
              <p:nvPr/>
            </p:nvSpPr>
            <p:spPr>
              <a:xfrm>
                <a:off x="685800" y="504825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867156" y="5292090"/>
                <a:ext cx="81793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너무 큼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3610356" y="5292090"/>
                <a:ext cx="10602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문맥 보존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229856" y="5292090"/>
                <a:ext cx="185989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불필요 정보 증가</a:t>
                </a:r>
              </a:p>
            </p:txBody>
          </p:sp>
        </p:grpSp>
        <p:sp>
          <p:nvSpPr>
            <p:cNvPr id="44" name="Line 44"/>
            <p:cNvSpPr/>
            <p:nvPr/>
          </p:nvSpPr>
          <p:spPr>
            <a:xfrm>
              <a:off x="685800" y="5581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46" name="Line 46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9704" y="6537960"/>
              <a:ext cx="232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LLM Application 조립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06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26259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54 · 55 · Retriever · Tool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659952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근거를 찾는 계층, 행동하는 도구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10215943" cy="410718"/>
            <a:chOff x="675132" y="1640205"/>
            <a:chExt cx="10215943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102159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Retriever는 근거 후보를 찾는 검색 계층, Tool은 외부 세계에 행동하는 단위다.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048000"/>
            <a:chOff x="6096000" y="2286000"/>
            <a:chExt cx="9525" cy="30480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75894" y="2400300"/>
            <a:ext cx="4962906" cy="2779395"/>
            <a:chOff x="675894" y="2400300"/>
            <a:chExt cx="4962906" cy="277939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5894" y="2646998"/>
              <a:ext cx="132344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Retriever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7418" y="3098482"/>
              <a:ext cx="2300859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질문을 받아 관련 문서를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반환하는 인터페이스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4029075"/>
              <a:ext cx="28632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en-US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Vector DB · Keyword · Hybrid · </a:t>
              </a: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DB 검색을 연결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180" y="4886325"/>
              <a:ext cx="30260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답변 생성기가 아니라 검색 계층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314694" y="2400300"/>
            <a:ext cx="5191506" cy="2779395"/>
            <a:chOff x="6314694" y="2400300"/>
            <a:chExt cx="5191506" cy="2779395"/>
          </a:xfrm>
        </p:grpSpPr>
        <p:sp>
          <p:nvSpPr>
            <p:cNvPr id="16" name="Line 16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14694" y="2646998"/>
              <a:ext cx="56490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Tool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218" y="3098482"/>
              <a:ext cx="2206561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LLM/Agent가 호출하는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외부 기능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16980" y="4029075"/>
              <a:ext cx="36442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검색·계산·DB·코드 실행·API </a:t>
              </a:r>
              <a:r>
                <a:rPr lang="en-US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name · description · schema · function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16980" y="4886325"/>
              <a:ext cx="34182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텍스트 생성 모델 → 행동하는 시스템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78180" y="5715000"/>
            <a:ext cx="10828020" cy="512445"/>
            <a:chOff x="678180" y="5715000"/>
            <a:chExt cx="10828020" cy="512445"/>
          </a:xfrm>
        </p:grpSpPr>
        <p:sp>
          <p:nvSpPr>
            <p:cNvPr id="22" name="Line 22"/>
            <p:cNvSpPr/>
            <p:nvPr/>
          </p:nvSpPr>
          <p:spPr>
            <a:xfrm>
              <a:off x="685800" y="57150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8180" y="5934075"/>
              <a:ext cx="9029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핵심 변화 — LLM이 「텍스트 생성 모델」에서 「외부 세계에 행동하는 시스템」으로 확장된다.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5" name="Line 25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9704" y="6537960"/>
              <a:ext cx="232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LLM Application 조립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07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2412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56 · Structured Output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666631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출력을 정해진 스키마로 제한하기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8459991" cy="410718"/>
            <a:chOff x="675132" y="1678305"/>
            <a:chExt cx="8459991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845999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"사람에게 읽기 좋은 답"에서 "프로그램이 처리하기 좋은 답"으로.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78942" y="2445068"/>
            <a:ext cx="10827258" cy="831532"/>
            <a:chOff x="678942" y="2445068"/>
            <a:chExt cx="10827258" cy="831532"/>
          </a:xfrm>
        </p:grpSpPr>
        <p:sp>
          <p:nvSpPr>
            <p:cNvPr id="8" name="TextBox 8"/>
            <p:cNvSpPr txBox="1"/>
            <p:nvPr/>
          </p:nvSpPr>
          <p:spPr>
            <a:xfrm>
              <a:off x="678942" y="2445068"/>
              <a:ext cx="9769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자연어 출력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85800" y="2743200"/>
              <a:ext cx="10820400" cy="53340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2940368"/>
              <a:ext cx="26398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Consolas"/>
                  <a:ea typeface="Microsoft YaHei"/>
                  <a:cs typeface="Consolas"/>
                </a:rPr>
                <a:t>학생의 성취도는 높은 편입니다.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78942" y="3626168"/>
            <a:ext cx="10827258" cy="1631632"/>
            <a:chOff x="678942" y="3626168"/>
            <a:chExt cx="10827258" cy="1631632"/>
          </a:xfrm>
        </p:grpSpPr>
        <p:sp>
          <p:nvSpPr>
            <p:cNvPr id="12" name="TextBox 12"/>
            <p:cNvSpPr txBox="1"/>
            <p:nvPr/>
          </p:nvSpPr>
          <p:spPr>
            <a:xfrm>
              <a:off x="678942" y="3626168"/>
              <a:ext cx="9769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2563EB"/>
                  </a:solidFill>
                  <a:latin typeface="Pretendard"/>
                  <a:ea typeface="Pretendard"/>
                  <a:cs typeface="Pretendard"/>
                </a:rPr>
                <a:t>구조화 출력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85800" y="3924300"/>
              <a:ext cx="10820400" cy="1333500"/>
            </a:xfrm>
            <a:prstGeom prst="rect">
              <a:avLst/>
            </a:prstGeom>
            <a:solidFill>
              <a:srgbClr val="F4F6F8"/>
            </a:solidFill>
            <a:ln w="14288">
              <a:solidFill>
                <a:srgbClr val="2563E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121468"/>
              <a:ext cx="15857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D2430"/>
                  </a:solidFill>
                  <a:latin typeface="Consolas"/>
                  <a:ea typeface="Consolas"/>
                  <a:cs typeface="Consolas"/>
                </a:rPr>
                <a:t>{ "level": "high",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9442" y="4407218"/>
              <a:ext cx="11677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D2430"/>
                  </a:solidFill>
                  <a:latin typeface="Consolas"/>
                  <a:ea typeface="Consolas"/>
                  <a:cs typeface="Consolas"/>
                </a:rPr>
                <a:t>"score": 87,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69442" y="4692968"/>
              <a:ext cx="21672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D2430"/>
                  </a:solidFill>
                  <a:latin typeface="Consolas"/>
                  <a:ea typeface="Consolas"/>
                  <a:cs typeface="Consolas"/>
                </a:rPr>
                <a:t>"needs_review": false }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78180" y="5676900"/>
            <a:ext cx="10828020" cy="474345"/>
            <a:chOff x="678180" y="5676900"/>
            <a:chExt cx="10828020" cy="474345"/>
          </a:xfrm>
        </p:grpSpPr>
        <p:sp>
          <p:nvSpPr>
            <p:cNvPr id="18" name="Line 18"/>
            <p:cNvSpPr/>
            <p:nvPr/>
          </p:nvSpPr>
          <p:spPr>
            <a:xfrm>
              <a:off x="685800" y="5676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8180" y="5857875"/>
              <a:ext cx="91172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JSON · Pydantic Schema · Typed Object — Agent·API·Workflow가 연결될수록 중요성이 커진다.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1" name="Line 21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9704" y="6537960"/>
              <a:ext cx="232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LLM Application 조립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08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25917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57 · 58 · Runnable · LCEL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93529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구성 요소를 실행 블록으로, 선언적으로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8795144" cy="410718"/>
            <a:chOff x="675132" y="1640205"/>
            <a:chExt cx="8795144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8795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LangChain의 핵심은 구성 요소를 조립 가능한 구조로 만드는 것이다.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77418" y="2232660"/>
            <a:ext cx="4656582" cy="3339465"/>
            <a:chOff x="677418" y="2232660"/>
            <a:chExt cx="4656582" cy="3339465"/>
          </a:xfrm>
        </p:grpSpPr>
        <p:sp>
          <p:nvSpPr>
            <p:cNvPr id="8" name="TextBox 8"/>
            <p:cNvSpPr txBox="1"/>
            <p:nvPr/>
          </p:nvSpPr>
          <p:spPr>
            <a:xfrm>
              <a:off x="679704" y="2232660"/>
              <a:ext cx="9253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PART 6 스택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677418" y="2514600"/>
              <a:ext cx="4656582" cy="468439"/>
              <a:chOff x="677418" y="2514600"/>
              <a:chExt cx="4656582" cy="468439"/>
            </a:xfrm>
          </p:grpSpPr>
          <p:sp>
            <p:nvSpPr>
              <p:cNvPr id="9" name="Line 9"/>
              <p:cNvSpPr/>
              <p:nvPr/>
            </p:nvSpPr>
            <p:spPr>
              <a:xfrm>
                <a:off x="685800" y="2514600"/>
                <a:ext cx="4648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648200" h="9525">
                    <a:moveTo>
                      <a:pt x="0" y="0"/>
                    </a:moveTo>
                    <a:lnTo>
                      <a:pt x="4648200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677418" y="2660332"/>
                <a:ext cx="112672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rgbClr val="14181F"/>
                    </a:solidFill>
                    <a:latin typeface="Pretendard SemiBold"/>
                    <a:ea typeface="Pretendard SemiBold"/>
                    <a:cs typeface="Pretendard SemiBold"/>
                  </a:rPr>
                  <a:t>LangChain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677418" y="3028950"/>
              <a:ext cx="4656582" cy="468439"/>
              <a:chOff x="677418" y="3028950"/>
              <a:chExt cx="4656582" cy="468439"/>
            </a:xfrm>
          </p:grpSpPr>
          <p:sp>
            <p:nvSpPr>
              <p:cNvPr id="12" name="Line 12"/>
              <p:cNvSpPr/>
              <p:nvPr/>
            </p:nvSpPr>
            <p:spPr>
              <a:xfrm>
                <a:off x="685800" y="3028950"/>
                <a:ext cx="4648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648200" h="9525">
                    <a:moveTo>
                      <a:pt x="0" y="0"/>
                    </a:moveTo>
                    <a:lnTo>
                      <a:pt x="46482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677418" y="3174682"/>
                <a:ext cx="184170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Prompt Template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677418" y="3543300"/>
              <a:ext cx="4656582" cy="468439"/>
              <a:chOff x="677418" y="3543300"/>
              <a:chExt cx="4656582" cy="468439"/>
            </a:xfrm>
          </p:grpSpPr>
          <p:sp>
            <p:nvSpPr>
              <p:cNvPr id="15" name="Line 15"/>
              <p:cNvSpPr/>
              <p:nvPr/>
            </p:nvSpPr>
            <p:spPr>
              <a:xfrm>
                <a:off x="685800" y="3543300"/>
                <a:ext cx="4648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648200" h="9525">
                    <a:moveTo>
                      <a:pt x="0" y="0"/>
                    </a:moveTo>
                    <a:lnTo>
                      <a:pt x="46482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677418" y="3689032"/>
                <a:ext cx="174094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Model Interface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677418" y="4057650"/>
              <a:ext cx="4656582" cy="468439"/>
              <a:chOff x="677418" y="4057650"/>
              <a:chExt cx="4656582" cy="468439"/>
            </a:xfrm>
          </p:grpSpPr>
          <p:sp>
            <p:nvSpPr>
              <p:cNvPr id="18" name="Line 18"/>
              <p:cNvSpPr/>
              <p:nvPr/>
            </p:nvSpPr>
            <p:spPr>
              <a:xfrm>
                <a:off x="685800" y="4057650"/>
                <a:ext cx="4648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648200" h="9525">
                    <a:moveTo>
                      <a:pt x="0" y="0"/>
                    </a:moveTo>
                    <a:lnTo>
                      <a:pt x="46482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77418" y="4203382"/>
                <a:ext cx="176441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Retriever / Tool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677418" y="4572000"/>
              <a:ext cx="4656582" cy="468439"/>
              <a:chOff x="677418" y="4572000"/>
              <a:chExt cx="4656582" cy="468439"/>
            </a:xfrm>
          </p:grpSpPr>
          <p:sp>
            <p:nvSpPr>
              <p:cNvPr id="21" name="Line 21"/>
              <p:cNvSpPr/>
              <p:nvPr/>
            </p:nvSpPr>
            <p:spPr>
              <a:xfrm>
                <a:off x="685800" y="4572000"/>
                <a:ext cx="4648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648200" h="9525">
                    <a:moveTo>
                      <a:pt x="0" y="0"/>
                    </a:moveTo>
                    <a:lnTo>
                      <a:pt x="46482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677418" y="4717732"/>
                <a:ext cx="209712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Structured Output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677418" y="5086350"/>
              <a:ext cx="4656582" cy="485775"/>
              <a:chOff x="677418" y="5086350"/>
              <a:chExt cx="4656582" cy="485775"/>
            </a:xfrm>
          </p:grpSpPr>
          <p:sp>
            <p:nvSpPr>
              <p:cNvPr id="24" name="Line 24"/>
              <p:cNvSpPr/>
              <p:nvPr/>
            </p:nvSpPr>
            <p:spPr>
              <a:xfrm>
                <a:off x="685800" y="5086350"/>
                <a:ext cx="4648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648200" h="9525">
                    <a:moveTo>
                      <a:pt x="0" y="0"/>
                    </a:moveTo>
                    <a:lnTo>
                      <a:pt x="46482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77418" y="5232082"/>
                <a:ext cx="180723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rgbClr val="2563EB"/>
                    </a:solidFill>
                    <a:latin typeface="Pretendard SemiBold"/>
                    <a:ea typeface="Pretendard SemiBold"/>
                    <a:cs typeface="Pretendard SemiBold"/>
                  </a:rPr>
                  <a:t>Runnable / LCEL</a:t>
                </a:r>
              </a:p>
            </p:txBody>
          </p:sp>
          <p:sp>
            <p:nvSpPr>
              <p:cNvPr id="26" name="Line 26"/>
              <p:cNvSpPr/>
              <p:nvPr/>
            </p:nvSpPr>
            <p:spPr>
              <a:xfrm>
                <a:off x="685800" y="5562600"/>
                <a:ext cx="4648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648200" h="9525">
                    <a:moveTo>
                      <a:pt x="0" y="0"/>
                    </a:moveTo>
                    <a:lnTo>
                      <a:pt x="46482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</p:grpSp>
      </p:grpSp>
      <p:grpSp>
        <p:nvGrpSpPr>
          <p:cNvPr id="30" name="Group 30"/>
          <p:cNvGrpSpPr/>
          <p:nvPr/>
        </p:nvGrpSpPr>
        <p:grpSpPr>
          <a:xfrm>
            <a:off x="5905500" y="2286000"/>
            <a:ext cx="9525" cy="3429000"/>
            <a:chOff x="5905500" y="2286000"/>
            <a:chExt cx="9525" cy="3429000"/>
          </a:xfrm>
        </p:grpSpPr>
        <p:sp>
          <p:nvSpPr>
            <p:cNvPr id="29" name="Line 29"/>
            <p:cNvSpPr/>
            <p:nvPr/>
          </p:nvSpPr>
          <p:spPr>
            <a:xfrm>
              <a:off x="5905500" y="2286000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6353556" y="2472690"/>
            <a:ext cx="4152579" cy="3354705"/>
            <a:chOff x="6353556" y="2472690"/>
            <a:chExt cx="4152579" cy="3354705"/>
          </a:xfrm>
        </p:grpSpPr>
        <p:sp>
          <p:nvSpPr>
            <p:cNvPr id="31" name="TextBox 31"/>
            <p:cNvSpPr txBox="1"/>
            <p:nvPr/>
          </p:nvSpPr>
          <p:spPr>
            <a:xfrm>
              <a:off x="6353556" y="2472690"/>
              <a:ext cx="10816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Runnable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54318" y="2850832"/>
              <a:ext cx="2929509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입력을 받아 처리하고 출력을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반환하는 공통 실행 인터페이스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55080" y="3571875"/>
              <a:ext cx="32251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Prompt·Model·Retriever·Parser를 </a:t>
              </a: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순차·병렬·조건형으로 연결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53556" y="4434840"/>
              <a:ext cx="6097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LCEL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54318" y="4812982"/>
              <a:ext cx="3180969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여러 Runnable을 선언적으로 연결 </a:t>
              </a:r>
              <a:r>
                <a:rPr lang="en-US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Prompt | Model | Output Parser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55080" y="5534025"/>
              <a:ext cx="41510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Streaming · Batch · Async와 연결하기 좋다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38" name="Line 38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9704" y="6537960"/>
              <a:ext cx="232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LLM Application 조립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09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76273" y="2638425"/>
            <a:ext cx="2253777" cy="5448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8500" b="1" dirty="0">
                <a:solidFill>
                  <a:srgbClr val="EDF0F3"/>
                </a:solidFill>
                <a:latin typeface="Pretendard ExtraBold"/>
                <a:ea typeface="Pretendard ExtraBold"/>
                <a:cs typeface="Pretendard ExtraBold"/>
              </a:rPr>
              <a:t>7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8942" y="1428750"/>
            <a:ext cx="788693" cy="594551"/>
            <a:chOff x="678942" y="1428750"/>
            <a:chExt cx="788693" cy="594551"/>
          </a:xfrm>
        </p:grpSpPr>
        <p:sp>
          <p:nvSpPr>
            <p:cNvPr id="3" name="Rectangle 3"/>
            <p:cNvSpPr/>
            <p:nvPr/>
          </p:nvSpPr>
          <p:spPr>
            <a:xfrm>
              <a:off x="685800" y="1428750"/>
              <a:ext cx="533400" cy="47625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78942" y="1759268"/>
              <a:ext cx="788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225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PART 7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7700" y="2409825"/>
            <a:ext cx="8243526" cy="1562100"/>
            <a:chOff x="647700" y="2409825"/>
            <a:chExt cx="8243526" cy="1562100"/>
          </a:xfrm>
        </p:grpSpPr>
        <p:sp>
          <p:nvSpPr>
            <p:cNvPr id="6" name="TextBox 6"/>
            <p:cNvSpPr txBox="1"/>
            <p:nvPr/>
          </p:nvSpPr>
          <p:spPr>
            <a:xfrm>
              <a:off x="647700" y="2409825"/>
              <a:ext cx="1807121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Agent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47700" y="3095625"/>
              <a:ext cx="8243526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다음 행동을 선택하는 시스템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5132" y="4211955"/>
            <a:ext cx="5915406" cy="810768"/>
            <a:chOff x="675132" y="4211955"/>
            <a:chExt cx="5915406" cy="810768"/>
          </a:xfrm>
        </p:grpSpPr>
        <p:sp>
          <p:nvSpPr>
            <p:cNvPr id="9" name="TextBox 9"/>
            <p:cNvSpPr txBox="1"/>
            <p:nvPr/>
          </p:nvSpPr>
          <p:spPr>
            <a:xfrm>
              <a:off x="675132" y="4211955"/>
              <a:ext cx="5915406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Chain이 정해진 순서대로 실행된다면, </a:t>
              </a: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Agent는 현재 상황을 보고 다음 행동을 선택한다.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6656" y="5292090"/>
            <a:ext cx="6548704" cy="694944"/>
            <a:chOff x="676656" y="5292090"/>
            <a:chExt cx="6548704" cy="694944"/>
          </a:xfrm>
        </p:grpSpPr>
        <p:sp>
          <p:nvSpPr>
            <p:cNvPr id="11" name="TextBox 11"/>
            <p:cNvSpPr txBox="1"/>
            <p:nvPr/>
          </p:nvSpPr>
          <p:spPr>
            <a:xfrm>
              <a:off x="676656" y="5292090"/>
              <a:ext cx="50141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Agent = LLM + Tool + State + Decision Loop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6656" y="5634990"/>
              <a:ext cx="65487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최종 답변뿐 아니라 목표 달성을 위한 중간 행동을 선택한다.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13288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59 · AI Agent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58286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LLM이 다음 행동을 선택하는 시스템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8249698" cy="410718"/>
            <a:chOff x="675132" y="1640205"/>
            <a:chExt cx="8249698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824969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어떤 Tool을 쓸지, 다시 검색할지, 종료할지를 스스로 판단한다.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191000" y="2286000"/>
            <a:ext cx="9525" cy="3619500"/>
            <a:chOff x="4191000" y="2286000"/>
            <a:chExt cx="9525" cy="3619500"/>
          </a:xfrm>
        </p:grpSpPr>
        <p:sp>
          <p:nvSpPr>
            <p:cNvPr id="8" name="Line 8"/>
            <p:cNvSpPr/>
            <p:nvPr/>
          </p:nvSpPr>
          <p:spPr>
            <a:xfrm>
              <a:off x="4191000" y="22860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676656" y="2396490"/>
            <a:ext cx="2866644" cy="2594610"/>
            <a:chOff x="676656" y="2396490"/>
            <a:chExt cx="2866644" cy="2594610"/>
          </a:xfrm>
        </p:grpSpPr>
        <p:sp>
          <p:nvSpPr>
            <p:cNvPr id="10" name="TextBox 10"/>
            <p:cNvSpPr txBox="1"/>
            <p:nvPr/>
          </p:nvSpPr>
          <p:spPr>
            <a:xfrm>
              <a:off x="676656" y="2396490"/>
              <a:ext cx="11339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일반 LLM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685800" y="2857500"/>
              <a:ext cx="2857500" cy="2133600"/>
              <a:chOff x="685800" y="2857500"/>
              <a:chExt cx="2857500" cy="21336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685800" y="2857500"/>
                <a:ext cx="2857500" cy="4953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664625" y="3009900"/>
                <a:ext cx="89985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Question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045084" y="3403282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↓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685800" y="3676650"/>
                <a:ext cx="2857500" cy="4953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909572" y="3829050"/>
                <a:ext cx="40995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LLM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045084" y="4222432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↓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685800" y="4495800"/>
                <a:ext cx="2857500" cy="4953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750219" y="4648200"/>
                <a:ext cx="72866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Answer</a:t>
                </a:r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4639056" y="2396490"/>
            <a:ext cx="6105144" cy="3070860"/>
            <a:chOff x="4639056" y="2396490"/>
            <a:chExt cx="6105144" cy="3070860"/>
          </a:xfrm>
        </p:grpSpPr>
        <p:sp>
          <p:nvSpPr>
            <p:cNvPr id="21" name="TextBox 21"/>
            <p:cNvSpPr txBox="1"/>
            <p:nvPr/>
          </p:nvSpPr>
          <p:spPr>
            <a:xfrm>
              <a:off x="4639056" y="2396490"/>
              <a:ext cx="7258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Agent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4648200" y="2857500"/>
              <a:ext cx="6096000" cy="2609850"/>
              <a:chOff x="4648200" y="2857500"/>
              <a:chExt cx="6096000" cy="26098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4648200" y="2857500"/>
                <a:ext cx="6096000" cy="43815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4831080" y="2971800"/>
                <a:ext cx="41457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Goal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633049" y="3343275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↓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4648200" y="3581400"/>
                <a:ext cx="6096000" cy="438150"/>
              </a:xfrm>
              <a:prstGeom prst="rect">
                <a:avLst/>
              </a:prstGeom>
              <a:solidFill>
                <a:srgbClr val="F4F6F8"/>
              </a:solidFill>
              <a:ln w="19050">
                <a:solidFill>
                  <a:srgbClr val="2563EB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4831080" y="3695700"/>
                <a:ext cx="219951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b="1" dirty="0">
                    <a:solidFill>
                      <a:srgbClr val="2563EB"/>
                    </a:solidFill>
                    <a:latin typeface="Pretendard SemiBold"/>
                    <a:ea typeface="Pretendard SemiBold"/>
                    <a:cs typeface="Pretendard SemiBold"/>
                  </a:rPr>
                  <a:t>LLM이 다음 행동 결정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633049" y="4067175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↓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4648200" y="4305300"/>
                <a:ext cx="6096000" cy="43815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4831080" y="4419600"/>
                <a:ext cx="24812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Tool / Search / Code / DB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633049" y="4791075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↓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4648200" y="5029200"/>
                <a:ext cx="6096000" cy="43815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4831080" y="5143500"/>
                <a:ext cx="301109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Observation → LLM이 다시 결정</a:t>
                </a:r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677418" y="6019800"/>
            <a:ext cx="10828782" cy="468439"/>
            <a:chOff x="677418" y="6019800"/>
            <a:chExt cx="10828782" cy="468439"/>
          </a:xfrm>
        </p:grpSpPr>
        <p:sp>
          <p:nvSpPr>
            <p:cNvPr id="35" name="Line 35"/>
            <p:cNvSpPr/>
            <p:nvPr/>
          </p:nvSpPr>
          <p:spPr>
            <a:xfrm>
              <a:off x="685800" y="6019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7418" y="6165532"/>
              <a:ext cx="48252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Agent = LLM + Tool + State + Decision Loop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38" name="Line 38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9704" y="6537960"/>
              <a:ext cx="232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LLM Application 조립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11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15866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60 · Agent Loop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45104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Observe → Reason → Act → Observe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8989524" cy="410718"/>
            <a:chOff x="675132" y="1678305"/>
            <a:chExt cx="8989524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898952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Agent의 본질은 한 번의 LLM 호출이 아니라 반복적 의사결정 구조다.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74402" y="2514600"/>
            <a:ext cx="4478598" cy="3048000"/>
            <a:chOff x="474402" y="2514600"/>
            <a:chExt cx="4478598" cy="3048000"/>
          </a:xfrm>
        </p:grpSpPr>
        <p:sp>
          <p:nvSpPr>
            <p:cNvPr id="8" name="Rectangle 8"/>
            <p:cNvSpPr/>
            <p:nvPr/>
          </p:nvSpPr>
          <p:spPr>
            <a:xfrm>
              <a:off x="1143000" y="2514600"/>
              <a:ext cx="3810000" cy="762000"/>
            </a:xfrm>
            <a:prstGeom prst="rect">
              <a:avLst/>
            </a:prstGeom>
            <a:solidFill>
              <a:srgbClr val="F4F6F8"/>
            </a:solidFill>
            <a:ln w="19050">
              <a:solidFill>
                <a:srgbClr val="2563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115495" y="2777490"/>
              <a:ext cx="18650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80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Observe — 관찰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965904" y="33327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↓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143000" y="3657600"/>
              <a:ext cx="3810000" cy="7620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075736" y="3920490"/>
              <a:ext cx="19445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Reason / Decide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65904" y="44757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↓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143000" y="4800600"/>
              <a:ext cx="3810000" cy="7620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824989" y="5063490"/>
              <a:ext cx="4460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Act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800100" y="2895600"/>
              <a:ext cx="342900" cy="2286000"/>
            </a:xfrm>
            <a:custGeom>
              <a:avLst/>
              <a:gdLst/>
              <a:ahLst/>
              <a:cxnLst/>
              <a:rect l="l" t="t" r="r" b="b"/>
              <a:pathLst>
                <a:path w="342900" h="2286000">
                  <a:moveTo>
                    <a:pt x="342900" y="2286000"/>
                  </a:moveTo>
                  <a:lnTo>
                    <a:pt x="0" y="2286000"/>
                  </a:lnTo>
                  <a:lnTo>
                    <a:pt x="0" y="0"/>
                  </a:lnTo>
                  <a:lnTo>
                    <a:pt x="342900" y="0"/>
                  </a:lnTo>
                </a:path>
              </a:pathLst>
            </a:custGeom>
            <a:noFill/>
            <a:ln w="14288">
              <a:solidFill>
                <a:srgbClr val="94A0AE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066800" y="283845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7620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0AE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 rot="-5400000">
              <a:off x="474402" y="3906584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5B6472"/>
                  </a:solidFill>
                  <a:latin typeface="Pretendard SemiBold"/>
                  <a:ea typeface="Pretendard SemiBold"/>
                  <a:cs typeface="Pretendard SemiBold"/>
                </a:rPr>
                <a:t>반복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905500" y="2438400"/>
            <a:ext cx="9525" cy="3276600"/>
            <a:chOff x="5905500" y="2438400"/>
            <a:chExt cx="9525" cy="3276600"/>
          </a:xfrm>
        </p:grpSpPr>
        <p:sp>
          <p:nvSpPr>
            <p:cNvPr id="20" name="Line 20"/>
            <p:cNvSpPr/>
            <p:nvPr/>
          </p:nvSpPr>
          <p:spPr>
            <a:xfrm>
              <a:off x="5905500" y="2438400"/>
              <a:ext cx="9525" cy="3276600"/>
            </a:xfrm>
            <a:custGeom>
              <a:avLst/>
              <a:gdLst/>
              <a:ahLst/>
              <a:cxnLst/>
              <a:rect l="l" t="t" r="r" b="b"/>
              <a:pathLst>
                <a:path w="9525" h="3276600">
                  <a:moveTo>
                    <a:pt x="0" y="0"/>
                  </a:moveTo>
                  <a:lnTo>
                    <a:pt x="0" y="32766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6354318" y="2565082"/>
            <a:ext cx="3013759" cy="2799207"/>
            <a:chOff x="6354318" y="2565082"/>
            <a:chExt cx="3013759" cy="2799207"/>
          </a:xfrm>
        </p:grpSpPr>
        <p:sp>
          <p:nvSpPr>
            <p:cNvPr id="22" name="TextBox 22"/>
            <p:cNvSpPr txBox="1"/>
            <p:nvPr/>
          </p:nvSpPr>
          <p:spPr>
            <a:xfrm>
              <a:off x="6354318" y="2565082"/>
              <a:ext cx="30137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예: "내일 서울 날씨 알려줘"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54318" y="3098482"/>
              <a:ext cx="294878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현재 정보만으로 답할 수 없음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54318" y="342233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↓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54318" y="3746182"/>
              <a:ext cx="1946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Weather Tool 호출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54318" y="407003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↓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54318" y="4393882"/>
              <a:ext cx="9718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결과 관찰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54318" y="471773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↓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54318" y="5041582"/>
              <a:ext cx="10196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답변 생성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31" name="Line 31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9704" y="6537960"/>
              <a:ext cx="232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LLM Application 조립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12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48295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61 · 62 · 63 · Planning · Tool / Function Calling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26923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목표를 하위 작업으로 나누고 도구를 호출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10612260" cy="410718"/>
            <a:chOff x="675132" y="1640205"/>
            <a:chExt cx="10612260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106122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"바로 답하기"보다 "먼저 작업 구조를 만들기" — Planning 품질이 성능을 좌우한다.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191000" y="2247900"/>
            <a:ext cx="3810000" cy="571500"/>
            <a:chOff x="4191000" y="2247900"/>
            <a:chExt cx="3810000" cy="571500"/>
          </a:xfrm>
        </p:grpSpPr>
        <p:sp>
          <p:nvSpPr>
            <p:cNvPr id="8" name="Rectangle 8"/>
            <p:cNvSpPr/>
            <p:nvPr/>
          </p:nvSpPr>
          <p:spPr>
            <a:xfrm>
              <a:off x="4191000" y="2247900"/>
              <a:ext cx="3810000" cy="571500"/>
            </a:xfrm>
            <a:prstGeom prst="rect">
              <a:avLst/>
            </a:prstGeom>
            <a:solidFill>
              <a:srgbClr val="F4F6F8"/>
            </a:solidFill>
            <a:ln w="19050">
              <a:solidFill>
                <a:srgbClr val="2563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816519" y="2431732"/>
              <a:ext cx="2558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경쟁사 분석 보고서 작성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66875" y="2819400"/>
            <a:ext cx="8858250" cy="457200"/>
            <a:chOff x="1666875" y="2819400"/>
            <a:chExt cx="8858250" cy="457200"/>
          </a:xfrm>
        </p:grpSpPr>
        <p:sp>
          <p:nvSpPr>
            <p:cNvPr id="11" name="Freeform 11"/>
            <p:cNvSpPr/>
            <p:nvPr/>
          </p:nvSpPr>
          <p:spPr>
            <a:xfrm>
              <a:off x="1666875" y="2819400"/>
              <a:ext cx="8858250" cy="457200"/>
            </a:xfrm>
            <a:custGeom>
              <a:avLst/>
              <a:gdLst/>
              <a:ahLst/>
              <a:cxnLst/>
              <a:rect l="l" t="t" r="r" b="b"/>
              <a:pathLst>
                <a:path w="8858250" h="457200">
                  <a:moveTo>
                    <a:pt x="4429125" y="0"/>
                  </a:moveTo>
                  <a:lnTo>
                    <a:pt x="4429125" y="228600"/>
                  </a:lnTo>
                  <a:moveTo>
                    <a:pt x="0" y="228600"/>
                  </a:moveTo>
                  <a:lnTo>
                    <a:pt x="8858250" y="228600"/>
                  </a:lnTo>
                  <a:moveTo>
                    <a:pt x="0" y="228600"/>
                  </a:moveTo>
                  <a:lnTo>
                    <a:pt x="0" y="457200"/>
                  </a:lnTo>
                  <a:moveTo>
                    <a:pt x="1771650" y="228600"/>
                  </a:moveTo>
                  <a:lnTo>
                    <a:pt x="1771650" y="457200"/>
                  </a:lnTo>
                  <a:moveTo>
                    <a:pt x="3543300" y="228600"/>
                  </a:moveTo>
                  <a:lnTo>
                    <a:pt x="3543300" y="457200"/>
                  </a:lnTo>
                  <a:moveTo>
                    <a:pt x="5314950" y="228600"/>
                  </a:moveTo>
                  <a:lnTo>
                    <a:pt x="5314950" y="457200"/>
                  </a:lnTo>
                  <a:moveTo>
                    <a:pt x="7086600" y="228600"/>
                  </a:moveTo>
                  <a:lnTo>
                    <a:pt x="7086600" y="457200"/>
                  </a:lnTo>
                  <a:moveTo>
                    <a:pt x="8858250" y="228600"/>
                  </a:moveTo>
                  <a:lnTo>
                    <a:pt x="8858250" y="4572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857250" y="3276600"/>
            <a:ext cx="10477500" cy="819150"/>
            <a:chOff x="857250" y="3276600"/>
            <a:chExt cx="10477500" cy="819150"/>
          </a:xfrm>
        </p:grpSpPr>
        <p:grpSp>
          <p:nvGrpSpPr>
            <p:cNvPr id="16" name="Group 16"/>
            <p:cNvGrpSpPr/>
            <p:nvPr/>
          </p:nvGrpSpPr>
          <p:grpSpPr>
            <a:xfrm>
              <a:off x="857250" y="3276600"/>
              <a:ext cx="1619250" cy="819150"/>
              <a:chOff x="857250" y="3276600"/>
              <a:chExt cx="1619250" cy="8191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857250" y="3276600"/>
                <a:ext cx="1619250" cy="81915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178414" y="3492818"/>
                <a:ext cx="9769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3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경쟁사 목록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478280" y="370236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3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수집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2628900" y="3276600"/>
              <a:ext cx="1619250" cy="819150"/>
              <a:chOff x="2628900" y="3276600"/>
              <a:chExt cx="1619250" cy="8191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2628900" y="3276600"/>
                <a:ext cx="1619250" cy="81915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3040932" y="3492818"/>
                <a:ext cx="7951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3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최근 뉴스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249930" y="370236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3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검색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4400550" y="3276600"/>
              <a:ext cx="1619250" cy="819150"/>
              <a:chOff x="4400550" y="3276600"/>
              <a:chExt cx="1619250" cy="8191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4400550" y="3276600"/>
                <a:ext cx="1619250" cy="81915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4812582" y="3597592"/>
                <a:ext cx="7951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3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제품 비교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6172200" y="3276600"/>
              <a:ext cx="1619250" cy="819150"/>
              <a:chOff x="6172200" y="3276600"/>
              <a:chExt cx="1619250" cy="8191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6172200" y="3276600"/>
                <a:ext cx="1619250" cy="81915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584232" y="3597592"/>
                <a:ext cx="7951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3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가격 비교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7943850" y="3276600"/>
              <a:ext cx="1619250" cy="819150"/>
              <a:chOff x="7943850" y="3276600"/>
              <a:chExt cx="1619250" cy="8191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7943850" y="3276600"/>
                <a:ext cx="1619250" cy="81915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265014" y="3492818"/>
                <a:ext cx="9769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3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핵심 차별점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564880" y="370236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3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정리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9715500" y="3276600"/>
              <a:ext cx="1619250" cy="819150"/>
              <a:chOff x="9715500" y="3276600"/>
              <a:chExt cx="1619250" cy="81915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9715500" y="3276600"/>
                <a:ext cx="1619250" cy="819150"/>
              </a:xfrm>
              <a:prstGeom prst="rect">
                <a:avLst/>
              </a:prstGeom>
              <a:solidFill>
                <a:srgbClr val="F4F6F8"/>
              </a:solidFill>
              <a:ln w="14288">
                <a:solidFill>
                  <a:srgbClr val="E2E6EB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0036664" y="3597592"/>
                <a:ext cx="9769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3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보고서 생성</a:t>
                </a: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677418" y="4514850"/>
            <a:ext cx="10828782" cy="1522095"/>
            <a:chOff x="677418" y="4514850"/>
            <a:chExt cx="10828782" cy="1522095"/>
          </a:xfrm>
        </p:grpSpPr>
        <p:sp>
          <p:nvSpPr>
            <p:cNvPr id="35" name="Line 35"/>
            <p:cNvSpPr/>
            <p:nvPr/>
          </p:nvSpPr>
          <p:spPr>
            <a:xfrm>
              <a:off x="685800" y="45148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7418" y="4736782"/>
              <a:ext cx="73089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2430"/>
                  </a:solidFill>
                  <a:latin typeface="Pretendard SemiBold"/>
                  <a:ea typeface="Pretendard SemiBold"/>
                  <a:cs typeface="Pretendard SemiBold"/>
                </a:rPr>
                <a:t>Tool Calling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 — LLM이 필요한 Tool을 판단·호출; 결과는 다시 Context로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85800" y="5105400"/>
              <a:ext cx="10820400" cy="45720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69442" y="5245418"/>
              <a:ext cx="74572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D2430"/>
                  </a:solidFill>
                  <a:latin typeface="Consolas"/>
                  <a:ea typeface="Consolas"/>
                  <a:cs typeface="Consolas"/>
                </a:rPr>
                <a:t>{"function":"get_weather","arguments":{"city":"Seoul","date":"2026-09-08"}}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8180" y="5743575"/>
              <a:ext cx="55046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Tool Calling = 개념 · Function Calling = 구조화된 구현 방식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41" name="Line 41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9704" y="6537960"/>
              <a:ext cx="232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LLM Application 조립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13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5937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64 · 65 · ReAct · Planner–Executor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648821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추론과 행동을 엮는 두 가지 패턴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11486022" cy="410718"/>
            <a:chOff x="675132" y="1640205"/>
            <a:chExt cx="11486022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114860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ReAct는 행동 결과를 보고 다음 행동을 수정하고, Planner–Executor는 역할을 분리한다.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429000"/>
            <a:chOff x="6096000" y="2286000"/>
            <a:chExt cx="9525" cy="34290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75894" y="2400300"/>
            <a:ext cx="4962906" cy="2569845"/>
            <a:chOff x="675894" y="2400300"/>
            <a:chExt cx="4962906" cy="256984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5894" y="2646998"/>
              <a:ext cx="79496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ReAct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8180" y="3076575"/>
              <a:ext cx="18259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Reasoning + Acting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7418" y="3517582"/>
              <a:ext cx="43921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Reason → Act → Observe → Reason → Act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180" y="4143375"/>
              <a:ext cx="2825115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예: 질문 분석 → 검색 필요 판단 →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검색 → 결과 부족 → 질문 재작성 →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다시 검색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14694" y="2400300"/>
            <a:ext cx="5191506" cy="2722245"/>
            <a:chOff x="6314694" y="2400300"/>
            <a:chExt cx="5191506" cy="2722245"/>
          </a:xfrm>
        </p:grpSpPr>
        <p:sp>
          <p:nvSpPr>
            <p:cNvPr id="16" name="Line 16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14694" y="2646998"/>
              <a:ext cx="239427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Planner–Executor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3076575"/>
              <a:ext cx="34884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계획하는 역할과 실행하는 역할의 분리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16218" y="3555682"/>
              <a:ext cx="33755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Planner — "무엇을 해야 하는가?"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16218" y="3955732"/>
              <a:ext cx="34728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Executor — 각 작업을 실제로 수행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16980" y="4562475"/>
              <a:ext cx="28536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Planner 오류와 Executor 오류를 </a:t>
              </a: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따로 진단할 수 있다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3" name="Line 23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9704" y="6537960"/>
              <a:ext cx="232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LLM Application 조립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14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42131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66 · 67 · Reflection · Human-in-the-Loop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907069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스스로 평가·수정하되, 중요한 단계는 사람이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10568948" cy="410718"/>
            <a:chOff x="675132" y="1640205"/>
            <a:chExt cx="10568948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105689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Reflection이 있다고 정확성이 자동 보장되지 않는다 — 좋은 평가 기준이 필요하다.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76656" y="2244090"/>
            <a:ext cx="7038594" cy="1621155"/>
            <a:chOff x="676656" y="2244090"/>
            <a:chExt cx="7038594" cy="1621155"/>
          </a:xfrm>
        </p:grpSpPr>
        <p:sp>
          <p:nvSpPr>
            <p:cNvPr id="8" name="TextBox 8"/>
            <p:cNvSpPr txBox="1"/>
            <p:nvPr/>
          </p:nvSpPr>
          <p:spPr>
            <a:xfrm>
              <a:off x="676656" y="2244090"/>
              <a:ext cx="35799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Reflection · Self-Correction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685800" y="2705100"/>
              <a:ext cx="7029450" cy="571500"/>
              <a:chOff x="685800" y="2705100"/>
              <a:chExt cx="7029450" cy="5715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685800" y="2705100"/>
                <a:ext cx="1428750" cy="5715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945166" y="2886075"/>
                <a:ext cx="91001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Generate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2219706" y="2853690"/>
                <a:ext cx="15156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→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2552700" y="2705100"/>
                <a:ext cx="1428750" cy="5715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2837486" y="2886075"/>
                <a:ext cx="85917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Evaluate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086606" y="2853690"/>
                <a:ext cx="15156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→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4419600" y="2705100"/>
                <a:ext cx="1428750" cy="571500"/>
              </a:xfrm>
              <a:prstGeom prst="rect">
                <a:avLst/>
              </a:prstGeom>
              <a:solidFill>
                <a:srgbClr val="F4F6F8"/>
              </a:solidFill>
              <a:ln w="19050">
                <a:solidFill>
                  <a:srgbClr val="2563EB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799964" y="2886075"/>
                <a:ext cx="66802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2563EB"/>
                    </a:solidFill>
                    <a:latin typeface="Pretendard SemiBold"/>
                    <a:ea typeface="Pretendard SemiBold"/>
                    <a:cs typeface="Pretendard SemiBold"/>
                  </a:rPr>
                  <a:t>Revise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953506" y="2853690"/>
                <a:ext cx="15156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→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6286500" y="2705100"/>
                <a:ext cx="1428750" cy="5715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763512" y="2886075"/>
                <a:ext cx="47472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Final</a:t>
                </a:r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678180" y="3571875"/>
              <a:ext cx="55279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평가 예 — 근거 충분? · 출처 정확? · 누락 없음? · 형식 준수?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76656" y="4114800"/>
            <a:ext cx="10829544" cy="1731645"/>
            <a:chOff x="676656" y="4114800"/>
            <a:chExt cx="10829544" cy="1731645"/>
          </a:xfrm>
        </p:grpSpPr>
        <p:sp>
          <p:nvSpPr>
            <p:cNvPr id="23" name="Line 23"/>
            <p:cNvSpPr/>
            <p:nvPr/>
          </p:nvSpPr>
          <p:spPr>
            <a:xfrm>
              <a:off x="685800" y="4114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6656" y="4339590"/>
              <a:ext cx="24036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C2410C"/>
                  </a:solidFill>
                  <a:latin typeface="Pretendard SemiBold"/>
                  <a:ea typeface="Pretendard SemiBold"/>
                  <a:cs typeface="Pretendard SemiBold"/>
                </a:rPr>
                <a:t>Human-in-the-Loop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7418" y="4736782"/>
              <a:ext cx="35152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되돌리기 어려운 행동에 사람 승인: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7418" y="5117782"/>
              <a:ext cx="9418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이메일 전송 · 결제 · 파일 삭제 · 학생 평가 확정 · 민감 데이터 변경 · 외부 Write Action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8180" y="5553075"/>
              <a:ext cx="74563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자율성을 높이는 것보다 어디서 사람이 개입할지 설계하는 것이 더 중요할 수 있다.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9" name="Line 29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9704" y="6537960"/>
              <a:ext cx="232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LLM Application 조립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15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22477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68 · Agentic Workflow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57446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고정 Chain과 자율 Agent의 중간 구조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11027956" cy="410718"/>
            <a:chOff x="675132" y="1678305"/>
            <a:chExt cx="11027956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110279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전체 Workflow는 사람이 설계하고, 일부 Routing·Retry·Tool Selection만 LLM에게.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8180" y="2428875"/>
            <a:ext cx="3426285" cy="636270"/>
            <a:chOff x="678180" y="2428875"/>
            <a:chExt cx="3426285" cy="636270"/>
          </a:xfrm>
        </p:grpSpPr>
        <p:sp>
          <p:nvSpPr>
            <p:cNvPr id="8" name="TextBox 8"/>
            <p:cNvSpPr txBox="1"/>
            <p:nvPr/>
          </p:nvSpPr>
          <p:spPr>
            <a:xfrm>
              <a:off x="678180" y="2428875"/>
              <a:ext cx="20208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완전 고정 — A → B → C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8180" y="2771775"/>
              <a:ext cx="34262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완전 자율 — LLM decides everything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77418" y="3250882"/>
            <a:ext cx="9494901" cy="1530668"/>
            <a:chOff x="677418" y="3250882"/>
            <a:chExt cx="9494901" cy="1530668"/>
          </a:xfrm>
        </p:grpSpPr>
        <p:sp>
          <p:nvSpPr>
            <p:cNvPr id="11" name="TextBox 11"/>
            <p:cNvSpPr txBox="1"/>
            <p:nvPr/>
          </p:nvSpPr>
          <p:spPr>
            <a:xfrm>
              <a:off x="677418" y="3250882"/>
              <a:ext cx="20024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Agentic Workflow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685800" y="3657600"/>
              <a:ext cx="1428750" cy="571500"/>
              <a:chOff x="685800" y="3657600"/>
              <a:chExt cx="1428750" cy="5715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685800" y="3657600"/>
                <a:ext cx="1428750" cy="5715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333881" y="3838575"/>
                <a:ext cx="13258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A</a:t>
                </a:r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2257806" y="380619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2590800" y="3657600"/>
              <a:ext cx="1428750" cy="571500"/>
              <a:chOff x="2590800" y="3657600"/>
              <a:chExt cx="1428750" cy="5715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2590800" y="3657600"/>
                <a:ext cx="1428750" cy="5715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238881" y="3838575"/>
                <a:ext cx="13258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B</a:t>
                </a:r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4162806" y="380619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4762500" y="3657600"/>
              <a:ext cx="1714500" cy="571500"/>
              <a:chOff x="4762500" y="3657600"/>
              <a:chExt cx="1714500" cy="5715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4762500" y="3657600"/>
                <a:ext cx="17145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714500" h="571500">
                    <a:moveTo>
                      <a:pt x="381000" y="0"/>
                    </a:moveTo>
                    <a:lnTo>
                      <a:pt x="1333500" y="0"/>
                    </a:lnTo>
                    <a:lnTo>
                      <a:pt x="1714500" y="285750"/>
                    </a:lnTo>
                    <a:lnTo>
                      <a:pt x="1333500" y="571500"/>
                    </a:lnTo>
                    <a:lnTo>
                      <a:pt x="381000" y="571500"/>
                    </a:lnTo>
                    <a:lnTo>
                      <a:pt x="0" y="285750"/>
                    </a:lnTo>
                    <a:close/>
                  </a:path>
                </a:pathLst>
              </a:custGeom>
              <a:noFill/>
              <a:ln w="14288">
                <a:solidFill>
                  <a:srgbClr val="2563EB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5400104" y="3857625"/>
                <a:ext cx="43929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b="1" dirty="0">
                    <a:solidFill>
                      <a:srgbClr val="2563EB"/>
                    </a:solidFill>
                    <a:latin typeface="Pretendard SemiBold"/>
                    <a:ea typeface="Pretendard SemiBold"/>
                    <a:cs typeface="Pretendard SemiBold"/>
                  </a:rPr>
                  <a:t>판단</a:t>
                </a:r>
              </a:p>
            </p:txBody>
          </p:sp>
        </p:grpSp>
        <p:sp>
          <p:nvSpPr>
            <p:cNvPr id="23" name="Freeform 23"/>
            <p:cNvSpPr/>
            <p:nvPr/>
          </p:nvSpPr>
          <p:spPr>
            <a:xfrm>
              <a:off x="6477000" y="3543300"/>
              <a:ext cx="857250" cy="266700"/>
            </a:xfrm>
            <a:custGeom>
              <a:avLst/>
              <a:gdLst/>
              <a:ahLst/>
              <a:cxnLst/>
              <a:rect l="l" t="t" r="r" b="b"/>
              <a:pathLst>
                <a:path w="857250" h="266700">
                  <a:moveTo>
                    <a:pt x="0" y="266700"/>
                  </a:moveTo>
                  <a:lnTo>
                    <a:pt x="857250" y="0"/>
                  </a:lnTo>
                </a:path>
              </a:pathLst>
            </a:custGeom>
            <a:noFill/>
            <a:ln w="14288">
              <a:solidFill>
                <a:srgbClr val="94A0AE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7229475" y="35337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9525"/>
                  </a:moveTo>
                  <a:lnTo>
                    <a:pt x="0" y="0"/>
                  </a:lnTo>
                  <a:lnTo>
                    <a:pt x="38100" y="104775"/>
                  </a:lnTo>
                  <a:close/>
                </a:path>
              </a:pathLst>
            </a:custGeom>
            <a:solidFill>
              <a:srgbClr val="94A0AE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6477000" y="4076700"/>
              <a:ext cx="857250" cy="266700"/>
            </a:xfrm>
            <a:custGeom>
              <a:avLst/>
              <a:gdLst/>
              <a:ahLst/>
              <a:cxnLst/>
              <a:rect l="l" t="t" r="r" b="b"/>
              <a:pathLst>
                <a:path w="857250" h="266700">
                  <a:moveTo>
                    <a:pt x="0" y="0"/>
                  </a:moveTo>
                  <a:lnTo>
                    <a:pt x="857250" y="266700"/>
                  </a:lnTo>
                </a:path>
              </a:pathLst>
            </a:custGeom>
            <a:noFill/>
            <a:ln w="14288">
              <a:solidFill>
                <a:srgbClr val="94A0AE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7229475" y="42481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95250"/>
                  </a:moveTo>
                  <a:lnTo>
                    <a:pt x="0" y="0"/>
                  </a:lnTo>
                  <a:lnTo>
                    <a:pt x="38100" y="104775"/>
                  </a:lnTo>
                  <a:close/>
                </a:path>
              </a:pathLst>
            </a:custGeom>
            <a:solidFill>
              <a:srgbClr val="94A0AE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410450" y="3257550"/>
              <a:ext cx="1428750" cy="533400"/>
              <a:chOff x="7410450" y="3257550"/>
              <a:chExt cx="1428750" cy="5334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7410450" y="3257550"/>
                <a:ext cx="1428750" cy="5334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058531" y="3419475"/>
                <a:ext cx="13258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C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7410450" y="4095750"/>
              <a:ext cx="1428750" cy="533400"/>
              <a:chOff x="7410450" y="4095750"/>
              <a:chExt cx="1428750" cy="5334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7410450" y="4095750"/>
                <a:ext cx="1428750" cy="5334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8058531" y="4257675"/>
                <a:ext cx="13258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D</a:t>
                </a:r>
              </a:p>
            </p:txBody>
          </p:sp>
        </p:grpSp>
        <p:sp>
          <p:nvSpPr>
            <p:cNvPr id="33" name="Freeform 33"/>
            <p:cNvSpPr/>
            <p:nvPr/>
          </p:nvSpPr>
          <p:spPr>
            <a:xfrm>
              <a:off x="5143500" y="4267200"/>
              <a:ext cx="4381500" cy="514350"/>
            </a:xfrm>
            <a:custGeom>
              <a:avLst/>
              <a:gdLst/>
              <a:ahLst/>
              <a:cxnLst/>
              <a:rect l="l" t="t" r="r" b="b"/>
              <a:pathLst>
                <a:path w="4381500" h="514350">
                  <a:moveTo>
                    <a:pt x="3695700" y="95250"/>
                  </a:moveTo>
                  <a:lnTo>
                    <a:pt x="4381500" y="95250"/>
                  </a:lnTo>
                  <a:lnTo>
                    <a:pt x="4381500" y="514350"/>
                  </a:lnTo>
                  <a:lnTo>
                    <a:pt x="0" y="514350"/>
                  </a:ln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94A0AE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5086350" y="426720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0"/>
                  </a:moveTo>
                  <a:lnTo>
                    <a:pt x="0" y="95250"/>
                  </a:lnTo>
                  <a:lnTo>
                    <a:pt x="114300" y="95250"/>
                  </a:lnTo>
                  <a:close/>
                </a:path>
              </a:pathLst>
            </a:custGeom>
            <a:solidFill>
              <a:srgbClr val="94A0AE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613392" y="42738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재시도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77418" y="5334000"/>
            <a:ext cx="10828782" cy="563689"/>
            <a:chOff x="677418" y="5334000"/>
            <a:chExt cx="10828782" cy="563689"/>
          </a:xfrm>
        </p:grpSpPr>
        <p:sp>
          <p:nvSpPr>
            <p:cNvPr id="37" name="Line 37"/>
            <p:cNvSpPr/>
            <p:nvPr/>
          </p:nvSpPr>
          <p:spPr>
            <a:xfrm>
              <a:off x="685800" y="53340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7418" y="5574982"/>
              <a:ext cx="99620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AX 실무 — "완전 자율 Agent"보다 통제 가능한 Agentic Workflow가 더 현실적인 경우가 많다.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40" name="Line 4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9704" y="6537960"/>
              <a:ext cx="232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LLM Application 조립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16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76273" y="2638425"/>
            <a:ext cx="2253777" cy="5448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8500" b="1" dirty="0">
                <a:solidFill>
                  <a:srgbClr val="EDF0F3"/>
                </a:solidFill>
                <a:latin typeface="Pretendard ExtraBold"/>
                <a:ea typeface="Pretendard ExtraBold"/>
                <a:cs typeface="Pretendard ExtraBold"/>
              </a:rPr>
              <a:t>8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8942" y="1428750"/>
            <a:ext cx="788693" cy="594551"/>
            <a:chOff x="678942" y="1428750"/>
            <a:chExt cx="788693" cy="594551"/>
          </a:xfrm>
        </p:grpSpPr>
        <p:sp>
          <p:nvSpPr>
            <p:cNvPr id="3" name="Rectangle 3"/>
            <p:cNvSpPr/>
            <p:nvPr/>
          </p:nvSpPr>
          <p:spPr>
            <a:xfrm>
              <a:off x="685800" y="1428750"/>
              <a:ext cx="533400" cy="47625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78942" y="1759268"/>
              <a:ext cx="788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225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PART 8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7700" y="2409825"/>
            <a:ext cx="7607446" cy="1562100"/>
            <a:chOff x="647700" y="2409825"/>
            <a:chExt cx="7607446" cy="1562100"/>
          </a:xfrm>
        </p:grpSpPr>
        <p:sp>
          <p:nvSpPr>
            <p:cNvPr id="6" name="TextBox 6"/>
            <p:cNvSpPr txBox="1"/>
            <p:nvPr/>
          </p:nvSpPr>
          <p:spPr>
            <a:xfrm>
              <a:off x="647700" y="2409825"/>
              <a:ext cx="3226298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LangGraph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47700" y="3095625"/>
              <a:ext cx="7607446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실행 흐름을 그래프로 통제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5132" y="4211955"/>
            <a:ext cx="5462016" cy="810768"/>
            <a:chOff x="675132" y="4211955"/>
            <a:chExt cx="5462016" cy="810768"/>
          </a:xfrm>
        </p:grpSpPr>
        <p:sp>
          <p:nvSpPr>
            <p:cNvPr id="9" name="TextBox 9"/>
            <p:cNvSpPr txBox="1"/>
            <p:nvPr/>
          </p:nvSpPr>
          <p:spPr>
            <a:xfrm>
              <a:off x="675132" y="4211955"/>
              <a:ext cx="5462016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State를 가진 AI Workflow와 Agent를 </a:t>
              </a: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Node·Edge 그래프로 설계하는 프레임워크다.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6656" y="5292090"/>
            <a:ext cx="9294892" cy="694944"/>
            <a:chOff x="676656" y="5292090"/>
            <a:chExt cx="9294892" cy="694944"/>
          </a:xfrm>
        </p:grpSpPr>
        <p:sp>
          <p:nvSpPr>
            <p:cNvPr id="11" name="TextBox 11"/>
            <p:cNvSpPr txBox="1"/>
            <p:nvPr/>
          </p:nvSpPr>
          <p:spPr>
            <a:xfrm>
              <a:off x="676656" y="5292090"/>
              <a:ext cx="92948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Node = 작업 · Edge = 이동 경로 · State = 공유 정보 · Conditional Edge = 조건 분기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6656" y="5634990"/>
              <a:ext cx="85218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복잡한 Agent를 「한 덩어리의 프롬프트」가 아니라 명시적인 실행 그래프로.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15146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69 · LangGraph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0041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상태 기반 Workflow·Agent를 그래프로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6254008" cy="410718"/>
            <a:chOff x="675132" y="1678305"/>
            <a:chExt cx="6254008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62540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복잡한 Agent를 명시적인 실행 그래프로 만든다.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76656" y="2438400"/>
            <a:ext cx="5228844" cy="2405634"/>
            <a:chOff x="676656" y="2438400"/>
            <a:chExt cx="5228844" cy="2405634"/>
          </a:xfrm>
        </p:grpSpPr>
        <p:sp>
          <p:nvSpPr>
            <p:cNvPr id="8" name="Line 8"/>
            <p:cNvSpPr/>
            <p:nvPr/>
          </p:nvSpPr>
          <p:spPr>
            <a:xfrm>
              <a:off x="685800" y="2438400"/>
              <a:ext cx="5219700" cy="9525"/>
            </a:xfrm>
            <a:custGeom>
              <a:avLst/>
              <a:gdLst/>
              <a:ahLst/>
              <a:cxnLst/>
              <a:rect l="l" t="t" r="r" b="b"/>
              <a:pathLst>
                <a:path w="5219700" h="9525">
                  <a:moveTo>
                    <a:pt x="0" y="0"/>
                  </a:moveTo>
                  <a:lnTo>
                    <a:pt x="52197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6656" y="2663190"/>
              <a:ext cx="11511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D2430"/>
                  </a:solidFill>
                  <a:latin typeface="Pretendard SemiBold"/>
                  <a:ea typeface="Pretendard SemiBold"/>
                  <a:cs typeface="Pretendard SemiBold"/>
                </a:rPr>
                <a:t>Node</a:t>
              </a: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 작업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6656" y="3120390"/>
              <a:ext cx="17163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D2430"/>
                  </a:solidFill>
                  <a:latin typeface="Pretendard SemiBold"/>
                  <a:ea typeface="Pretendard SemiBold"/>
                  <a:cs typeface="Pretendard SemiBold"/>
                </a:rPr>
                <a:t>Edge</a:t>
              </a: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 이동 경로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6656" y="3577590"/>
              <a:ext cx="18531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D2430"/>
                  </a:solidFill>
                  <a:latin typeface="Pretendard SemiBold"/>
                  <a:ea typeface="Pretendard SemiBold"/>
                  <a:cs typeface="Pretendard SemiBold"/>
                </a:rPr>
                <a:t>State</a:t>
              </a: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 공유 정보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6656" y="4034790"/>
              <a:ext cx="31409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D2430"/>
                  </a:solidFill>
                  <a:latin typeface="Pretendard SemiBold"/>
                  <a:ea typeface="Pretendard SemiBold"/>
                  <a:cs typeface="Pretendard SemiBold"/>
                </a:rPr>
                <a:t>Conditional Edge</a:t>
              </a: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 조건 분기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6656" y="4491990"/>
              <a:ext cx="24825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D2430"/>
                  </a:solidFill>
                  <a:latin typeface="Pretendard SemiBold"/>
                  <a:ea typeface="Pretendard SemiBold"/>
                  <a:cs typeface="Pretendard SemiBold"/>
                </a:rPr>
                <a:t>Checkpoint</a:t>
              </a: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 상태 저장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477000" y="2286000"/>
            <a:ext cx="3429000" cy="3429000"/>
            <a:chOff x="6477000" y="2286000"/>
            <a:chExt cx="3429000" cy="3429000"/>
          </a:xfrm>
        </p:grpSpPr>
        <p:sp>
          <p:nvSpPr>
            <p:cNvPr id="15" name="Line 15"/>
            <p:cNvSpPr/>
            <p:nvPr/>
          </p:nvSpPr>
          <p:spPr>
            <a:xfrm>
              <a:off x="6477000" y="2286000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0" y="2514600"/>
              <a:ext cx="2095500" cy="5715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08325" y="2695575"/>
              <a:ext cx="8998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Question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7239000" y="2800350"/>
              <a:ext cx="571500" cy="1009650"/>
            </a:xfrm>
            <a:custGeom>
              <a:avLst/>
              <a:gdLst/>
              <a:ahLst/>
              <a:cxnLst/>
              <a:rect l="l" t="t" r="r" b="b"/>
              <a:pathLst>
                <a:path w="571500" h="1009650">
                  <a:moveTo>
                    <a:pt x="571500" y="0"/>
                  </a:moveTo>
                  <a:cubicBezTo>
                    <a:pt x="0" y="0"/>
                    <a:pt x="0" y="1009650"/>
                    <a:pt x="523875" y="1009650"/>
                  </a:cubicBezTo>
                </a:path>
              </a:pathLst>
            </a:custGeom>
            <a:noFill/>
            <a:ln w="14288">
              <a:solidFill>
                <a:srgbClr val="94A0AE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8858250" y="3086100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14288">
              <a:solidFill>
                <a:srgbClr val="94A0AE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8801100" y="34480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94A0AE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810500" y="3562350"/>
              <a:ext cx="2095500" cy="571500"/>
            </a:xfrm>
            <a:prstGeom prst="rect">
              <a:avLst/>
            </a:prstGeom>
            <a:solidFill>
              <a:srgbClr val="F4F6F8"/>
            </a:solidFill>
            <a:ln w="19050">
              <a:solidFill>
                <a:srgbClr val="2563E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79479" y="3743325"/>
              <a:ext cx="15575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Search / Grade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8858250" y="4133850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14288">
              <a:solidFill>
                <a:srgbClr val="2563EB"/>
              </a:solidFill>
              <a:custDash>
                <a:ds d="400000" sp="266666"/>
              </a:custDash>
            </a:ln>
          </p:spPr>
        </p:sp>
        <p:sp>
          <p:nvSpPr>
            <p:cNvPr id="24" name="Freeform 24"/>
            <p:cNvSpPr/>
            <p:nvPr/>
          </p:nvSpPr>
          <p:spPr>
            <a:xfrm>
              <a:off x="8801100" y="449580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04554" y="43091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2563EB"/>
                  </a:solidFill>
                  <a:latin typeface="Pretendard"/>
                  <a:ea typeface="Pretendard"/>
                  <a:cs typeface="Pretendard"/>
                </a:rPr>
                <a:t>조건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810500" y="4610100"/>
              <a:ext cx="2095500" cy="5715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493919" y="4791075"/>
              <a:ext cx="7286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Answer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9" name="Line 29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9704" y="6537960"/>
              <a:ext cx="232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LLM Application 조립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18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21505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70 · 71 · Node · Edge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06886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작업을 수행하는 단위, 그것을 잇는 경로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10612882" cy="410718"/>
            <a:chOff x="675132" y="1640205"/>
            <a:chExt cx="10612882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106128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Node는 State를 읽고 작업한 뒤 State를 갱신하며, Edge가 실행 순서를 정의한다.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76656" y="2205990"/>
            <a:ext cx="2485644" cy="2747010"/>
            <a:chOff x="676656" y="2205990"/>
            <a:chExt cx="2485644" cy="2747010"/>
          </a:xfrm>
        </p:grpSpPr>
        <p:sp>
          <p:nvSpPr>
            <p:cNvPr id="8" name="TextBox 8"/>
            <p:cNvSpPr txBox="1"/>
            <p:nvPr/>
          </p:nvSpPr>
          <p:spPr>
            <a:xfrm>
              <a:off x="676656" y="2205990"/>
              <a:ext cx="11794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Node 형태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685800" y="2667000"/>
              <a:ext cx="2476500" cy="2286000"/>
              <a:chOff x="685800" y="2667000"/>
              <a:chExt cx="2476500" cy="22860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685800" y="2667000"/>
                <a:ext cx="2476500" cy="5715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400785" y="2847975"/>
                <a:ext cx="104653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State 입력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854584" y="3250882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↓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685800" y="3524250"/>
                <a:ext cx="2476500" cy="571500"/>
              </a:xfrm>
              <a:prstGeom prst="rect">
                <a:avLst/>
              </a:prstGeom>
              <a:solidFill>
                <a:srgbClr val="F4F6F8"/>
              </a:solidFill>
              <a:ln w="19050">
                <a:solidFill>
                  <a:srgbClr val="2563EB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460573" y="3705225"/>
                <a:ext cx="92695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b="1" dirty="0">
                    <a:solidFill>
                      <a:srgbClr val="2563EB"/>
                    </a:solidFill>
                    <a:latin typeface="Pretendard SemiBold"/>
                    <a:ea typeface="Pretendard SemiBold"/>
                    <a:cs typeface="Pretendard SemiBold"/>
                  </a:rPr>
                  <a:t>작업 수행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854584" y="4108132"/>
                <a:ext cx="138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↓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685800" y="4381500"/>
                <a:ext cx="2476500" cy="5715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196569" y="4562475"/>
                <a:ext cx="14549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State 업데이트</a:t>
                </a:r>
              </a:p>
            </p:txBody>
          </p:sp>
        </p:grpSp>
      </p:grpSp>
      <p:grpSp>
        <p:nvGrpSpPr>
          <p:cNvPr id="20" name="Group 20"/>
          <p:cNvGrpSpPr/>
          <p:nvPr/>
        </p:nvGrpSpPr>
        <p:grpSpPr>
          <a:xfrm>
            <a:off x="4191000" y="2286000"/>
            <a:ext cx="9525" cy="3048000"/>
            <a:chOff x="4191000" y="2286000"/>
            <a:chExt cx="9525" cy="3048000"/>
          </a:xfrm>
        </p:grpSpPr>
        <p:sp>
          <p:nvSpPr>
            <p:cNvPr id="19" name="Line 19"/>
            <p:cNvSpPr/>
            <p:nvPr/>
          </p:nvSpPr>
          <p:spPr>
            <a:xfrm>
              <a:off x="4191000" y="22860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4639056" y="2205990"/>
            <a:ext cx="5605470" cy="2954655"/>
            <a:chOff x="4639056" y="2205990"/>
            <a:chExt cx="5605470" cy="2954655"/>
          </a:xfrm>
        </p:grpSpPr>
        <p:sp>
          <p:nvSpPr>
            <p:cNvPr id="21" name="TextBox 21"/>
            <p:cNvSpPr txBox="1"/>
            <p:nvPr/>
          </p:nvSpPr>
          <p:spPr>
            <a:xfrm>
              <a:off x="4639056" y="2205990"/>
              <a:ext cx="9214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Node 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40580" y="2657475"/>
              <a:ext cx="29169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D2430"/>
                  </a:solidFill>
                  <a:latin typeface="Consolas"/>
                  <a:ea typeface="Consolas"/>
                  <a:cs typeface="Consolas"/>
                </a:rPr>
                <a:t>RETRIEVE · GENERATE · GRADE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40580" y="2981325"/>
              <a:ext cx="41864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D2430"/>
                  </a:solidFill>
                  <a:latin typeface="Consolas"/>
                  <a:ea typeface="Consolas"/>
                  <a:cs typeface="Consolas"/>
                </a:rPr>
                <a:t>REWRITE · HUMAN_APPROVAL · TOOL_CALL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39056" y="3539490"/>
              <a:ext cx="5859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Edge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39818" y="3974782"/>
              <a:ext cx="56047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Node A → Node B — 실행 순서를 정의하는 「이동 경로」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40580" y="4600575"/>
              <a:ext cx="31299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장점 — 오류가 났을 때 어느 단계에서 </a:t>
              </a: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발생했는지 추적하기 쉽다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8" name="Line 28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9704" y="6537960"/>
              <a:ext cx="232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LLM Application 조립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19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4554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72 · 73 · Conditional Edge · State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698597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조건에 따라 다음 Node를 선택하기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9482938" cy="410718"/>
            <a:chOff x="675132" y="1640205"/>
            <a:chExt cx="9482938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94829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Conditional Edge가 생기는 순간부터 Workflow는 단순 Chain을 넘어선다.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2500" y="2400300"/>
            <a:ext cx="5048250" cy="2400300"/>
            <a:chOff x="952500" y="2400300"/>
            <a:chExt cx="5048250" cy="2400300"/>
          </a:xfrm>
        </p:grpSpPr>
        <p:sp>
          <p:nvSpPr>
            <p:cNvPr id="8" name="Rectangle 8"/>
            <p:cNvSpPr/>
            <p:nvPr/>
          </p:nvSpPr>
          <p:spPr>
            <a:xfrm>
              <a:off x="1143000" y="2400300"/>
              <a:ext cx="2095500" cy="5334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02333" y="2571750"/>
              <a:ext cx="5768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Grade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2190750" y="293370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14288">
              <a:solidFill>
                <a:srgbClr val="94A0AE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133600" y="31051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94A0AE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952500" y="3238500"/>
              <a:ext cx="2476500" cy="609600"/>
            </a:xfrm>
            <a:custGeom>
              <a:avLst/>
              <a:gdLst/>
              <a:ahLst/>
              <a:cxnLst/>
              <a:rect l="l" t="t" r="r" b="b"/>
              <a:pathLst>
                <a:path w="2476500" h="609600">
                  <a:moveTo>
                    <a:pt x="381000" y="0"/>
                  </a:moveTo>
                  <a:lnTo>
                    <a:pt x="2095500" y="0"/>
                  </a:lnTo>
                  <a:lnTo>
                    <a:pt x="2476500" y="304800"/>
                  </a:lnTo>
                  <a:lnTo>
                    <a:pt x="2095500" y="609600"/>
                  </a:lnTo>
                  <a:lnTo>
                    <a:pt x="381000" y="609600"/>
                  </a:lnTo>
                  <a:lnTo>
                    <a:pt x="0" y="304800"/>
                  </a:lnTo>
                  <a:close/>
                </a:path>
              </a:pathLst>
            </a:custGeom>
            <a:noFill/>
            <a:ln w="14288">
              <a:solidFill>
                <a:srgbClr val="2563E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68966" y="3457575"/>
              <a:ext cx="10435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근거 충분?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3429000" y="3238500"/>
              <a:ext cx="762000" cy="304800"/>
            </a:xfrm>
            <a:custGeom>
              <a:avLst/>
              <a:gdLst/>
              <a:ahLst/>
              <a:cxnLst/>
              <a:rect l="l" t="t" r="r" b="b"/>
              <a:pathLst>
                <a:path w="762000" h="304800">
                  <a:moveTo>
                    <a:pt x="0" y="304800"/>
                  </a:moveTo>
                  <a:lnTo>
                    <a:pt x="762000" y="0"/>
                  </a:lnTo>
                </a:path>
              </a:pathLst>
            </a:custGeom>
            <a:noFill/>
            <a:ln w="14288">
              <a:solidFill>
                <a:srgbClr val="94A0AE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086225" y="32385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0"/>
                  </a:moveTo>
                  <a:lnTo>
                    <a:pt x="0" y="0"/>
                  </a:lnTo>
                  <a:lnTo>
                    <a:pt x="38100" y="104775"/>
                  </a:lnTo>
                  <a:close/>
                </a:path>
              </a:pathLst>
            </a:custGeom>
            <a:solidFill>
              <a:srgbClr val="94A0A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727704" y="307086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YES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3429000" y="3543300"/>
              <a:ext cx="762000" cy="304800"/>
            </a:xfrm>
            <a:custGeom>
              <a:avLst/>
              <a:gdLst/>
              <a:ahLst/>
              <a:cxnLst/>
              <a:rect l="l" t="t" r="r" b="b"/>
              <a:pathLst>
                <a:path w="762000" h="304800">
                  <a:moveTo>
                    <a:pt x="0" y="0"/>
                  </a:moveTo>
                  <a:lnTo>
                    <a:pt x="762000" y="304800"/>
                  </a:lnTo>
                </a:path>
              </a:pathLst>
            </a:custGeom>
            <a:noFill/>
            <a:ln w="14288">
              <a:solidFill>
                <a:srgbClr val="94A0AE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086225" y="37433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104775"/>
                  </a:moveTo>
                  <a:lnTo>
                    <a:pt x="0" y="104775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94A0A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727704" y="3909060"/>
              <a:ext cx="2340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NO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286250" y="2971800"/>
              <a:ext cx="1714500" cy="5334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779169" y="3143250"/>
              <a:ext cx="7286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Answer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286250" y="3581400"/>
              <a:ext cx="1714500" cy="5334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855083" y="3752850"/>
              <a:ext cx="5768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Retry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143000" y="4305300"/>
              <a:ext cx="4857750" cy="49530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326642" y="4473892"/>
              <a:ext cx="39937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D2430"/>
                  </a:solidFill>
                  <a:latin typeface="Consolas"/>
                  <a:ea typeface="Consolas"/>
                  <a:cs typeface="Consolas"/>
                </a:rPr>
                <a:t>if score &gt;= 0.8: answer else: retrieve_again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667500" y="2286000"/>
            <a:ext cx="4457700" cy="3048000"/>
            <a:chOff x="6667500" y="2286000"/>
            <a:chExt cx="4457700" cy="3048000"/>
          </a:xfrm>
        </p:grpSpPr>
        <p:sp>
          <p:nvSpPr>
            <p:cNvPr id="27" name="Line 27"/>
            <p:cNvSpPr/>
            <p:nvPr/>
          </p:nvSpPr>
          <p:spPr>
            <a:xfrm>
              <a:off x="6667500" y="22860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115556" y="2396490"/>
              <a:ext cx="19095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State가 담는 것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16318" y="2831782"/>
              <a:ext cx="36151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사용자 질문 · 검색 결과 · 중간 답안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16318" y="3174682"/>
              <a:ext cx="34295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평가 점수 · Tool 결과 · 오류 상태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116318" y="3517582"/>
              <a:ext cx="21824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승인 여부 · 반복 횟수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124700" y="3962400"/>
              <a:ext cx="4000500" cy="76200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308723" y="4129564"/>
              <a:ext cx="30509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5B6472"/>
                  </a:solidFill>
                  <a:latin typeface="Consolas"/>
                  <a:ea typeface="Consolas"/>
                  <a:cs typeface="Consolas"/>
                </a:rPr>
                <a:t>{ "score": 0.74, "retry_count": 1,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08723" y="4377214"/>
              <a:ext cx="32741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5B6472"/>
                  </a:solidFill>
                  <a:latin typeface="Consolas"/>
                  <a:ea typeface="Consolas"/>
                  <a:cs typeface="Consolas"/>
                </a:rPr>
                <a:t>"documents": [...], "draft": "..." }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17080" y="4943475"/>
              <a:ext cx="34353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State = 작업 기억 + 현재 진행 상황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37" name="Line 37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9704" y="6537960"/>
              <a:ext cx="232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LLM Application 조립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20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6208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74 · 75 · StateGraph · Cyclic Graph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49757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State를 중심으로 잇고, 되돌아갈 수 있게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10270937" cy="410718"/>
            <a:chOff x="675132" y="1640205"/>
            <a:chExt cx="10270937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1027093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Agent는 검색 → 생성 → 평가 → 재검색처럼 이전 단계로 다시 돌아갈 필요가 있다.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78180" y="2238375"/>
            <a:ext cx="6870723" cy="293370"/>
            <a:chOff x="678180" y="2238375"/>
            <a:chExt cx="6870723" cy="293370"/>
          </a:xfrm>
        </p:grpSpPr>
        <p:sp>
          <p:nvSpPr>
            <p:cNvPr id="8" name="TextBox 8"/>
            <p:cNvSpPr txBox="1"/>
            <p:nvPr/>
          </p:nvSpPr>
          <p:spPr>
            <a:xfrm>
              <a:off x="678180" y="2238375"/>
              <a:ext cx="68707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StateGraph — 모든 Node가 공통 State를 읽고 수정, 데이터 흐름이 명시적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76656" y="2739390"/>
            <a:ext cx="10548572" cy="1569911"/>
            <a:chOff x="676656" y="2739390"/>
            <a:chExt cx="10548572" cy="1569911"/>
          </a:xfrm>
        </p:grpSpPr>
        <p:sp>
          <p:nvSpPr>
            <p:cNvPr id="10" name="TextBox 10"/>
            <p:cNvSpPr txBox="1"/>
            <p:nvPr/>
          </p:nvSpPr>
          <p:spPr>
            <a:xfrm>
              <a:off x="676656" y="2739390"/>
              <a:ext cx="15220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Cyclic Graph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1143000" y="3200400"/>
              <a:ext cx="10082228" cy="1108901"/>
              <a:chOff x="1143000" y="3200400"/>
              <a:chExt cx="10082228" cy="1108901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1143000" y="3200400"/>
                <a:ext cx="1905000" cy="6096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665911" y="3419475"/>
                <a:ext cx="85917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Retrieve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190494" y="3370898"/>
                <a:ext cx="16419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→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3524250" y="3200400"/>
                <a:ext cx="1905000" cy="6096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112419" y="3419475"/>
                <a:ext cx="72866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Answer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571744" y="3370898"/>
                <a:ext cx="16419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→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5905500" y="3200400"/>
                <a:ext cx="1905000" cy="6096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6569583" y="3419475"/>
                <a:ext cx="57683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Grade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952994" y="3370898"/>
                <a:ext cx="16419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→</a:t>
                </a:r>
              </a:p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7905750" y="3200400"/>
                <a:ext cx="17145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1714500" h="609600">
                    <a:moveTo>
                      <a:pt x="381000" y="0"/>
                    </a:moveTo>
                    <a:lnTo>
                      <a:pt x="1333500" y="0"/>
                    </a:lnTo>
                    <a:lnTo>
                      <a:pt x="1714500" y="304800"/>
                    </a:lnTo>
                    <a:lnTo>
                      <a:pt x="1333500" y="609600"/>
                    </a:lnTo>
                    <a:lnTo>
                      <a:pt x="381000" y="609600"/>
                    </a:lnTo>
                    <a:lnTo>
                      <a:pt x="0" y="304800"/>
                    </a:lnTo>
                    <a:close/>
                  </a:path>
                </a:pathLst>
              </a:custGeom>
              <a:noFill/>
              <a:ln w="14288">
                <a:solidFill>
                  <a:srgbClr val="2563EB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8401576" y="3419475"/>
                <a:ext cx="72284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2563EB"/>
                    </a:solidFill>
                    <a:latin typeface="Pretendard SemiBold"/>
                    <a:ea typeface="Pretendard SemiBold"/>
                    <a:cs typeface="Pretendard SemiBold"/>
                  </a:rPr>
                  <a:t>Retry?</a:t>
                </a:r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9620250" y="3505200"/>
                <a:ext cx="76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9525">
                    <a:moveTo>
                      <a:pt x="0" y="0"/>
                    </a:moveTo>
                    <a:lnTo>
                      <a:pt x="762000" y="0"/>
                    </a:lnTo>
                  </a:path>
                </a:pathLst>
              </a:custGeom>
              <a:noFill/>
              <a:ln w="14288">
                <a:solidFill>
                  <a:srgbClr val="94A0AE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0277475" y="3448050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104775" y="57150"/>
                    </a:moveTo>
                    <a:lnTo>
                      <a:pt x="0" y="0"/>
                    </a:lnTo>
                    <a:lnTo>
                      <a:pt x="38100" y="104775"/>
                    </a:lnTo>
                    <a:close/>
                  </a:path>
                </a:pathLst>
              </a:custGeom>
              <a:solidFill>
                <a:srgbClr val="94A0AE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0470642" y="3416618"/>
                <a:ext cx="7545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5B6472"/>
                    </a:solidFill>
                    <a:latin typeface="Pretendard"/>
                    <a:ea typeface="Pretendard"/>
                    <a:cs typeface="Pretendard"/>
                  </a:rPr>
                  <a:t>No → END</a:t>
                </a:r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2095500" y="3810000"/>
                <a:ext cx="66675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6667500" h="457200">
                    <a:moveTo>
                      <a:pt x="6667500" y="0"/>
                    </a:moveTo>
                    <a:lnTo>
                      <a:pt x="6667500" y="457200"/>
                    </a:lnTo>
                    <a:lnTo>
                      <a:pt x="0" y="457200"/>
                    </a:lnTo>
                    <a:lnTo>
                      <a:pt x="0" y="38100"/>
                    </a:lnTo>
                  </a:path>
                </a:pathLst>
              </a:custGeom>
              <a:noFill/>
              <a:ln w="14288">
                <a:solidFill>
                  <a:srgbClr val="2563EB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2038350" y="3848100"/>
                <a:ext cx="1143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0">
                    <a:moveTo>
                      <a:pt x="57150" y="0"/>
                    </a:moveTo>
                    <a:lnTo>
                      <a:pt x="0" y="95250"/>
                    </a:lnTo>
                    <a:lnTo>
                      <a:pt x="114300" y="95250"/>
                    </a:ln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4752455" y="4045268"/>
                <a:ext cx="13535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2563EB"/>
                    </a:solidFill>
                    <a:latin typeface="Pretendard SemiBold"/>
                    <a:ea typeface="Pretendard SemiBold"/>
                    <a:cs typeface="Pretendard SemiBold"/>
                  </a:rPr>
                  <a:t>Yes → Retrieve</a:t>
                </a:r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>
            <a:off x="678180" y="4762500"/>
            <a:ext cx="10828020" cy="550545"/>
            <a:chOff x="678180" y="4762500"/>
            <a:chExt cx="10828020" cy="550545"/>
          </a:xfrm>
        </p:grpSpPr>
        <p:sp>
          <p:nvSpPr>
            <p:cNvPr id="30" name="Line 30"/>
            <p:cNvSpPr/>
            <p:nvPr/>
          </p:nvSpPr>
          <p:spPr>
            <a:xfrm>
              <a:off x="685800" y="4762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8180" y="5019675"/>
              <a:ext cx="87467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일반 DAG는 A → B → C, Agent Graph는 검색 → 생성 → 평가 → 재검색의 반복 구조가 대표적이다.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33" name="Line 33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9704" y="6537960"/>
              <a:ext cx="232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LLM Application 조립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21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5300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76 · 77 · Checkpoint · Persistence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89076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실행 중 상태 저장, 실행 사이 상태 유지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7187832" cy="410718"/>
            <a:chOff x="675132" y="1640205"/>
            <a:chExt cx="7187832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71878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실행이 중단되어도 처음부터 다시 시작하지 않도록 한다.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43000" y="2438400"/>
            <a:ext cx="9239250" cy="571500"/>
            <a:chOff x="1143000" y="2438400"/>
            <a:chExt cx="9239250" cy="571500"/>
          </a:xfrm>
        </p:grpSpPr>
        <p:grpSp>
          <p:nvGrpSpPr>
            <p:cNvPr id="10" name="Group 10"/>
            <p:cNvGrpSpPr/>
            <p:nvPr/>
          </p:nvGrpSpPr>
          <p:grpSpPr>
            <a:xfrm>
              <a:off x="1143000" y="2438400"/>
              <a:ext cx="1905000" cy="571500"/>
              <a:chOff x="1143000" y="2438400"/>
              <a:chExt cx="1905000" cy="5715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1143000" y="2438400"/>
                <a:ext cx="1905000" cy="5715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772964" y="2619375"/>
                <a:ext cx="64507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Node A</a:t>
                </a:r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3190494" y="25707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3524250" y="2438400"/>
              <a:ext cx="1905000" cy="571500"/>
              <a:chOff x="3524250" y="2438400"/>
              <a:chExt cx="1905000" cy="5715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3524250" y="2438400"/>
                <a:ext cx="1905000" cy="5715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154214" y="2619375"/>
                <a:ext cx="64507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Node B</a:t>
                </a:r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5571744" y="25707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5905500" y="2438400"/>
              <a:ext cx="2095500" cy="571500"/>
              <a:chOff x="5905500" y="2438400"/>
              <a:chExt cx="2095500" cy="5715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5905500" y="2438400"/>
                <a:ext cx="2095500" cy="571500"/>
              </a:xfrm>
              <a:prstGeom prst="rect">
                <a:avLst/>
              </a:prstGeom>
              <a:solidFill>
                <a:srgbClr val="F4F6F8"/>
              </a:solidFill>
              <a:ln w="19050">
                <a:solidFill>
                  <a:srgbClr val="2563EB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6385910" y="2619375"/>
                <a:ext cx="11346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2563EB"/>
                    </a:solidFill>
                    <a:latin typeface="Pretendard SemiBold"/>
                    <a:ea typeface="Pretendard SemiBold"/>
                    <a:cs typeface="Pretendard SemiBold"/>
                  </a:rPr>
                  <a:t>Checkpoint</a:t>
                </a:r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8143494" y="25707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8477250" y="2438400"/>
              <a:ext cx="1905000" cy="571500"/>
              <a:chOff x="8477250" y="2438400"/>
              <a:chExt cx="1905000" cy="5715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8477250" y="2438400"/>
                <a:ext cx="1905000" cy="5715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9107214" y="2619375"/>
                <a:ext cx="64507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Node C</a:t>
                </a:r>
              </a:p>
            </p:txBody>
          </p:sp>
        </p:grpSp>
      </p:grpSp>
      <p:grpSp>
        <p:nvGrpSpPr>
          <p:cNvPr id="26" name="Group 26"/>
          <p:cNvGrpSpPr/>
          <p:nvPr/>
        </p:nvGrpSpPr>
        <p:grpSpPr>
          <a:xfrm>
            <a:off x="676656" y="3425190"/>
            <a:ext cx="6835767" cy="719899"/>
            <a:chOff x="676656" y="3425190"/>
            <a:chExt cx="6835767" cy="719899"/>
          </a:xfrm>
        </p:grpSpPr>
        <p:sp>
          <p:nvSpPr>
            <p:cNvPr id="24" name="TextBox 24"/>
            <p:cNvSpPr txBox="1"/>
            <p:nvPr/>
          </p:nvSpPr>
          <p:spPr>
            <a:xfrm>
              <a:off x="676656" y="3425190"/>
              <a:ext cx="30503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Checkpoint가 저장하는 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7418" y="3822382"/>
              <a:ext cx="68350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현재 State · 현재 Node · 이전 실행 기록 · 사용자 입력 · Tool 결과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76656" y="4381500"/>
            <a:ext cx="10829544" cy="1350645"/>
            <a:chOff x="676656" y="4381500"/>
            <a:chExt cx="10829544" cy="1350645"/>
          </a:xfrm>
        </p:grpSpPr>
        <p:sp>
          <p:nvSpPr>
            <p:cNvPr id="27" name="Line 27"/>
            <p:cNvSpPr/>
            <p:nvPr/>
          </p:nvSpPr>
          <p:spPr>
            <a:xfrm>
              <a:off x="685800" y="4381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6656" y="4606290"/>
              <a:ext cx="15015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Persistence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7418" y="5003482"/>
              <a:ext cx="62251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저장된 상태를 나중 실행에서도 다시 사용할 수 있게 유지한다.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8180" y="5438775"/>
              <a:ext cx="75979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활용 — 장기 업무 · 멀티턴 Agent · 승인 대기 · 세션 복구 · 긴 Research Workflow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32" name="Line 32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9704" y="6537960"/>
              <a:ext cx="232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LLM Application 조립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22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54866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78 · 79 · 80 · Interrupt · Resume · Durable Execution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42324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멈추고, 사람 입력 받고, 이어서 실행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10636796" cy="410718"/>
            <a:chOff x="675132" y="1640205"/>
            <a:chExt cx="10636796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106367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데모가 아니라 실제 업무 시스템으로 운영하려면 중간 실패에도 복구 가능해야 한다.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43000" y="2438400"/>
            <a:ext cx="9810750" cy="571500"/>
            <a:chOff x="1143000" y="2438400"/>
            <a:chExt cx="9810750" cy="571500"/>
          </a:xfrm>
        </p:grpSpPr>
        <p:grpSp>
          <p:nvGrpSpPr>
            <p:cNvPr id="10" name="Group 10"/>
            <p:cNvGrpSpPr/>
            <p:nvPr/>
          </p:nvGrpSpPr>
          <p:grpSpPr>
            <a:xfrm>
              <a:off x="1143000" y="2438400"/>
              <a:ext cx="2095500" cy="571500"/>
              <a:chOff x="1143000" y="2438400"/>
              <a:chExt cx="2095500" cy="5715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1143000" y="2438400"/>
                <a:ext cx="2095500" cy="571500"/>
              </a:xfrm>
              <a:prstGeom prst="rect">
                <a:avLst/>
              </a:prstGeom>
              <a:solidFill>
                <a:srgbClr val="F4F6F8"/>
              </a:solidFill>
              <a:ln w="19050">
                <a:solidFill>
                  <a:srgbClr val="2563EB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681734" y="2619375"/>
                <a:ext cx="101803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2563EB"/>
                    </a:solidFill>
                    <a:latin typeface="Pretendard SemiBold"/>
                    <a:ea typeface="Pretendard SemiBold"/>
                    <a:cs typeface="Pretendard SemiBold"/>
                  </a:rPr>
                  <a:t>Interrupt</a:t>
                </a:r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3380994" y="25707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3714750" y="2438400"/>
              <a:ext cx="2095500" cy="571500"/>
              <a:chOff x="3714750" y="2438400"/>
              <a:chExt cx="2095500" cy="5715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3714750" y="2438400"/>
                <a:ext cx="2095500" cy="5715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167759" y="2619375"/>
                <a:ext cx="118948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Human Input</a:t>
                </a:r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5952744" y="25707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6286500" y="2438400"/>
              <a:ext cx="2095500" cy="571500"/>
              <a:chOff x="6286500" y="2438400"/>
              <a:chExt cx="2095500" cy="5715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6286500" y="2438400"/>
                <a:ext cx="2095500" cy="5715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6969919" y="2619375"/>
                <a:ext cx="72866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Resume</a:t>
                </a:r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8524494" y="25707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8858250" y="2438400"/>
              <a:ext cx="2095500" cy="571500"/>
              <a:chOff x="8858250" y="2438400"/>
              <a:chExt cx="2095500" cy="5715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8858250" y="2438400"/>
                <a:ext cx="2095500" cy="5715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9417129" y="2619375"/>
                <a:ext cx="97774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Next Node</a:t>
                </a:r>
              </a:p>
            </p:txBody>
          </p:sp>
        </p:grpSp>
      </p:grpSp>
      <p:grpSp>
        <p:nvGrpSpPr>
          <p:cNvPr id="26" name="Group 26"/>
          <p:cNvGrpSpPr/>
          <p:nvPr/>
        </p:nvGrpSpPr>
        <p:grpSpPr>
          <a:xfrm>
            <a:off x="677418" y="3403282"/>
            <a:ext cx="7252351" cy="741807"/>
            <a:chOff x="677418" y="3403282"/>
            <a:chExt cx="7252351" cy="741807"/>
          </a:xfrm>
        </p:grpSpPr>
        <p:sp>
          <p:nvSpPr>
            <p:cNvPr id="24" name="TextBox 24"/>
            <p:cNvSpPr txBox="1"/>
            <p:nvPr/>
          </p:nvSpPr>
          <p:spPr>
            <a:xfrm>
              <a:off x="677418" y="3403282"/>
              <a:ext cx="5992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예 — 계약서 초안 생성 → Interrupt → 법무팀 검토 → Resume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7418" y="3822382"/>
              <a:ext cx="72523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Human-in-the-Loop 핵심 조합 — Checkpoint + Interrupt + Resume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76656" y="4419600"/>
            <a:ext cx="10829544" cy="1363789"/>
            <a:chOff x="676656" y="4419600"/>
            <a:chExt cx="10829544" cy="1363789"/>
          </a:xfrm>
        </p:grpSpPr>
        <p:sp>
          <p:nvSpPr>
            <p:cNvPr id="27" name="Line 27"/>
            <p:cNvSpPr/>
            <p:nvPr/>
          </p:nvSpPr>
          <p:spPr>
            <a:xfrm>
              <a:off x="685800" y="4419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6656" y="4644390"/>
              <a:ext cx="22218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Durable Execution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7418" y="5041582"/>
              <a:ext cx="79523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복잡한 Agent는 Search → Database → LLM → API → Human Approval을 거친다.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7418" y="5460682"/>
              <a:ext cx="59251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중간 오류 시 — 처음부터 재실행 </a:t>
              </a:r>
              <a:r>
                <a:rPr lang="en-US" sz="1650" dirty="0">
                  <a:solidFill>
                    <a:srgbClr val="C2410C"/>
                  </a:solidFill>
                  <a:latin typeface="Pretendard"/>
                  <a:ea typeface="Pretendard"/>
                  <a:cs typeface="Pretendard"/>
                </a:rPr>
                <a:t>✕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 / Checkpoint에서 복구 </a:t>
              </a:r>
              <a:r>
                <a:rPr lang="en-US" sz="1650" dirty="0">
                  <a:solidFill>
                    <a:srgbClr val="1E7F4F"/>
                  </a:solidFill>
                  <a:latin typeface="Pretendard"/>
                  <a:ea typeface="Pretendard"/>
                  <a:cs typeface="Pretendard"/>
                </a:rPr>
                <a:t>◯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32" name="Line 32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9704" y="6537960"/>
              <a:ext cx="232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LLM Application 조립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23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71523" y="2638425"/>
            <a:ext cx="2253777" cy="5448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8500" b="1" dirty="0">
                <a:solidFill>
                  <a:srgbClr val="EDF0F3"/>
                </a:solidFill>
                <a:latin typeface="Pretendard ExtraBold"/>
                <a:ea typeface="Pretendard ExtraBold"/>
                <a:cs typeface="Pretendard ExtraBold"/>
              </a:rPr>
              <a:t>9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8942" y="1428750"/>
            <a:ext cx="788693" cy="594551"/>
            <a:chOff x="678942" y="1428750"/>
            <a:chExt cx="788693" cy="594551"/>
          </a:xfrm>
        </p:grpSpPr>
        <p:sp>
          <p:nvSpPr>
            <p:cNvPr id="3" name="Rectangle 3"/>
            <p:cNvSpPr/>
            <p:nvPr/>
          </p:nvSpPr>
          <p:spPr>
            <a:xfrm>
              <a:off x="685800" y="1428750"/>
              <a:ext cx="533400" cy="47625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78942" y="1759268"/>
              <a:ext cx="788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225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PART 9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7700" y="2409825"/>
            <a:ext cx="6246876" cy="1562100"/>
            <a:chOff x="647700" y="2409825"/>
            <a:chExt cx="6246876" cy="1562100"/>
          </a:xfrm>
        </p:grpSpPr>
        <p:sp>
          <p:nvSpPr>
            <p:cNvPr id="6" name="TextBox 6"/>
            <p:cNvSpPr txBox="1"/>
            <p:nvPr/>
          </p:nvSpPr>
          <p:spPr>
            <a:xfrm>
              <a:off x="647700" y="2409825"/>
              <a:ext cx="3055877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Memory와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47700" y="3095625"/>
              <a:ext cx="6246876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Context Engineering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5132" y="4211955"/>
            <a:ext cx="8155686" cy="810768"/>
            <a:chOff x="675132" y="4211955"/>
            <a:chExt cx="8155686" cy="810768"/>
          </a:xfrm>
        </p:grpSpPr>
        <p:sp>
          <p:nvSpPr>
            <p:cNvPr id="9" name="TextBox 9"/>
            <p:cNvSpPr txBox="1"/>
            <p:nvPr/>
          </p:nvSpPr>
          <p:spPr>
            <a:xfrm>
              <a:off x="675132" y="4211955"/>
              <a:ext cx="8155686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Prompt Engineering이 "무엇이라고 지시할까?"라면, </a:t>
              </a: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Context Engineering은 "무엇을, 언제, 어떤 형태로 보여줄까?"다.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6656" y="5292090"/>
            <a:ext cx="7717712" cy="352044"/>
            <a:chOff x="676656" y="5292090"/>
            <a:chExt cx="7717712" cy="352044"/>
          </a:xfrm>
        </p:grpSpPr>
        <p:sp>
          <p:nvSpPr>
            <p:cNvPr id="11" name="TextBox 11"/>
            <p:cNvSpPr txBox="1"/>
            <p:nvPr/>
          </p:nvSpPr>
          <p:spPr>
            <a:xfrm>
              <a:off x="676656" y="5292090"/>
              <a:ext cx="7717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Memory = 저장된 정보 · Context = 지금 모델에게 실제로 제공된 정보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12347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81 · Memory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95755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현재 요청 바깥의 정보를 다시 쓰게 저장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10738850" cy="410718"/>
            <a:chOff x="675132" y="1640205"/>
            <a:chExt cx="10738850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107388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Memory는 모델 가중치가 아니라 외부 DB·Vector Store·State Store에 저장한다.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43000" y="2400300"/>
            <a:ext cx="10191750" cy="533400"/>
            <a:chOff x="1143000" y="2400300"/>
            <a:chExt cx="10191750" cy="533400"/>
          </a:xfrm>
        </p:grpSpPr>
        <p:grpSp>
          <p:nvGrpSpPr>
            <p:cNvPr id="10" name="Group 10"/>
            <p:cNvGrpSpPr/>
            <p:nvPr/>
          </p:nvGrpSpPr>
          <p:grpSpPr>
            <a:xfrm>
              <a:off x="1143000" y="2400300"/>
              <a:ext cx="2190750" cy="533400"/>
              <a:chOff x="1143000" y="2400300"/>
              <a:chExt cx="2190750" cy="5334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1143000" y="2400300"/>
                <a:ext cx="2190750" cy="5334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453179" y="2570321"/>
                <a:ext cx="157039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Past Interaction</a:t>
                </a:r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3477006" y="25298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3810000" y="2400300"/>
              <a:ext cx="2190750" cy="533400"/>
              <a:chOff x="3810000" y="2400300"/>
              <a:chExt cx="2190750" cy="5334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3810000" y="2400300"/>
                <a:ext cx="2190750" cy="533400"/>
              </a:xfrm>
              <a:prstGeom prst="rect">
                <a:avLst/>
              </a:prstGeom>
              <a:solidFill>
                <a:srgbClr val="F4F6F8"/>
              </a:solidFill>
              <a:ln w="19050">
                <a:solidFill>
                  <a:srgbClr val="2563EB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211330" y="2570321"/>
                <a:ext cx="138809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2563EB"/>
                    </a:solidFill>
                    <a:latin typeface="Pretendard SemiBold"/>
                    <a:ea typeface="Pretendard SemiBold"/>
                    <a:cs typeface="Pretendard SemiBold"/>
                  </a:rPr>
                  <a:t>Memory Store</a:t>
                </a:r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6144006" y="25298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6477000" y="2400300"/>
              <a:ext cx="2190750" cy="533400"/>
              <a:chOff x="6477000" y="2400300"/>
              <a:chExt cx="2190750" cy="5334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6477000" y="2400300"/>
                <a:ext cx="2190750" cy="5334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6748523" y="2570321"/>
                <a:ext cx="164770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Memory Retrieval</a:t>
                </a:r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8811006" y="25298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9144000" y="2400300"/>
              <a:ext cx="2190750" cy="533400"/>
              <a:chOff x="9144000" y="2400300"/>
              <a:chExt cx="2190750" cy="5334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9144000" y="2400300"/>
                <a:ext cx="2190750" cy="5334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9458597" y="2570321"/>
                <a:ext cx="1561556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Current Context</a:t>
                </a:r>
              </a:p>
            </p:txBody>
          </p:sp>
        </p:grpSp>
      </p:grpSp>
      <p:grpSp>
        <p:nvGrpSpPr>
          <p:cNvPr id="33" name="Group 33"/>
          <p:cNvGrpSpPr/>
          <p:nvPr/>
        </p:nvGrpSpPr>
        <p:grpSpPr>
          <a:xfrm>
            <a:off x="685800" y="3581400"/>
            <a:ext cx="10820400" cy="1866900"/>
            <a:chOff x="685800" y="3581400"/>
            <a:chExt cx="10820400" cy="1866900"/>
          </a:xfrm>
        </p:grpSpPr>
        <p:sp>
          <p:nvSpPr>
            <p:cNvPr id="24" name="Line 24"/>
            <p:cNvSpPr/>
            <p:nvPr/>
          </p:nvSpPr>
          <p:spPr>
            <a:xfrm>
              <a:off x="685800" y="3581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85800" y="3733800"/>
              <a:ext cx="5143500" cy="17145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04494" y="3980498"/>
              <a:ext cx="10492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Memory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5256" y="4415790"/>
              <a:ext cx="13025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저장된 정보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6780" y="4943475"/>
              <a:ext cx="2801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이후 다시 꺼내 쓸 수 있게 보존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362700" y="3733800"/>
              <a:ext cx="5143500" cy="1714500"/>
            </a:xfrm>
            <a:prstGeom prst="rect">
              <a:avLst/>
            </a:prstGeom>
            <a:solidFill>
              <a:srgbClr val="F4F6F8"/>
            </a:solidFill>
            <a:ln w="14288">
              <a:solidFill>
                <a:srgbClr val="2563E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81394" y="3980498"/>
              <a:ext cx="108958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Context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82156" y="4415790"/>
              <a:ext cx="37014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지금 모델에게 실제로 제공된 정보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83680" y="4943475"/>
              <a:ext cx="13479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현재 추론 입력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34" name="Line 34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9704" y="6537960"/>
              <a:ext cx="232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LLM Application 조립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25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4308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82 · 83 · Short-Term · Long-Term Memory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55682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현재 안에서 유지 vs 세션을 넘어 보존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9619069" cy="410718"/>
            <a:chOff x="675132" y="1640205"/>
            <a:chExt cx="9619069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961906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무엇이든 저장하는 것이 아니라 무엇을 저장하고 언제 불러올지가 중요하다.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85800" y="2286000"/>
            <a:ext cx="10820400" cy="3238500"/>
            <a:chOff x="685800" y="2286000"/>
            <a:chExt cx="10820400" cy="3238500"/>
          </a:xfrm>
        </p:grpSpPr>
        <p:sp>
          <p:nvSpPr>
            <p:cNvPr id="8" name="Rectangle 8"/>
            <p:cNvSpPr/>
            <p:nvPr/>
          </p:nvSpPr>
          <p:spPr>
            <a:xfrm>
              <a:off x="685800" y="2286000"/>
              <a:ext cx="10820400" cy="49530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9442" y="24641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5B6472"/>
                  </a:solidFill>
                  <a:latin typeface="Pretendard SemiBold"/>
                  <a:ea typeface="Pretendard SemiBold"/>
                  <a:cs typeface="Pretendard SemiBold"/>
                </a:rPr>
                <a:t>구분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582418" y="2431732"/>
              <a:ext cx="23046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Short-Term Memory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35368" y="2431732"/>
              <a:ext cx="21766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Long-Term Memory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2400300" y="2286000"/>
              <a:ext cx="9525" cy="3238500"/>
            </a:xfrm>
            <a:custGeom>
              <a:avLst/>
              <a:gdLst/>
              <a:ahLst/>
              <a:cxnLst/>
              <a:rect l="l" t="t" r="r" b="b"/>
              <a:pathLst>
                <a:path w="9525" h="3238500">
                  <a:moveTo>
                    <a:pt x="0" y="0"/>
                  </a:moveTo>
                  <a:lnTo>
                    <a:pt x="0" y="323850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953250" y="2286000"/>
              <a:ext cx="9525" cy="3238500"/>
            </a:xfrm>
            <a:custGeom>
              <a:avLst/>
              <a:gdLst/>
              <a:ahLst/>
              <a:cxnLst/>
              <a:rect l="l" t="t" r="r" b="b"/>
              <a:pathLst>
                <a:path w="9525" h="3238500">
                  <a:moveTo>
                    <a:pt x="0" y="0"/>
                  </a:moveTo>
                  <a:lnTo>
                    <a:pt x="0" y="323850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685800" y="2781300"/>
              <a:ext cx="10820400" cy="653034"/>
              <a:chOff x="685800" y="2781300"/>
              <a:chExt cx="10820400" cy="653034"/>
            </a:xfrm>
          </p:grpSpPr>
          <p:sp>
            <p:nvSpPr>
              <p:cNvPr id="14" name="Line 14"/>
              <p:cNvSpPr/>
              <p:nvPr/>
            </p:nvSpPr>
            <p:spPr>
              <a:xfrm>
                <a:off x="685800" y="27813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69442" y="313086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범위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581656" y="3082290"/>
                <a:ext cx="262941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현재 대화·Workflow 안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134606" y="3082290"/>
                <a:ext cx="185989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여러 세션에 걸쳐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685800" y="3581400"/>
              <a:ext cx="10820400" cy="653034"/>
              <a:chOff x="685800" y="3581400"/>
              <a:chExt cx="10820400" cy="653034"/>
            </a:xfrm>
          </p:grpSpPr>
          <p:sp>
            <p:nvSpPr>
              <p:cNvPr id="19" name="Line 19"/>
              <p:cNvSpPr/>
              <p:nvPr/>
            </p:nvSpPr>
            <p:spPr>
              <a:xfrm>
                <a:off x="685800" y="35814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69442" y="3930968"/>
                <a:ext cx="61344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담는 것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581656" y="3882390"/>
                <a:ext cx="387797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최근 메시지·중간 계산·임시 State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134606" y="3882390"/>
                <a:ext cx="413766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사용자 선호·과거 결정·프로젝트 상태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685800" y="4381500"/>
              <a:ext cx="10820400" cy="653034"/>
              <a:chOff x="685800" y="4381500"/>
              <a:chExt cx="10820400" cy="653034"/>
            </a:xfrm>
          </p:grpSpPr>
          <p:sp>
            <p:nvSpPr>
              <p:cNvPr id="24" name="Line 24"/>
              <p:cNvSpPr/>
              <p:nvPr/>
            </p:nvSpPr>
            <p:spPr>
              <a:xfrm>
                <a:off x="685800" y="43815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869442" y="4731068"/>
                <a:ext cx="84061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문제·목표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2581656" y="4682490"/>
                <a:ext cx="375570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대화가 길수록 Context·비용 증가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134606" y="4682490"/>
                <a:ext cx="418612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무엇을 저장하고 언제 불러올지가 관건</a:t>
                </a:r>
              </a:p>
            </p:txBody>
          </p:sp>
        </p:grpSp>
        <p:sp>
          <p:nvSpPr>
            <p:cNvPr id="29" name="Line 29"/>
            <p:cNvSpPr/>
            <p:nvPr/>
          </p:nvSpPr>
          <p:spPr>
            <a:xfrm>
              <a:off x="685800" y="5181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678180" y="5724525"/>
            <a:ext cx="9010364" cy="293370"/>
            <a:chOff x="678180" y="5724525"/>
            <a:chExt cx="9010364" cy="293370"/>
          </a:xfrm>
        </p:grpSpPr>
        <p:sp>
          <p:nvSpPr>
            <p:cNvPr id="31" name="TextBox 31"/>
            <p:cNvSpPr txBox="1"/>
            <p:nvPr/>
          </p:nvSpPr>
          <p:spPr>
            <a:xfrm>
              <a:off x="678180" y="5724525"/>
              <a:ext cx="90103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Session 1 → Long-Term Memory → Session 10 처럼, 시간이 지나도 다시 사용할 정보를 보존한다.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33" name="Line 33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9704" y="6537960"/>
              <a:ext cx="232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LLM Application 조립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26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58514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84 · 85 · 86 · Conversation · Semantic · Episodic Memory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62361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대화 · 사실 · 사건, 세 가지 기억 형태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7809776" cy="410718"/>
            <a:chOff x="675132" y="1640205"/>
            <a:chExt cx="7809776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780977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"무슨 일이 있었는가"와 "무엇이 사실인가"를 나눠 저장한다.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6656" y="2400300"/>
            <a:ext cx="3361944" cy="2556701"/>
            <a:chOff x="676656" y="2400300"/>
            <a:chExt cx="3361944" cy="2556701"/>
          </a:xfrm>
        </p:grpSpPr>
        <p:sp>
          <p:nvSpPr>
            <p:cNvPr id="8" name="Line 8"/>
            <p:cNvSpPr/>
            <p:nvPr/>
          </p:nvSpPr>
          <p:spPr>
            <a:xfrm>
              <a:off x="685800" y="24003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6656" y="2663190"/>
              <a:ext cx="16415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Conversation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8180" y="3114675"/>
              <a:ext cx="8835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대화 중심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8942" y="3588068"/>
              <a:ext cx="1753933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"나는 보고서를 표보다 </a:t>
              </a:r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줄글로 좋아해"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8942" y="4464368"/>
              <a:ext cx="1651064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en-US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Message Buffer · </a:t>
              </a:r>
              <a:r>
                <a:rPr lang="en-US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Summary · Selected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410456" y="2400300"/>
            <a:ext cx="3361944" cy="2556701"/>
            <a:chOff x="4410456" y="2400300"/>
            <a:chExt cx="3361944" cy="2556701"/>
          </a:xfrm>
        </p:grpSpPr>
        <p:sp>
          <p:nvSpPr>
            <p:cNvPr id="14" name="Line 14"/>
            <p:cNvSpPr/>
            <p:nvPr/>
          </p:nvSpPr>
          <p:spPr>
            <a:xfrm>
              <a:off x="4419600" y="24003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410456" y="2663190"/>
              <a:ext cx="11328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Semantic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11980" y="3114675"/>
              <a:ext cx="13984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사실·개념 중심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12742" y="3588068"/>
              <a:ext cx="2388299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프로젝트 이름 = Project Alpha </a:t>
              </a:r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선호 문체 = Academic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12742" y="4464368"/>
              <a:ext cx="1342454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en-US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Vector Search · </a:t>
              </a:r>
              <a:r>
                <a:rPr lang="en-US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Key-Value Store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144256" y="2400300"/>
            <a:ext cx="3361944" cy="1680401"/>
            <a:chOff x="8144256" y="2400300"/>
            <a:chExt cx="3361944" cy="1680401"/>
          </a:xfrm>
        </p:grpSpPr>
        <p:sp>
          <p:nvSpPr>
            <p:cNvPr id="20" name="Line 20"/>
            <p:cNvSpPr/>
            <p:nvPr/>
          </p:nvSpPr>
          <p:spPr>
            <a:xfrm>
              <a:off x="8153400" y="24003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4256" y="2663190"/>
              <a:ext cx="10175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Episodic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45780" y="3114675"/>
              <a:ext cx="13984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과거 사건·경험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46542" y="3588068"/>
              <a:ext cx="2259711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2026-08-10 사용자가 초안을 </a:t>
              </a:r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검토하고 표 3을 수정하기로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8180" y="5105400"/>
            <a:ext cx="10828020" cy="531495"/>
            <a:chOff x="678180" y="5105400"/>
            <a:chExt cx="10828020" cy="531495"/>
          </a:xfrm>
        </p:grpSpPr>
        <p:sp>
          <p:nvSpPr>
            <p:cNvPr id="25" name="Line 25"/>
            <p:cNvSpPr/>
            <p:nvPr/>
          </p:nvSpPr>
          <p:spPr>
            <a:xfrm>
              <a:off x="685800" y="5105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8180" y="5343525"/>
              <a:ext cx="82004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Semantic — "사용자는 표를 선호한다" / Episodic — "지난번 보고서에서 표 3을 수정했다"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8" name="Line 28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9704" y="6537960"/>
              <a:ext cx="232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LLM Application 조립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27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25192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87 · Context Engineering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28967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무엇을, 언제, 어떤 형태로 보여줄지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9759681" cy="410718"/>
            <a:chOff x="675132" y="1640205"/>
            <a:chExt cx="9759681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975968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Context는 단순한 Prompt가 아니라, 여러 조각을 합친 현재 모델 입력이다.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78180" y="2200275"/>
            <a:ext cx="8870026" cy="293370"/>
            <a:chOff x="678180" y="2200275"/>
            <a:chExt cx="8870026" cy="293370"/>
          </a:xfrm>
        </p:grpSpPr>
        <p:sp>
          <p:nvSpPr>
            <p:cNvPr id="8" name="TextBox 8"/>
            <p:cNvSpPr txBox="1"/>
            <p:nvPr/>
          </p:nvSpPr>
          <p:spPr>
            <a:xfrm>
              <a:off x="678180" y="2200275"/>
              <a:ext cx="88700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System Instruction + User Message + 대화 기록 + RAG 문서 + Tool 결과 + Memory + Examples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5132" y="2743200"/>
            <a:ext cx="10831068" cy="2752725"/>
            <a:chOff x="675132" y="2743200"/>
            <a:chExt cx="10831068" cy="2752725"/>
          </a:xfrm>
        </p:grpSpPr>
        <p:sp>
          <p:nvSpPr>
            <p:cNvPr id="10" name="Line 10"/>
            <p:cNvSpPr/>
            <p:nvPr/>
          </p:nvSpPr>
          <p:spPr>
            <a:xfrm>
              <a:off x="685800" y="2743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5132" y="293560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18844" y="2951798"/>
              <a:ext cx="181799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무엇을 넣을까?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85800" y="34290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75132" y="362140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18844" y="3637598"/>
              <a:ext cx="155549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무엇을 뺄까?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85800" y="4114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75132" y="430720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18844" y="4323398"/>
              <a:ext cx="242176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무슨 순서로 넣을까?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85800" y="4800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5132" y="499300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18844" y="5009198"/>
              <a:ext cx="268427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어떤 정보를 검색할까?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85800" y="5486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678180" y="5781675"/>
            <a:ext cx="7545144" cy="293370"/>
            <a:chOff x="678180" y="5781675"/>
            <a:chExt cx="7545144" cy="293370"/>
          </a:xfrm>
        </p:grpSpPr>
        <p:sp>
          <p:nvSpPr>
            <p:cNvPr id="24" name="TextBox 24"/>
            <p:cNvSpPr txBox="1"/>
            <p:nvPr/>
          </p:nvSpPr>
          <p:spPr>
            <a:xfrm>
              <a:off x="678180" y="5781675"/>
              <a:ext cx="75451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Prompt Engineering = "어떻게 지시할까?" · Context Engineering = 위의 네 질문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6" name="Line 26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9704" y="6537960"/>
              <a:ext cx="232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LLM Application 조립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28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49101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88 · 89 · 90 · Selection · Compression · Pruning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564222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줄이기와 제거하기는 다르다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7428128" cy="410718"/>
            <a:chOff x="675132" y="1640205"/>
            <a:chExt cx="7428128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742812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관련 있는 것만 선택하고, 남은 것도 압축하거나 제거한다.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7418" y="2184082"/>
            <a:ext cx="6098844" cy="652463"/>
            <a:chOff x="677418" y="2184082"/>
            <a:chExt cx="6098844" cy="652463"/>
          </a:xfrm>
        </p:grpSpPr>
        <p:sp>
          <p:nvSpPr>
            <p:cNvPr id="8" name="TextBox 8"/>
            <p:cNvSpPr txBox="1"/>
            <p:nvPr/>
          </p:nvSpPr>
          <p:spPr>
            <a:xfrm>
              <a:off x="677418" y="2184082"/>
              <a:ext cx="60988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Context Selection — Available 100 → Relevant 12만 선택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8180" y="2543175"/>
              <a:ext cx="59431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이유 — 비용·Latency·Attention 분산 감소, 중요 근거 신호 강화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96000" y="3048000"/>
            <a:ext cx="9525" cy="2667000"/>
            <a:chOff x="6096000" y="3048000"/>
            <a:chExt cx="9525" cy="2667000"/>
          </a:xfrm>
        </p:grpSpPr>
        <p:sp>
          <p:nvSpPr>
            <p:cNvPr id="11" name="Line 11"/>
            <p:cNvSpPr/>
            <p:nvPr/>
          </p:nvSpPr>
          <p:spPr>
            <a:xfrm>
              <a:off x="6096000" y="3048000"/>
              <a:ext cx="9525" cy="2667000"/>
            </a:xfrm>
            <a:custGeom>
              <a:avLst/>
              <a:gdLst/>
              <a:ahLst/>
              <a:cxnLst/>
              <a:rect l="l" t="t" r="r" b="b"/>
              <a:pathLst>
                <a:path w="9525" h="2667000">
                  <a:moveTo>
                    <a:pt x="0" y="0"/>
                  </a:moveTo>
                  <a:lnTo>
                    <a:pt x="0" y="26670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675894" y="3162300"/>
            <a:ext cx="4962906" cy="2036445"/>
            <a:chOff x="675894" y="3162300"/>
            <a:chExt cx="4962906" cy="2036445"/>
          </a:xfrm>
        </p:grpSpPr>
        <p:sp>
          <p:nvSpPr>
            <p:cNvPr id="13" name="Line 13"/>
            <p:cNvSpPr/>
            <p:nvPr/>
          </p:nvSpPr>
          <p:spPr>
            <a:xfrm>
              <a:off x="685800" y="3162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75894" y="3408998"/>
              <a:ext cx="168212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Compression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7418" y="382238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줄인다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7418" y="4260532"/>
              <a:ext cx="16715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긴 정보를 짧게 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8180" y="4638675"/>
              <a:ext cx="33966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요약 · 핵심 문장 추출 · </a:t>
              </a:r>
              <a:r>
                <a:rPr lang="en-US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Reranking · Query-focused Summary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314694" y="3162300"/>
            <a:ext cx="5191506" cy="2036445"/>
            <a:chOff x="6314694" y="3162300"/>
            <a:chExt cx="5191506" cy="2036445"/>
          </a:xfrm>
        </p:grpSpPr>
        <p:sp>
          <p:nvSpPr>
            <p:cNvPr id="19" name="Line 19"/>
            <p:cNvSpPr/>
            <p:nvPr/>
          </p:nvSpPr>
          <p:spPr>
            <a:xfrm>
              <a:off x="6324600" y="3162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14694" y="3408998"/>
              <a:ext cx="10201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Pruning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16218" y="38223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제거한다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16218" y="4260532"/>
              <a:ext cx="24045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필요 없는 정보를 삭제 —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16980" y="4638675"/>
              <a:ext cx="28536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오래된 Tool Result · 중복 문서 · </a:t>
              </a: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실패한 Draft · 관련 없는 대화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5" name="Line 25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9704" y="6537960"/>
              <a:ext cx="232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LLM Application 조립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29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44133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91 · 92 · Context Routing · Context Budget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64770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질문에 따라 다른 소스, 한정된 예산 안에서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8918448" cy="410718"/>
            <a:chOff x="675132" y="1640205"/>
            <a:chExt cx="8918448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89184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"Prompt를 짧게 쓰는 기술"에서 "Context 전체를 설계하는 기술"로.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78942" y="2143125"/>
            <a:ext cx="7224165" cy="2223326"/>
            <a:chOff x="678942" y="2143125"/>
            <a:chExt cx="7224165" cy="2223326"/>
          </a:xfrm>
        </p:grpSpPr>
        <p:sp>
          <p:nvSpPr>
            <p:cNvPr id="8" name="Rectangle 8"/>
            <p:cNvSpPr/>
            <p:nvPr/>
          </p:nvSpPr>
          <p:spPr>
            <a:xfrm>
              <a:off x="685800" y="2438400"/>
              <a:ext cx="1905000" cy="5334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88375" y="2609850"/>
              <a:ext cx="8998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Question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2590800" y="2705100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14288">
              <a:solidFill>
                <a:srgbClr val="94A0AE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171825" y="264795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104775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0AE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3352800" y="2438400"/>
              <a:ext cx="1524000" cy="533400"/>
            </a:xfrm>
            <a:prstGeom prst="rect">
              <a:avLst/>
            </a:prstGeom>
            <a:solidFill>
              <a:srgbClr val="F4F6F8"/>
            </a:solidFill>
            <a:ln w="19050">
              <a:solidFill>
                <a:srgbClr val="2563E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754036" y="2609850"/>
              <a:ext cx="7215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Router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4876800" y="2247900"/>
              <a:ext cx="838200" cy="1485900"/>
            </a:xfrm>
            <a:custGeom>
              <a:avLst/>
              <a:gdLst/>
              <a:ahLst/>
              <a:cxnLst/>
              <a:rect l="l" t="t" r="r" b="b"/>
              <a:pathLst>
                <a:path w="838200" h="1485900">
                  <a:moveTo>
                    <a:pt x="0" y="323850"/>
                  </a:moveTo>
                  <a:lnTo>
                    <a:pt x="838200" y="0"/>
                  </a:lnTo>
                  <a:moveTo>
                    <a:pt x="0" y="419100"/>
                  </a:moveTo>
                  <a:lnTo>
                    <a:pt x="838200" y="495300"/>
                  </a:lnTo>
                  <a:moveTo>
                    <a:pt x="0" y="514350"/>
                  </a:moveTo>
                  <a:lnTo>
                    <a:pt x="838200" y="990600"/>
                  </a:lnTo>
                  <a:moveTo>
                    <a:pt x="0" y="609600"/>
                  </a:moveTo>
                  <a:lnTo>
                    <a:pt x="838200" y="1485900"/>
                  </a:lnTo>
                </a:path>
              </a:pathLst>
            </a:custGeom>
            <a:noFill/>
            <a:ln w="14288">
              <a:solidFill>
                <a:srgbClr val="94A0AE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897880" y="2143125"/>
              <a:ext cx="20052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정책 질문 → Policy DB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897880" y="2638425"/>
              <a:ext cx="18944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코드 질문 → Code DB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97880" y="3133725"/>
              <a:ext cx="15727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고객 질문 → CRM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897880" y="3629025"/>
              <a:ext cx="15171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최신 정보 → Web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8942" y="4102418"/>
              <a:ext cx="27457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Agentic RAG에서 특히 중요하다.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6656" y="4572000"/>
            <a:ext cx="10829544" cy="1236345"/>
            <a:chOff x="676656" y="4572000"/>
            <a:chExt cx="10829544" cy="1236345"/>
          </a:xfrm>
        </p:grpSpPr>
        <p:sp>
          <p:nvSpPr>
            <p:cNvPr id="21" name="Line 21"/>
            <p:cNvSpPr/>
            <p:nvPr/>
          </p:nvSpPr>
          <p:spPr>
            <a:xfrm>
              <a:off x="685800" y="45720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6656" y="4777740"/>
              <a:ext cx="19303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Context Budget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8180" y="5172075"/>
              <a:ext cx="8395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System Prompt + Conversation + RAG Documents + Tool Results + Memory + User Input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8180" y="5514975"/>
              <a:ext cx="98870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핵심 질문 — 어떤 정보에 얼마나 많은 Token을 배분할 것인가? (긴 Context → KV Cache↑ → Latency·Cost↑)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6" name="Line 26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9704" y="6537960"/>
              <a:ext cx="232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LLM Application 조립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30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93513" y="3095625"/>
            <a:ext cx="3536537" cy="430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2500" b="1" dirty="0">
                <a:solidFill>
                  <a:srgbClr val="EDF0F3"/>
                </a:solidFill>
                <a:latin typeface="Pretendard ExtraBold"/>
                <a:ea typeface="Pretendard ExtraBold"/>
                <a:cs typeface="Pretendard ExtraBold"/>
              </a:rPr>
              <a:t>10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8942" y="1428750"/>
            <a:ext cx="931591" cy="594551"/>
            <a:chOff x="678942" y="1428750"/>
            <a:chExt cx="931591" cy="594551"/>
          </a:xfrm>
        </p:grpSpPr>
        <p:sp>
          <p:nvSpPr>
            <p:cNvPr id="3" name="Rectangle 3"/>
            <p:cNvSpPr/>
            <p:nvPr/>
          </p:nvSpPr>
          <p:spPr>
            <a:xfrm>
              <a:off x="685800" y="1428750"/>
              <a:ext cx="533400" cy="47625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78942" y="1759268"/>
              <a:ext cx="9315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225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PART 10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7700" y="2409825"/>
            <a:ext cx="4236225" cy="1562100"/>
            <a:chOff x="647700" y="2409825"/>
            <a:chExt cx="4236225" cy="1562100"/>
          </a:xfrm>
        </p:grpSpPr>
        <p:sp>
          <p:nvSpPr>
            <p:cNvPr id="6" name="TextBox 6"/>
            <p:cNvSpPr txBox="1"/>
            <p:nvPr/>
          </p:nvSpPr>
          <p:spPr>
            <a:xfrm>
              <a:off x="647700" y="2409825"/>
              <a:ext cx="1953539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MCP와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47700" y="3095625"/>
              <a:ext cx="4236225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외부 도구 연결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5132" y="4211955"/>
            <a:ext cx="6088761" cy="810768"/>
            <a:chOff x="675132" y="4211955"/>
            <a:chExt cx="6088761" cy="810768"/>
          </a:xfrm>
        </p:grpSpPr>
        <p:sp>
          <p:nvSpPr>
            <p:cNvPr id="9" name="TextBox 9"/>
            <p:cNvSpPr txBox="1"/>
            <p:nvPr/>
          </p:nvSpPr>
          <p:spPr>
            <a:xfrm>
              <a:off x="675132" y="4211955"/>
              <a:ext cx="6088761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MCP는 또 하나의 AI 모델이 아니라, </a:t>
              </a: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Tool·Data Source를 연결하는 표준 인터페이스다.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6656" y="5292090"/>
            <a:ext cx="6616796" cy="352044"/>
            <a:chOff x="676656" y="5292090"/>
            <a:chExt cx="6616796" cy="352044"/>
          </a:xfrm>
        </p:grpSpPr>
        <p:sp>
          <p:nvSpPr>
            <p:cNvPr id="11" name="TextBox 11"/>
            <p:cNvSpPr txBox="1"/>
            <p:nvPr/>
          </p:nvSpPr>
          <p:spPr>
            <a:xfrm>
              <a:off x="676656" y="5292090"/>
              <a:ext cx="66167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MCP ≠ Model · MCP ≠ Agent · MCP = Connection Standard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7469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93 · 94 · 95 · API · Tool · Connector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648821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표준화 이전의 세 가지 배경 개념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10894695" cy="410718"/>
            <a:chOff x="675132" y="1640205"/>
            <a:chExt cx="10894695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1089469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서비스마다 Connector를 따로 구현하는 복잡성을 줄이는 방향에서 MCP가 등장한다.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5894" y="2438400"/>
            <a:ext cx="10830306" cy="1928051"/>
            <a:chOff x="675894" y="2438400"/>
            <a:chExt cx="10830306" cy="1928051"/>
          </a:xfrm>
        </p:grpSpPr>
        <p:grpSp>
          <p:nvGrpSpPr>
            <p:cNvPr id="12" name="Group 12"/>
            <p:cNvGrpSpPr/>
            <p:nvPr/>
          </p:nvGrpSpPr>
          <p:grpSpPr>
            <a:xfrm>
              <a:off x="675894" y="2438400"/>
              <a:ext cx="3362706" cy="1928051"/>
              <a:chOff x="675894" y="2438400"/>
              <a:chExt cx="3362706" cy="1928051"/>
            </a:xfrm>
          </p:grpSpPr>
          <p:sp>
            <p:nvSpPr>
              <p:cNvPr id="8" name="Line 8"/>
              <p:cNvSpPr/>
              <p:nvPr/>
            </p:nvSpPr>
            <p:spPr>
              <a:xfrm>
                <a:off x="685800" y="2438400"/>
                <a:ext cx="335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52800" h="9525">
                    <a:moveTo>
                      <a:pt x="0" y="0"/>
                    </a:moveTo>
                    <a:lnTo>
                      <a:pt x="3352800" y="0"/>
                    </a:lnTo>
                  </a:path>
                </a:pathLst>
              </a:custGeom>
              <a:noFill/>
              <a:ln w="19050">
                <a:solidFill>
                  <a:srgbClr val="14181F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675894" y="2685098"/>
                <a:ext cx="42754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b="1" dirty="0">
                    <a:solidFill>
                      <a:srgbClr val="14181F"/>
                    </a:solidFill>
                    <a:latin typeface="Pretendard SemiBold"/>
                    <a:ea typeface="Pretendard SemiBold"/>
                    <a:cs typeface="Pretendard SemiBold"/>
                  </a:rPr>
                  <a:t>API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678180" y="3152775"/>
                <a:ext cx="1977390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00"/>
                  </a:lnSpc>
                </a:pPr>
                <a:r>
                  <a:rPr lang="ko-KR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 xml:space="preserve">프로그램과 프로그램이 </a:t>
                </a:r>
                <a:r>
                  <a:rPr lang="ko-KR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통신하는 인터페이스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78942" y="4102418"/>
                <a:ext cx="332382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5B6472"/>
                    </a:solidFill>
                    <a:latin typeface="Pretendard"/>
                    <a:ea typeface="Pretendard"/>
                    <a:cs typeface="Pretendard"/>
                  </a:rPr>
                  <a:t>Weather · Maps · Database · LLM API</a:t>
                </a:r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4179570" y="276701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4409694" y="2438400"/>
              <a:ext cx="3362706" cy="1921478"/>
              <a:chOff x="4409694" y="2438400"/>
              <a:chExt cx="3362706" cy="1921478"/>
            </a:xfrm>
          </p:grpSpPr>
          <p:sp>
            <p:nvSpPr>
              <p:cNvPr id="14" name="Line 14"/>
              <p:cNvSpPr/>
              <p:nvPr/>
            </p:nvSpPr>
            <p:spPr>
              <a:xfrm>
                <a:off x="4419600" y="2438400"/>
                <a:ext cx="335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52800" h="9525">
                    <a:moveTo>
                      <a:pt x="0" y="0"/>
                    </a:moveTo>
                    <a:lnTo>
                      <a:pt x="3352800" y="0"/>
                    </a:lnTo>
                  </a:path>
                </a:pathLst>
              </a:custGeom>
              <a:noFill/>
              <a:ln w="19050">
                <a:solidFill>
                  <a:srgbClr val="14181F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409694" y="2685098"/>
                <a:ext cx="564905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b="1" dirty="0">
                    <a:solidFill>
                      <a:srgbClr val="14181F"/>
                    </a:solidFill>
                    <a:latin typeface="Pretendard SemiBold"/>
                    <a:ea typeface="Pretendard SemiBold"/>
                    <a:cs typeface="Pretendard SemiBold"/>
                  </a:rPr>
                  <a:t>Tool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11980" y="3152775"/>
                <a:ext cx="2234565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00"/>
                  </a:lnSpc>
                </a:pPr>
                <a:r>
                  <a:rPr lang="ko-KR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 xml:space="preserve">Agent가 실제로 호출할 수 </a:t>
                </a:r>
                <a:r>
                  <a:rPr lang="ko-KR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있는 기능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413123" y="4110514"/>
                <a:ext cx="245883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5B6472"/>
                    </a:solidFill>
                    <a:latin typeface="Consolas"/>
                    <a:ea typeface="Consolas"/>
                    <a:cs typeface="Consolas"/>
                  </a:rPr>
                  <a:t>search_web() · send_email()</a:t>
                </a:r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7913370" y="276701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8143494" y="2438400"/>
              <a:ext cx="3362706" cy="1928051"/>
              <a:chOff x="8143494" y="2438400"/>
              <a:chExt cx="3362706" cy="1928051"/>
            </a:xfrm>
          </p:grpSpPr>
          <p:sp>
            <p:nvSpPr>
              <p:cNvPr id="20" name="Line 20"/>
              <p:cNvSpPr/>
              <p:nvPr/>
            </p:nvSpPr>
            <p:spPr>
              <a:xfrm>
                <a:off x="8153400" y="2438400"/>
                <a:ext cx="335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52800" h="9525">
                    <a:moveTo>
                      <a:pt x="0" y="0"/>
                    </a:moveTo>
                    <a:lnTo>
                      <a:pt x="3352800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8143494" y="2685098"/>
                <a:ext cx="1392784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b="1" dirty="0">
                    <a:solidFill>
                      <a:srgbClr val="2563EB"/>
                    </a:solidFill>
                    <a:latin typeface="Pretendard SemiBold"/>
                    <a:ea typeface="Pretendard SemiBold"/>
                    <a:cs typeface="Pretendard SemiBold"/>
                  </a:rPr>
                  <a:t>Connector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45780" y="3152775"/>
                <a:ext cx="2091690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00"/>
                  </a:lnSpc>
                </a:pPr>
                <a:r>
                  <a:rPr lang="ko-KR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 xml:space="preserve">특정 외부 시스템을 잇는 </a:t>
                </a:r>
                <a:r>
                  <a:rPr lang="en-US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Adapter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146542" y="4102418"/>
                <a:ext cx="233086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C2410C"/>
                    </a:solidFill>
                    <a:latin typeface="Pretendard"/>
                    <a:ea typeface="Pretendard"/>
                    <a:cs typeface="Pretendard"/>
                  </a:rPr>
                  <a:t>서비스마다 따로 구현 → 복잡</a:t>
                </a:r>
              </a:p>
            </p:txBody>
          </p:sp>
        </p:grpSp>
      </p:grpSp>
      <p:grpSp>
        <p:nvGrpSpPr>
          <p:cNvPr id="28" name="Group 28"/>
          <p:cNvGrpSpPr/>
          <p:nvPr/>
        </p:nvGrpSpPr>
        <p:grpSpPr>
          <a:xfrm>
            <a:off x="678180" y="4876800"/>
            <a:ext cx="10828020" cy="550545"/>
            <a:chOff x="678180" y="4876800"/>
            <a:chExt cx="10828020" cy="550545"/>
          </a:xfrm>
        </p:grpSpPr>
        <p:sp>
          <p:nvSpPr>
            <p:cNvPr id="26" name="Line 26"/>
            <p:cNvSpPr/>
            <p:nvPr/>
          </p:nvSpPr>
          <p:spPr>
            <a:xfrm>
              <a:off x="685800" y="4876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8180" y="5133975"/>
              <a:ext cx="77972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API가 「서비스 연결 규약」이면 Tool은 「Agent 관점의 실행 가능한 기능 단위」다.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9" name="Line 29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9704" y="6537960"/>
              <a:ext cx="232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LLM Application 조립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32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8963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96 · MCP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510611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Model Context Protocol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9407042" cy="410718"/>
            <a:chOff x="675132" y="1678305"/>
            <a:chExt cx="9407042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94070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외부 기능·데이터를 일정한 방식으로 노출하고 발견하도록 하는 프로토콜.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238500" y="2514600"/>
            <a:ext cx="5715000" cy="2895600"/>
            <a:chOff x="3238500" y="2514600"/>
            <a:chExt cx="5715000" cy="2895600"/>
          </a:xfrm>
        </p:grpSpPr>
        <p:sp>
          <p:nvSpPr>
            <p:cNvPr id="8" name="Rectangle 8"/>
            <p:cNvSpPr/>
            <p:nvPr/>
          </p:nvSpPr>
          <p:spPr>
            <a:xfrm>
              <a:off x="3238500" y="2514600"/>
              <a:ext cx="5715000" cy="6858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295179" y="2739390"/>
              <a:ext cx="16016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AI Application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13904" y="32946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↓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238500" y="3619500"/>
              <a:ext cx="5715000" cy="685800"/>
            </a:xfrm>
            <a:prstGeom prst="rect">
              <a:avLst/>
            </a:prstGeom>
            <a:solidFill>
              <a:srgbClr val="F4F6F8"/>
            </a:solidFill>
            <a:ln w="19050">
              <a:solidFill>
                <a:srgbClr val="2563E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816700" y="3828098"/>
              <a:ext cx="55859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MCP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13904" y="43995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↓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238500" y="4724400"/>
              <a:ext cx="5715000" cy="6858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118546" y="4949190"/>
              <a:ext cx="39549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Tools / Resources / Data Sources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76656" y="5829300"/>
            <a:ext cx="10829544" cy="538734"/>
            <a:chOff x="676656" y="5829300"/>
            <a:chExt cx="10829544" cy="538734"/>
          </a:xfrm>
        </p:grpSpPr>
        <p:sp>
          <p:nvSpPr>
            <p:cNvPr id="17" name="Line 17"/>
            <p:cNvSpPr/>
            <p:nvPr/>
          </p:nvSpPr>
          <p:spPr>
            <a:xfrm>
              <a:off x="685800" y="58293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6656" y="6015990"/>
              <a:ext cx="69467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MCP ≠ Model · MCP ≠ Agent · MCP = Connection Standard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32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LLM Application 조립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33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2427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97 · 98 · MCP Host · MCP Client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24514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애플리케이션 환경과 통신 구성 요소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9535225" cy="410718"/>
            <a:chOff x="675132" y="1640205"/>
            <a:chExt cx="9535225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953522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Host 안의 Client가 Server와 통신하며 연결·발견·접근·호출을 담당한다.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43000" y="2400300"/>
            <a:ext cx="3810000" cy="3048000"/>
            <a:chOff x="1143000" y="2400300"/>
            <a:chExt cx="3810000" cy="3048000"/>
          </a:xfrm>
        </p:grpSpPr>
        <p:sp>
          <p:nvSpPr>
            <p:cNvPr id="8" name="Rectangle 8"/>
            <p:cNvSpPr/>
            <p:nvPr/>
          </p:nvSpPr>
          <p:spPr>
            <a:xfrm>
              <a:off x="1143000" y="2400300"/>
              <a:ext cx="3810000" cy="30480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62456" y="2586990"/>
              <a:ext cx="11608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MCP Host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64742" y="2959418"/>
              <a:ext cx="1788224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en-US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Desktop AI App · IDE · </a:t>
              </a:r>
              <a:r>
                <a:rPr lang="en-US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Agent Platform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428750" y="3848100"/>
              <a:ext cx="3238500" cy="1333500"/>
            </a:xfrm>
            <a:prstGeom prst="rect">
              <a:avLst/>
            </a:prstGeom>
            <a:solidFill>
              <a:srgbClr val="F4F6F8"/>
            </a:solidFill>
            <a:ln w="19050">
              <a:solidFill>
                <a:srgbClr val="2563E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648206" y="4034790"/>
              <a:ext cx="13094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MCP Client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50492" y="4426268"/>
              <a:ext cx="2508314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ko-KR" sz="13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Server 연결 · Tool Discovery · </a:t>
              </a:r>
              <a:r>
                <a:rPr lang="ko-KR" sz="13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Resource 접근 · Tool 호출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0" y="3429000"/>
            <a:ext cx="3429000" cy="1428750"/>
            <a:chOff x="7620000" y="3429000"/>
            <a:chExt cx="3429000" cy="1428750"/>
          </a:xfrm>
        </p:grpSpPr>
        <p:sp>
          <p:nvSpPr>
            <p:cNvPr id="15" name="Rectangle 15"/>
            <p:cNvSpPr/>
            <p:nvPr/>
          </p:nvSpPr>
          <p:spPr>
            <a:xfrm>
              <a:off x="7620000" y="3429000"/>
              <a:ext cx="3429000" cy="1428750"/>
            </a:xfrm>
            <a:prstGeom prst="rect">
              <a:avLst/>
            </a:prstGeom>
            <a:noFill/>
            <a:ln w="14288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839456" y="3615690"/>
              <a:ext cx="14398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MCP Server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41742" y="4007168"/>
              <a:ext cx="2268284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Tool · Resource · Prompt를 </a:t>
              </a:r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제공하는 외부 서비스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667250" y="3759518"/>
            <a:ext cx="2857500" cy="1407033"/>
            <a:chOff x="4667250" y="3759518"/>
            <a:chExt cx="2857500" cy="1407033"/>
          </a:xfrm>
        </p:grpSpPr>
        <p:sp>
          <p:nvSpPr>
            <p:cNvPr id="19" name="Freeform 19"/>
            <p:cNvSpPr/>
            <p:nvPr/>
          </p:nvSpPr>
          <p:spPr>
            <a:xfrm>
              <a:off x="4667250" y="3905250"/>
              <a:ext cx="2857500" cy="400050"/>
            </a:xfrm>
            <a:custGeom>
              <a:avLst/>
              <a:gdLst/>
              <a:ahLst/>
              <a:cxnLst/>
              <a:rect l="l" t="t" r="r" b="b"/>
              <a:pathLst>
                <a:path w="2857500" h="400050">
                  <a:moveTo>
                    <a:pt x="0" y="400050"/>
                  </a:moveTo>
                  <a:lnTo>
                    <a:pt x="2857500" y="0"/>
                  </a:lnTo>
                </a:path>
              </a:pathLst>
            </a:custGeom>
            <a:noFill/>
            <a:ln w="14288">
              <a:solidFill>
                <a:srgbClr val="94A0AE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7419975" y="38957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9525"/>
                  </a:moveTo>
                  <a:lnTo>
                    <a:pt x="0" y="0"/>
                  </a:lnTo>
                  <a:lnTo>
                    <a:pt x="38100" y="104775"/>
                  </a:lnTo>
                  <a:close/>
                </a:path>
              </a:pathLst>
            </a:custGeom>
            <a:solidFill>
              <a:srgbClr val="94A0A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621169" y="3759518"/>
              <a:ext cx="9496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연결 · 발견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4667250" y="4572000"/>
              <a:ext cx="2857500" cy="400050"/>
            </a:xfrm>
            <a:custGeom>
              <a:avLst/>
              <a:gdLst/>
              <a:ahLst/>
              <a:cxnLst/>
              <a:rect l="l" t="t" r="r" b="b"/>
              <a:pathLst>
                <a:path w="2857500" h="400050">
                  <a:moveTo>
                    <a:pt x="2857500" y="0"/>
                  </a:moveTo>
                  <a:lnTo>
                    <a:pt x="0" y="400050"/>
                  </a:lnTo>
                </a:path>
              </a:pathLst>
            </a:custGeom>
            <a:noFill/>
            <a:ln w="14288">
              <a:solidFill>
                <a:srgbClr val="94A0AE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4667250" y="48672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104775"/>
                  </a:moveTo>
                  <a:lnTo>
                    <a:pt x="104775" y="104775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94A0AE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407200" y="4902518"/>
              <a:ext cx="13776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Tool 호출 · 결과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6" name="Line 26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9704" y="6537960"/>
              <a:ext cx="232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LLM Application 조립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34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46984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99 · 100 · 101 · MCP Server · Tool · Resource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66492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외부 기능과 데이터를 MCP 규격으로 제공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4401750" cy="410718"/>
            <a:chOff x="675132" y="1640205"/>
            <a:chExt cx="4401750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44017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Tool은 행동, Resource는 정보다.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85800" y="2133600"/>
            <a:ext cx="10820400" cy="3200400"/>
            <a:chOff x="685800" y="2133600"/>
            <a:chExt cx="10820400" cy="3200400"/>
          </a:xfrm>
        </p:grpSpPr>
        <p:sp>
          <p:nvSpPr>
            <p:cNvPr id="8" name="Rectangle 8"/>
            <p:cNvSpPr/>
            <p:nvPr/>
          </p:nvSpPr>
          <p:spPr>
            <a:xfrm>
              <a:off x="685800" y="2286000"/>
              <a:ext cx="10820400" cy="3048000"/>
            </a:xfrm>
            <a:prstGeom prst="rect">
              <a:avLst/>
            </a:prstGeom>
            <a:noFill/>
            <a:ln w="14288">
              <a:solidFill>
                <a:srgbClr val="2563EB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876300" y="2133600"/>
              <a:ext cx="1905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6018" y="2184082"/>
              <a:ext cx="13198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MCP Server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59942" y="2635568"/>
              <a:ext cx="39519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Google Drive · Database · GitHub MCP Server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066800" y="3009900"/>
              <a:ext cx="4953000" cy="2095500"/>
              <a:chOff x="1066800" y="3009900"/>
              <a:chExt cx="4953000" cy="20955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1066800" y="3009900"/>
                <a:ext cx="4953000" cy="20955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286256" y="3196590"/>
                <a:ext cx="192258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b="1" dirty="0">
                    <a:solidFill>
                      <a:srgbClr val="14181F"/>
                    </a:solidFill>
                    <a:latin typeface="Pretendard SemiBold"/>
                    <a:ea typeface="Pretendard SemiBold"/>
                    <a:cs typeface="Pretendard SemiBold"/>
                  </a:rPr>
                  <a:t>MCP Tool — 행동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287780" y="3609975"/>
                <a:ext cx="337851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Server가 제공하는 실행 가능한 기능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88542" y="4045268"/>
                <a:ext cx="248533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5B6472"/>
                    </a:solidFill>
                    <a:latin typeface="Consolas"/>
                    <a:ea typeface="Consolas"/>
                    <a:cs typeface="Consolas"/>
                  </a:rPr>
                  <a:t>search_files · create_issue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88542" y="4311968"/>
                <a:ext cx="277611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5B6472"/>
                    </a:solidFill>
                    <a:latin typeface="Consolas"/>
                    <a:ea typeface="Consolas"/>
                    <a:cs typeface="Consolas"/>
                  </a:rPr>
                  <a:t>query_database · get_calendar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88542" y="4731068"/>
                <a:ext cx="308913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Agent는 Client를 통해 발견하고 호출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172200" y="3009900"/>
              <a:ext cx="4953000" cy="2095500"/>
              <a:chOff x="6172200" y="3009900"/>
              <a:chExt cx="4953000" cy="20955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6172200" y="3009900"/>
                <a:ext cx="4953000" cy="2095500"/>
              </a:xfrm>
              <a:prstGeom prst="rect">
                <a:avLst/>
              </a:prstGeom>
              <a:solidFill>
                <a:srgbClr val="F4F6F8"/>
              </a:solidFill>
              <a:ln w="14288">
                <a:solidFill>
                  <a:srgbClr val="E2E6EB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6391656" y="3196590"/>
                <a:ext cx="253707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b="1" dirty="0">
                    <a:solidFill>
                      <a:srgbClr val="14181F"/>
                    </a:solidFill>
                    <a:latin typeface="Pretendard SemiBold"/>
                    <a:ea typeface="Pretendard SemiBold"/>
                    <a:cs typeface="Pretendard SemiBold"/>
                  </a:rPr>
                  <a:t>MCP Resource — 정보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393180" y="3609975"/>
                <a:ext cx="314096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AI가 읽을 수 있는 외부 정보 자원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393942" y="4045268"/>
                <a:ext cx="30568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5B6472"/>
                    </a:solidFill>
                    <a:latin typeface="Pretendard"/>
                    <a:ea typeface="Pretendard"/>
                    <a:cs typeface="Pretendard"/>
                  </a:rPr>
                  <a:t>Document · File · Database Record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393942" y="4311968"/>
                <a:ext cx="330051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5B6472"/>
                    </a:solidFill>
                    <a:latin typeface="Pretendard"/>
                    <a:ea typeface="Pretendard"/>
                    <a:cs typeface="Pretendard"/>
                  </a:rPr>
                  <a:t>Knowledge Base · Repository Content</a:t>
                </a:r>
              </a:p>
            </p:txBody>
          </p:sp>
        </p:grpSp>
      </p:grpSp>
      <p:grpSp>
        <p:nvGrpSpPr>
          <p:cNvPr id="27" name="Group 27"/>
          <p:cNvGrpSpPr/>
          <p:nvPr/>
        </p:nvGrpSpPr>
        <p:grpSpPr>
          <a:xfrm>
            <a:off x="678180" y="5667375"/>
            <a:ext cx="5130165" cy="293370"/>
            <a:chOff x="678180" y="5667375"/>
            <a:chExt cx="5130165" cy="293370"/>
          </a:xfrm>
        </p:grpSpPr>
        <p:sp>
          <p:nvSpPr>
            <p:cNvPr id="26" name="TextBox 26"/>
            <p:cNvSpPr txBox="1"/>
            <p:nvPr/>
          </p:nvSpPr>
          <p:spPr>
            <a:xfrm>
              <a:off x="678180" y="5667375"/>
              <a:ext cx="51301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MCP Server가 담는 것 — Tools · Resources · Prompts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8" name="Line 28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9704" y="6537960"/>
              <a:ext cx="232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LLM Application 조립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35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644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102 · Tool Discovery · MCP 전체 구조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38054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코드에 등록이 아니라, 연결하면 발견된다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6287719" cy="410718"/>
            <a:chOff x="675132" y="1640205"/>
            <a:chExt cx="6287719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628771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통합 비용을 낮추고 Plugin Ecosystem을 만든다.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77418" y="2238375"/>
            <a:ext cx="7383929" cy="1131570"/>
            <a:chOff x="677418" y="2238375"/>
            <a:chExt cx="7383929" cy="1131570"/>
          </a:xfrm>
        </p:grpSpPr>
        <p:sp>
          <p:nvSpPr>
            <p:cNvPr id="8" name="TextBox 8"/>
            <p:cNvSpPr txBox="1"/>
            <p:nvPr/>
          </p:nvSpPr>
          <p:spPr>
            <a:xfrm>
              <a:off x="678180" y="2238375"/>
              <a:ext cx="28822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기존 — Tool을 코드에 직접 등록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7418" y="2641282"/>
              <a:ext cx="73839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MCP — Server 연결 → Available Tools Discovery → Agent가 Tool 인식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8180" y="3076575"/>
              <a:ext cx="69422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장점 — Tool 확장성 · 통합 비용 감소 · 표준 인터페이스 · Plugin Ecosystem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76656" y="3619500"/>
            <a:ext cx="10829544" cy="2087023"/>
            <a:chOff x="676656" y="3619500"/>
            <a:chExt cx="10829544" cy="2087023"/>
          </a:xfrm>
        </p:grpSpPr>
        <p:sp>
          <p:nvSpPr>
            <p:cNvPr id="12" name="Line 12"/>
            <p:cNvSpPr/>
            <p:nvPr/>
          </p:nvSpPr>
          <p:spPr>
            <a:xfrm>
              <a:off x="685800" y="3619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6656" y="3844290"/>
              <a:ext cx="17522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MCP 전체 구조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1143000" y="4305300"/>
              <a:ext cx="9629013" cy="1401223"/>
              <a:chOff x="1143000" y="4305300"/>
              <a:chExt cx="9629013" cy="1401223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1143000" y="4305300"/>
                <a:ext cx="1905000" cy="4953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521131" y="4456271"/>
                <a:ext cx="114873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LLM / Agent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191256" y="4415790"/>
                <a:ext cx="15156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→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3524250" y="4305300"/>
                <a:ext cx="1714500" cy="4953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3943528" y="4456271"/>
                <a:ext cx="87594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MCP Host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382006" y="4415790"/>
                <a:ext cx="15156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→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5715000" y="4305300"/>
                <a:ext cx="1714500" cy="4953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078279" y="4456271"/>
                <a:ext cx="987943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MCP Client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572756" y="4415790"/>
                <a:ext cx="15156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→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7905750" y="4305300"/>
                <a:ext cx="1714500" cy="495300"/>
              </a:xfrm>
              <a:prstGeom prst="rect">
                <a:avLst/>
              </a:prstGeom>
              <a:solidFill>
                <a:srgbClr val="F4F6F8"/>
              </a:solidFill>
              <a:ln w="19050">
                <a:solidFill>
                  <a:srgbClr val="2563EB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8193069" y="4456271"/>
                <a:ext cx="113986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2563EB"/>
                    </a:solidFill>
                    <a:latin typeface="Pretendard SemiBold"/>
                    <a:ea typeface="Pretendard SemiBold"/>
                    <a:cs typeface="Pretendard SemiBold"/>
                  </a:rPr>
                  <a:t>MCP Server</a:t>
                </a:r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7239000" y="4800600"/>
                <a:ext cx="304800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533400">
                    <a:moveTo>
                      <a:pt x="1524000" y="0"/>
                    </a:moveTo>
                    <a:lnTo>
                      <a:pt x="1524000" y="304800"/>
                    </a:lnTo>
                    <a:moveTo>
                      <a:pt x="0" y="304800"/>
                    </a:moveTo>
                    <a:lnTo>
                      <a:pt x="3048000" y="304800"/>
                    </a:lnTo>
                    <a:moveTo>
                      <a:pt x="0" y="304800"/>
                    </a:moveTo>
                    <a:lnTo>
                      <a:pt x="0" y="533400"/>
                    </a:lnTo>
                    <a:moveTo>
                      <a:pt x="3048000" y="304800"/>
                    </a:moveTo>
                    <a:lnTo>
                      <a:pt x="3048000" y="533400"/>
                    </a:lnTo>
                  </a:path>
                </a:pathLst>
              </a:cu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989254" y="5427821"/>
                <a:ext cx="49949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Tools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801987" y="5427821"/>
                <a:ext cx="970026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Resources</a:t>
                </a:r>
              </a:p>
            </p:txBody>
          </p:sp>
        </p:grpSp>
      </p:grpSp>
      <p:grpSp>
        <p:nvGrpSpPr>
          <p:cNvPr id="33" name="Group 3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30" name="Line 3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9704" y="6537960"/>
              <a:ext cx="232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LLM Application 조립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36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93513" y="3095625"/>
            <a:ext cx="3536537" cy="430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2500" b="1" dirty="0">
                <a:solidFill>
                  <a:srgbClr val="EDF0F3"/>
                </a:solidFill>
                <a:latin typeface="Pretendard ExtraBold"/>
                <a:ea typeface="Pretendard ExtraBold"/>
                <a:cs typeface="Pretendard ExtraBold"/>
              </a:rPr>
              <a:t>11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8942" y="1428750"/>
            <a:ext cx="931591" cy="594551"/>
            <a:chOff x="678942" y="1428750"/>
            <a:chExt cx="931591" cy="594551"/>
          </a:xfrm>
        </p:grpSpPr>
        <p:sp>
          <p:nvSpPr>
            <p:cNvPr id="3" name="Rectangle 3"/>
            <p:cNvSpPr/>
            <p:nvPr/>
          </p:nvSpPr>
          <p:spPr>
            <a:xfrm>
              <a:off x="685800" y="1428750"/>
              <a:ext cx="533400" cy="47625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78942" y="1759268"/>
              <a:ext cx="9315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225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PART 11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7700" y="2409825"/>
            <a:ext cx="5508384" cy="1562100"/>
            <a:chOff x="647700" y="2409825"/>
            <a:chExt cx="5508384" cy="1562100"/>
          </a:xfrm>
        </p:grpSpPr>
        <p:sp>
          <p:nvSpPr>
            <p:cNvPr id="6" name="TextBox 6"/>
            <p:cNvSpPr txBox="1"/>
            <p:nvPr/>
          </p:nvSpPr>
          <p:spPr>
            <a:xfrm>
              <a:off x="647700" y="2409825"/>
              <a:ext cx="3736962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Multi-Agent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47700" y="3095625"/>
              <a:ext cx="5508384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역할을 나누는 방식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5132" y="4211955"/>
            <a:ext cx="7128891" cy="810768"/>
            <a:chOff x="675132" y="4211955"/>
            <a:chExt cx="7128891" cy="810768"/>
          </a:xfrm>
        </p:grpSpPr>
        <p:sp>
          <p:nvSpPr>
            <p:cNvPr id="9" name="TextBox 9"/>
            <p:cNvSpPr txBox="1"/>
            <p:nvPr/>
          </p:nvSpPr>
          <p:spPr>
            <a:xfrm>
              <a:off x="675132" y="4211955"/>
              <a:ext cx="7128891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"Agent 수가 많을수록 좋다"가 아니라, </a:t>
              </a: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역할 분리가 이점이 되는 복합 업무를 구조화하는 방식이다.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6656" y="5292090"/>
            <a:ext cx="6250534" cy="694944"/>
            <a:chOff x="676656" y="5292090"/>
            <a:chExt cx="6250534" cy="694944"/>
          </a:xfrm>
        </p:grpSpPr>
        <p:sp>
          <p:nvSpPr>
            <p:cNvPr id="11" name="TextBox 11"/>
            <p:cNvSpPr txBox="1"/>
            <p:nvPr/>
          </p:nvSpPr>
          <p:spPr>
            <a:xfrm>
              <a:off x="676656" y="5292090"/>
              <a:ext cx="50705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역할 전문화·작업 분리·평가 구조화의 이점과,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6656" y="5634990"/>
              <a:ext cx="62505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Token Cost·통신 복잡성·오류 전파의 비용을 함께 본다.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25986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103 · Multi-Agent System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693346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역할을 나누면 얻는 것과 치르는 것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9899264" cy="410718"/>
            <a:chOff x="675132" y="1640205"/>
            <a:chExt cx="9899264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98992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여러 Agent가 역할을 나누어 하나의 목표를 수행하되, 비용도 함께 늘어난다.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78180" y="2238375"/>
            <a:ext cx="5857486" cy="293370"/>
            <a:chOff x="678180" y="2238375"/>
            <a:chExt cx="5857486" cy="293370"/>
          </a:xfrm>
        </p:grpSpPr>
        <p:sp>
          <p:nvSpPr>
            <p:cNvPr id="8" name="TextBox 8"/>
            <p:cNvSpPr txBox="1"/>
            <p:nvPr/>
          </p:nvSpPr>
          <p:spPr>
            <a:xfrm>
              <a:off x="678180" y="2238375"/>
              <a:ext cx="5857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B6472"/>
                  </a:solidFill>
                  <a:latin typeface="Consolas"/>
                  <a:ea typeface="Consolas"/>
                  <a:cs typeface="Consolas"/>
                </a:rPr>
                <a:t>Research Agent → Writing Agent → Critic Agent → Final Agent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0" y="2819400"/>
            <a:ext cx="9525" cy="2895600"/>
            <a:chOff x="6096000" y="2819400"/>
            <a:chExt cx="9525" cy="2895600"/>
          </a:xfrm>
        </p:grpSpPr>
        <p:sp>
          <p:nvSpPr>
            <p:cNvPr id="10" name="Line 10"/>
            <p:cNvSpPr/>
            <p:nvPr/>
          </p:nvSpPr>
          <p:spPr>
            <a:xfrm>
              <a:off x="6096000" y="2819400"/>
              <a:ext cx="9525" cy="2895600"/>
            </a:xfrm>
            <a:custGeom>
              <a:avLst/>
              <a:gdLst/>
              <a:ahLst/>
              <a:cxnLst/>
              <a:rect l="l" t="t" r="r" b="b"/>
              <a:pathLst>
                <a:path w="9525" h="2895600">
                  <a:moveTo>
                    <a:pt x="0" y="0"/>
                  </a:moveTo>
                  <a:lnTo>
                    <a:pt x="0" y="28956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675894" y="2951798"/>
            <a:ext cx="4924806" cy="2044636"/>
            <a:chOff x="675894" y="2951798"/>
            <a:chExt cx="4924806" cy="2044636"/>
          </a:xfrm>
        </p:grpSpPr>
        <p:sp>
          <p:nvSpPr>
            <p:cNvPr id="12" name="TextBox 12"/>
            <p:cNvSpPr txBox="1"/>
            <p:nvPr/>
          </p:nvSpPr>
          <p:spPr>
            <a:xfrm>
              <a:off x="675894" y="2951798"/>
              <a:ext cx="5710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1E7F4F"/>
                  </a:solidFill>
                  <a:latin typeface="Pretendard SemiBold"/>
                  <a:ea typeface="Pretendard SemiBold"/>
                  <a:cs typeface="Pretendard SemiBold"/>
                </a:rPr>
                <a:t>장점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85800" y="3352800"/>
              <a:ext cx="4914900" cy="9525"/>
            </a:xfrm>
            <a:custGeom>
              <a:avLst/>
              <a:gdLst/>
              <a:ahLst/>
              <a:cxnLst/>
              <a:rect l="l" t="t" r="r" b="b"/>
              <a:pathLst>
                <a:path w="4914900" h="9525">
                  <a:moveTo>
                    <a:pt x="0" y="0"/>
                  </a:moveTo>
                  <a:lnTo>
                    <a:pt x="49149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76656" y="3653790"/>
              <a:ext cx="13025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역할 전문화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6656" y="4149090"/>
              <a:ext cx="10602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작업 분리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6656" y="4644390"/>
              <a:ext cx="13025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평가 구조화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67094" y="2951798"/>
            <a:ext cx="5039106" cy="2044636"/>
            <a:chOff x="6467094" y="2951798"/>
            <a:chExt cx="5039106" cy="2044636"/>
          </a:xfrm>
        </p:grpSpPr>
        <p:sp>
          <p:nvSpPr>
            <p:cNvPr id="18" name="TextBox 18"/>
            <p:cNvSpPr txBox="1"/>
            <p:nvPr/>
          </p:nvSpPr>
          <p:spPr>
            <a:xfrm>
              <a:off x="6467094" y="2951798"/>
              <a:ext cx="5710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C2410C"/>
                  </a:solidFill>
                  <a:latin typeface="Pretendard SemiBold"/>
                  <a:ea typeface="Pretendard SemiBold"/>
                  <a:cs typeface="Pretendard SemiBold"/>
                </a:rPr>
                <a:t>단점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477000" y="3352800"/>
              <a:ext cx="5029200" cy="9525"/>
            </a:xfrm>
            <a:custGeom>
              <a:avLst/>
              <a:gdLst/>
              <a:ahLst/>
              <a:cxnLst/>
              <a:rect l="l" t="t" r="r" b="b"/>
              <a:pathLst>
                <a:path w="5029200" h="9525">
                  <a:moveTo>
                    <a:pt x="0" y="0"/>
                  </a:moveTo>
                  <a:lnTo>
                    <a:pt x="50292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67856" y="3653790"/>
              <a:ext cx="18707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Token Cost 증가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67856" y="4149090"/>
              <a:ext cx="26231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통신 복잡성 · 오류 전파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7856" y="4644390"/>
              <a:ext cx="2063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Coordination 문제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4" name="Line 24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9704" y="6537960"/>
              <a:ext cx="232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LLM Application 조립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38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9169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104 · 105 · Supervisor · Worker Agent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49003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작업을 배정하는 역할, 수행하는 역할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7769104" cy="410718"/>
            <a:chOff x="675132" y="1640205"/>
            <a:chExt cx="7769104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776910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좋은 설계에서는 Worker 역할이 겹치지 않게 명확해야 한다.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19250" y="2362200"/>
            <a:ext cx="8953500" cy="1905000"/>
            <a:chOff x="1619250" y="2362200"/>
            <a:chExt cx="8953500" cy="1905000"/>
          </a:xfrm>
        </p:grpSpPr>
        <p:sp>
          <p:nvSpPr>
            <p:cNvPr id="8" name="Rectangle 8"/>
            <p:cNvSpPr/>
            <p:nvPr/>
          </p:nvSpPr>
          <p:spPr>
            <a:xfrm>
              <a:off x="4476750" y="2362200"/>
              <a:ext cx="3238500" cy="609600"/>
            </a:xfrm>
            <a:prstGeom prst="rect">
              <a:avLst/>
            </a:prstGeom>
            <a:solidFill>
              <a:srgbClr val="F4F6F8"/>
            </a:solidFill>
            <a:ln w="19050">
              <a:solidFill>
                <a:srgbClr val="2563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471926" y="2565082"/>
              <a:ext cx="12481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Supervisor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2762250" y="2971800"/>
              <a:ext cx="6667500" cy="609600"/>
            </a:xfrm>
            <a:custGeom>
              <a:avLst/>
              <a:gdLst/>
              <a:ahLst/>
              <a:cxnLst/>
              <a:rect l="l" t="t" r="r" b="b"/>
              <a:pathLst>
                <a:path w="6667500" h="609600">
                  <a:moveTo>
                    <a:pt x="3333750" y="0"/>
                  </a:moveTo>
                  <a:lnTo>
                    <a:pt x="3333750" y="304800"/>
                  </a:lnTo>
                  <a:moveTo>
                    <a:pt x="0" y="304800"/>
                  </a:moveTo>
                  <a:lnTo>
                    <a:pt x="6667500" y="304800"/>
                  </a:lnTo>
                  <a:moveTo>
                    <a:pt x="0" y="304800"/>
                  </a:moveTo>
                  <a:lnTo>
                    <a:pt x="0" y="609600"/>
                  </a:lnTo>
                  <a:moveTo>
                    <a:pt x="3333750" y="304800"/>
                  </a:moveTo>
                  <a:lnTo>
                    <a:pt x="3333750" y="609600"/>
                  </a:lnTo>
                  <a:moveTo>
                    <a:pt x="6667500" y="304800"/>
                  </a:moveTo>
                  <a:lnTo>
                    <a:pt x="6667500" y="6096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619250" y="3581400"/>
              <a:ext cx="2286000" cy="685800"/>
              <a:chOff x="1619250" y="3581400"/>
              <a:chExt cx="2286000" cy="6858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1619250" y="3581400"/>
                <a:ext cx="2286000" cy="6858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835800" y="3812858"/>
                <a:ext cx="18529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Research Worker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4953000" y="3581400"/>
              <a:ext cx="2286000" cy="685800"/>
              <a:chOff x="4953000" y="3581400"/>
              <a:chExt cx="2286000" cy="6858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4953000" y="3581400"/>
                <a:ext cx="2286000" cy="6858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5413705" y="3812858"/>
                <a:ext cx="136459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Data Worker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8286750" y="3581400"/>
              <a:ext cx="2286000" cy="685800"/>
              <a:chOff x="8286750" y="3581400"/>
              <a:chExt cx="2286000" cy="6858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8286750" y="3581400"/>
                <a:ext cx="2286000" cy="6858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597957" y="3812858"/>
                <a:ext cx="166358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Writing Worker</a:t>
                </a:r>
              </a:p>
            </p:txBody>
          </p:sp>
        </p:grpSp>
      </p:grpSp>
      <p:grpSp>
        <p:nvGrpSpPr>
          <p:cNvPr id="24" name="Group 24"/>
          <p:cNvGrpSpPr/>
          <p:nvPr/>
        </p:nvGrpSpPr>
        <p:grpSpPr>
          <a:xfrm>
            <a:off x="677418" y="4762500"/>
            <a:ext cx="10828782" cy="944689"/>
            <a:chOff x="677418" y="4762500"/>
            <a:chExt cx="10828782" cy="944689"/>
          </a:xfrm>
        </p:grpSpPr>
        <p:sp>
          <p:nvSpPr>
            <p:cNvPr id="21" name="Line 21"/>
            <p:cNvSpPr/>
            <p:nvPr/>
          </p:nvSpPr>
          <p:spPr>
            <a:xfrm>
              <a:off x="685800" y="4762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7418" y="5003482"/>
              <a:ext cx="68118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2430"/>
                  </a:solidFill>
                  <a:latin typeface="Pretendard SemiBold"/>
                  <a:ea typeface="Pretendard SemiBold"/>
                  <a:cs typeface="Pretendard SemiBold"/>
                </a:rPr>
                <a:t>Supervisor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 — 작업 분배 · 다음 Agent 선택 · 종료 판단 · 결과 취합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7418" y="5384482"/>
              <a:ext cx="81416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2430"/>
                  </a:solidFill>
                  <a:latin typeface="Pretendard SemiBold"/>
                  <a:ea typeface="Pretendard SemiBold"/>
                  <a:cs typeface="Pretendard SemiBold"/>
                </a:rPr>
                <a:t>Worker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 — 특정 하위 과업을 역할별로 수행 (Research · Code · Data · Writing)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5" name="Line 25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9704" y="6537960"/>
              <a:ext cx="232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LLM Application 조립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39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42985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106 · 107 · Agent Handoff · Orchestrator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49003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작업을 넘기기, 전체 실행을 조정하기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8709341" cy="410718"/>
            <a:chOff x="675132" y="1640205"/>
            <a:chExt cx="8709341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870934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Handoff는 작업을 넘기고, Orchestrator는 전체 실행을 조정한다.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429000"/>
            <a:chOff x="6096000" y="2286000"/>
            <a:chExt cx="9525" cy="34290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75894" y="2400300"/>
            <a:ext cx="4962906" cy="2512695"/>
            <a:chOff x="675894" y="2400300"/>
            <a:chExt cx="4962906" cy="251269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5894" y="2646998"/>
              <a:ext cx="193963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Agent Handoff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7418" y="3098482"/>
              <a:ext cx="2960942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General Agent → "법률 질문" → </a:t>
              </a:r>
              <a:r>
                <a:rPr lang="en-US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Legal Agent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990975"/>
              <a:ext cx="9269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함께 전달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180" y="4352925"/>
              <a:ext cx="2872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en-US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Task · Context · State · </a:t>
              </a:r>
              <a:r>
                <a:rPr lang="en-US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Previous Results · Constraints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314694" y="2400300"/>
            <a:ext cx="5191506" cy="2512695"/>
            <a:chOff x="6314694" y="2400300"/>
            <a:chExt cx="5191506" cy="2512695"/>
          </a:xfrm>
        </p:grpSpPr>
        <p:sp>
          <p:nvSpPr>
            <p:cNvPr id="16" name="Line 16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14694" y="2646998"/>
              <a:ext cx="190296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Orchestrator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218" y="3098482"/>
              <a:ext cx="244754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여러 Agent와 Tool의 실행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순서를 조정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16980" y="3990975"/>
              <a:ext cx="20515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Supervisor보다 넓게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16980" y="4352925"/>
              <a:ext cx="31203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en-US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Agent · Tool · Workflow · State · </a:t>
              </a:r>
              <a:r>
                <a:rPr lang="en-US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Retry · Evaluation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2" name="Line 22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9704" y="6537960"/>
              <a:ext cx="232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LLM Application 조립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40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26829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108 ~ 111 · 역할 특화 Agent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904304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Research · Retrieval · Critic · Evaluation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5972213" cy="410718"/>
            <a:chOff x="675132" y="1640205"/>
            <a:chExt cx="5972213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597221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역할별 특화는 작업 품질과 평가를 구조화한다.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76656" y="2328862"/>
            <a:ext cx="2919826" cy="1847089"/>
            <a:chOff x="676656" y="2328862"/>
            <a:chExt cx="2919826" cy="1847089"/>
          </a:xfrm>
        </p:grpSpPr>
        <p:grpSp>
          <p:nvGrpSpPr>
            <p:cNvPr id="10" name="Group 10"/>
            <p:cNvGrpSpPr/>
            <p:nvPr/>
          </p:nvGrpSpPr>
          <p:grpSpPr>
            <a:xfrm>
              <a:off x="728662" y="2328862"/>
              <a:ext cx="257175" cy="257175"/>
              <a:chOff x="728662" y="2328862"/>
              <a:chExt cx="257175" cy="25717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728662" y="2328862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00012"/>
                    </a:moveTo>
                    <a:cubicBezTo>
                      <a:pt x="0" y="155248"/>
                      <a:pt x="44777" y="200025"/>
                      <a:pt x="100012" y="200025"/>
                    </a:cubicBezTo>
                    <a:cubicBezTo>
                      <a:pt x="155248" y="200025"/>
                      <a:pt x="200025" y="155248"/>
                      <a:pt x="200025" y="100012"/>
                    </a:cubicBez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28575">
                <a:solidFill>
                  <a:srgbClr val="2563EB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00112" y="2500312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85725" y="85725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2563EB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676656" y="2796540"/>
              <a:ext cx="19303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Research Agent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8942" y="3207068"/>
              <a:ext cx="254260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Search → Source Selection → </a:t>
              </a:r>
              <a:r>
                <a:rPr lang="en-US" sz="13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Evidence Extraction → Citation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942" y="3911918"/>
              <a:ext cx="2917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평가 — Source Quality · Coverage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277356" y="2343150"/>
            <a:ext cx="2549840" cy="1832801"/>
            <a:chOff x="6277356" y="2343150"/>
            <a:chExt cx="2549840" cy="1832801"/>
          </a:xfrm>
        </p:grpSpPr>
        <p:sp>
          <p:nvSpPr>
            <p:cNvPr id="15" name="Freeform 15"/>
            <p:cNvSpPr/>
            <p:nvPr/>
          </p:nvSpPr>
          <p:spPr>
            <a:xfrm>
              <a:off x="6343650" y="2343150"/>
              <a:ext cx="228600" cy="242888"/>
            </a:xfrm>
            <a:custGeom>
              <a:avLst/>
              <a:gdLst/>
              <a:ahLst/>
              <a:cxnLst/>
              <a:rect l="l" t="t" r="r" b="b"/>
              <a:pathLst>
                <a:path w="228600" h="242888">
                  <a:moveTo>
                    <a:pt x="0" y="0"/>
                  </a:moveTo>
                  <a:lnTo>
                    <a:pt x="228600" y="0"/>
                  </a:lnTo>
                  <a:lnTo>
                    <a:pt x="228600" y="31032"/>
                  </a:lnTo>
                  <a:cubicBezTo>
                    <a:pt x="228598" y="38610"/>
                    <a:pt x="225587" y="45877"/>
                    <a:pt x="220228" y="51235"/>
                  </a:cubicBezTo>
                  <a:lnTo>
                    <a:pt x="157162" y="114300"/>
                  </a:lnTo>
                  <a:lnTo>
                    <a:pt x="157162" y="214312"/>
                  </a:lnTo>
                  <a:lnTo>
                    <a:pt x="71438" y="242888"/>
                  </a:lnTo>
                  <a:lnTo>
                    <a:pt x="71438" y="121444"/>
                  </a:lnTo>
                  <a:lnTo>
                    <a:pt x="7429" y="51035"/>
                  </a:lnTo>
                  <a:cubicBezTo>
                    <a:pt x="2650" y="45776"/>
                    <a:pt x="1" y="38925"/>
                    <a:pt x="0" y="31818"/>
                  </a:cubicBez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7356" y="2796540"/>
              <a:ext cx="19419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Retrieval Agent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79642" y="3207068"/>
              <a:ext cx="213112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Query Rewrite → Search → </a:t>
              </a:r>
              <a:r>
                <a:rPr lang="en-US" sz="13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Evaluate → Search Again?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79642" y="3911918"/>
              <a:ext cx="25475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Advanced RAG와 Agent의 결합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76656" y="4481512"/>
            <a:ext cx="3241834" cy="1504189"/>
            <a:chOff x="676656" y="4481512"/>
            <a:chExt cx="3241834" cy="1504189"/>
          </a:xfrm>
        </p:grpSpPr>
        <p:grpSp>
          <p:nvGrpSpPr>
            <p:cNvPr id="25" name="Group 25"/>
            <p:cNvGrpSpPr/>
            <p:nvPr/>
          </p:nvGrpSpPr>
          <p:grpSpPr>
            <a:xfrm>
              <a:off x="728662" y="4481512"/>
              <a:ext cx="257175" cy="252413"/>
              <a:chOff x="728662" y="4481512"/>
              <a:chExt cx="257175" cy="25241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85812" y="4724400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28575">
                <a:solidFill>
                  <a:srgbClr val="2563EB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71525" y="4510088"/>
                <a:ext cx="171450" cy="14288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4288">
                    <a:moveTo>
                      <a:pt x="0" y="14288"/>
                    </a:moveTo>
                    <a:lnTo>
                      <a:pt x="85725" y="0"/>
                    </a:lnTo>
                    <a:lnTo>
                      <a:pt x="171450" y="14288"/>
                    </a:lnTo>
                  </a:path>
                </a:pathLst>
              </a:custGeom>
              <a:noFill/>
              <a:ln w="28575">
                <a:solidFill>
                  <a:srgbClr val="2563EB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57250" y="4481512"/>
                <a:ext cx="9525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42888">
                    <a:moveTo>
                      <a:pt x="0" y="0"/>
                    </a:moveTo>
                    <a:lnTo>
                      <a:pt x="0" y="242888"/>
                    </a:lnTo>
                  </a:path>
                </a:pathLst>
              </a:custGeom>
              <a:noFill/>
              <a:ln w="28575">
                <a:solidFill>
                  <a:srgbClr val="2563EB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28662" y="4524375"/>
                <a:ext cx="85725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28588">
                    <a:moveTo>
                      <a:pt x="85725" y="85725"/>
                    </a:moveTo>
                    <a:lnTo>
                      <a:pt x="42862" y="0"/>
                    </a:lnTo>
                    <a:lnTo>
                      <a:pt x="0" y="85725"/>
                    </a:lnTo>
                    <a:cubicBezTo>
                      <a:pt x="0" y="109397"/>
                      <a:pt x="19190" y="128588"/>
                      <a:pt x="42862" y="128588"/>
                    </a:cubicBezTo>
                    <a:cubicBezTo>
                      <a:pt x="66535" y="128588"/>
                      <a:pt x="85725" y="109397"/>
                      <a:pt x="85725" y="85725"/>
                    </a:cubicBezTo>
                  </a:path>
                </a:pathLst>
              </a:custGeom>
              <a:noFill/>
              <a:ln w="28575">
                <a:solidFill>
                  <a:srgbClr val="2563EB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900112" y="4524375"/>
                <a:ext cx="85725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28588">
                    <a:moveTo>
                      <a:pt x="85725" y="85725"/>
                    </a:moveTo>
                    <a:lnTo>
                      <a:pt x="42862" y="0"/>
                    </a:lnTo>
                    <a:lnTo>
                      <a:pt x="0" y="85725"/>
                    </a:lnTo>
                    <a:cubicBezTo>
                      <a:pt x="0" y="109397"/>
                      <a:pt x="19190" y="128588"/>
                      <a:pt x="42862" y="128588"/>
                    </a:cubicBezTo>
                    <a:cubicBezTo>
                      <a:pt x="66535" y="128588"/>
                      <a:pt x="85725" y="109397"/>
                      <a:pt x="85725" y="85725"/>
                    </a:cubicBezTo>
                  </a:path>
                </a:pathLst>
              </a:custGeom>
              <a:noFill/>
              <a:ln w="28575">
                <a:solidFill>
                  <a:srgbClr val="2563EB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676656" y="4949190"/>
              <a:ext cx="15220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Critic Agent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8942" y="5359718"/>
              <a:ext cx="24595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Draft → Feedback → Revision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8942" y="5721668"/>
              <a:ext cx="32395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평가 — 논리 · 근거 · 누락 · 형식 · 오류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77356" y="4481512"/>
            <a:ext cx="3263315" cy="1504189"/>
            <a:chOff x="6277356" y="4481512"/>
            <a:chExt cx="3263315" cy="1504189"/>
          </a:xfrm>
        </p:grpSpPr>
        <p:grpSp>
          <p:nvGrpSpPr>
            <p:cNvPr id="34" name="Group 34"/>
            <p:cNvGrpSpPr/>
            <p:nvPr/>
          </p:nvGrpSpPr>
          <p:grpSpPr>
            <a:xfrm>
              <a:off x="6329362" y="4481512"/>
              <a:ext cx="257175" cy="257175"/>
              <a:chOff x="6329362" y="4481512"/>
              <a:chExt cx="257175" cy="25717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329362" y="448151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28575">
                <a:solidFill>
                  <a:srgbClr val="2563EB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443662" y="459581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28575">
                <a:solidFill>
                  <a:srgbClr val="2563EB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478095" y="4552950"/>
                <a:ext cx="37005" cy="37005"/>
              </a:xfrm>
              <a:custGeom>
                <a:avLst/>
                <a:gdLst/>
                <a:ahLst/>
                <a:cxnLst/>
                <a:rect l="l" t="t" r="r" b="b"/>
                <a:pathLst>
                  <a:path w="37005" h="37005">
                    <a:moveTo>
                      <a:pt x="0" y="37005"/>
                    </a:moveTo>
                    <a:lnTo>
                      <a:pt x="37005" y="0"/>
                    </a:lnTo>
                  </a:path>
                </a:pathLst>
              </a:custGeom>
              <a:noFill/>
              <a:ln w="28575">
                <a:solidFill>
                  <a:srgbClr val="2563EB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386512" y="4538662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71438"/>
                    </a:moveTo>
                    <a:cubicBezTo>
                      <a:pt x="0" y="31984"/>
                      <a:pt x="31984" y="0"/>
                      <a:pt x="71438" y="0"/>
                    </a:cubicBezTo>
                  </a:path>
                </a:pathLst>
              </a:custGeom>
              <a:noFill/>
              <a:ln w="28575">
                <a:solidFill>
                  <a:srgbClr val="2563EB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6277356" y="4949190"/>
              <a:ext cx="20819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Evaluation Agent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79642" y="5359718"/>
              <a:ext cx="29471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Accuracy 0.8 · Groundedness 0.6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79642" y="5721668"/>
              <a:ext cx="32610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score &lt; 0.7 → Retry (Routing에 사용)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39" name="Line 39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9704" y="6537960"/>
              <a:ext cx="232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LLM Application 조립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41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24775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112 · Hierarchical Agent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34931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Agent 구조 자체가 계층적일 수 있다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10488996" cy="410718"/>
            <a:chOff x="675132" y="1640205"/>
            <a:chExt cx="10488996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104889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조직 업무를 모방할 수 있지만, 깊어질수록 Latency·Cost·오류 전파도 늘어난다.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619250" y="2286000"/>
            <a:ext cx="8953500" cy="2628900"/>
            <a:chOff x="1619250" y="2286000"/>
            <a:chExt cx="8953500" cy="2628900"/>
          </a:xfrm>
        </p:grpSpPr>
        <p:sp>
          <p:nvSpPr>
            <p:cNvPr id="8" name="Rectangle 8"/>
            <p:cNvSpPr/>
            <p:nvPr/>
          </p:nvSpPr>
          <p:spPr>
            <a:xfrm>
              <a:off x="4762500" y="2286000"/>
              <a:ext cx="2667000" cy="533400"/>
            </a:xfrm>
            <a:prstGeom prst="rect">
              <a:avLst/>
            </a:prstGeom>
            <a:solidFill>
              <a:srgbClr val="F4F6F8"/>
            </a:solidFill>
            <a:ln w="19050">
              <a:solidFill>
                <a:srgbClr val="2563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251844" y="2441258"/>
              <a:ext cx="16883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Manager Agent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3429000" y="2819400"/>
              <a:ext cx="5334000" cy="533400"/>
            </a:xfrm>
            <a:custGeom>
              <a:avLst/>
              <a:gdLst/>
              <a:ahLst/>
              <a:cxnLst/>
              <a:rect l="l" t="t" r="r" b="b"/>
              <a:pathLst>
                <a:path w="5334000" h="533400">
                  <a:moveTo>
                    <a:pt x="2667000" y="0"/>
                  </a:moveTo>
                  <a:lnTo>
                    <a:pt x="2667000" y="266700"/>
                  </a:lnTo>
                  <a:moveTo>
                    <a:pt x="0" y="266700"/>
                  </a:moveTo>
                  <a:lnTo>
                    <a:pt x="5334000" y="266700"/>
                  </a:lnTo>
                  <a:moveTo>
                    <a:pt x="0" y="266700"/>
                  </a:moveTo>
                  <a:lnTo>
                    <a:pt x="0" y="533400"/>
                  </a:lnTo>
                  <a:moveTo>
                    <a:pt x="5334000" y="266700"/>
                  </a:moveTo>
                  <a:lnTo>
                    <a:pt x="5334000" y="5334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2286000" y="3352800"/>
              <a:ext cx="2286000" cy="5334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718149" y="3524250"/>
              <a:ext cx="14217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Research Lead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0" y="3352800"/>
              <a:ext cx="2286000" cy="5334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138255" y="3524250"/>
              <a:ext cx="1249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Writing Lead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2476500" y="3886200"/>
              <a:ext cx="1905000" cy="533400"/>
            </a:xfrm>
            <a:custGeom>
              <a:avLst/>
              <a:gdLst/>
              <a:ahLst/>
              <a:cxnLst/>
              <a:rect l="l" t="t" r="r" b="b"/>
              <a:pathLst>
                <a:path w="1905000" h="533400">
                  <a:moveTo>
                    <a:pt x="952500" y="0"/>
                  </a:moveTo>
                  <a:lnTo>
                    <a:pt x="952500" y="266700"/>
                  </a:lnTo>
                  <a:moveTo>
                    <a:pt x="0" y="266700"/>
                  </a:moveTo>
                  <a:lnTo>
                    <a:pt x="1905000" y="266700"/>
                  </a:lnTo>
                  <a:moveTo>
                    <a:pt x="0" y="266700"/>
                  </a:moveTo>
                  <a:lnTo>
                    <a:pt x="0" y="533400"/>
                  </a:lnTo>
                  <a:moveTo>
                    <a:pt x="1905000" y="266700"/>
                  </a:moveTo>
                  <a:lnTo>
                    <a:pt x="1905000" y="5334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7810500" y="3886200"/>
              <a:ext cx="1905000" cy="533400"/>
            </a:xfrm>
            <a:custGeom>
              <a:avLst/>
              <a:gdLst/>
              <a:ahLst/>
              <a:cxnLst/>
              <a:rect l="l" t="t" r="r" b="b"/>
              <a:pathLst>
                <a:path w="1905000" h="533400">
                  <a:moveTo>
                    <a:pt x="952500" y="0"/>
                  </a:moveTo>
                  <a:lnTo>
                    <a:pt x="952500" y="266700"/>
                  </a:lnTo>
                  <a:moveTo>
                    <a:pt x="0" y="266700"/>
                  </a:moveTo>
                  <a:lnTo>
                    <a:pt x="1905000" y="266700"/>
                  </a:lnTo>
                  <a:moveTo>
                    <a:pt x="0" y="266700"/>
                  </a:moveTo>
                  <a:lnTo>
                    <a:pt x="0" y="533400"/>
                  </a:lnTo>
                  <a:moveTo>
                    <a:pt x="1905000" y="266700"/>
                  </a:moveTo>
                  <a:lnTo>
                    <a:pt x="1905000" y="5334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619250" y="4419600"/>
              <a:ext cx="1714500" cy="4953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853921" y="4570571"/>
              <a:ext cx="12451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Search Agent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524250" y="4419600"/>
              <a:ext cx="1714500" cy="4953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864364" y="4570571"/>
              <a:ext cx="10342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Data Agent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953250" y="4419600"/>
              <a:ext cx="1714500" cy="4953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36504" y="4570571"/>
              <a:ext cx="5479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Draft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858250" y="4419600"/>
              <a:ext cx="1714500" cy="4953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12955" y="4570571"/>
              <a:ext cx="6050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Editor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77418" y="5334000"/>
            <a:ext cx="10828782" cy="563689"/>
            <a:chOff x="677418" y="5334000"/>
            <a:chExt cx="10828782" cy="563689"/>
          </a:xfrm>
        </p:grpSpPr>
        <p:sp>
          <p:nvSpPr>
            <p:cNvPr id="26" name="Line 26"/>
            <p:cNvSpPr/>
            <p:nvPr/>
          </p:nvSpPr>
          <p:spPr>
            <a:xfrm>
              <a:off x="685800" y="53340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7418" y="5574982"/>
              <a:ext cx="96433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C2410C"/>
                  </a:solidFill>
                  <a:latin typeface="Pretendard SemiBold"/>
                  <a:ea typeface="Pretendard SemiBold"/>
                  <a:cs typeface="Pretendard SemiBold"/>
                </a:rPr>
                <a:t>주의 — Agent 계층이 깊어질수록 Latency · Token Cost · Error Propagation도 증가한다.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9" name="Line 29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9704" y="6537960"/>
              <a:ext cx="232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LLM Application 조립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42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93513" y="3095625"/>
            <a:ext cx="3536537" cy="430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2500" b="1" dirty="0">
                <a:solidFill>
                  <a:srgbClr val="EDF0F3"/>
                </a:solidFill>
                <a:latin typeface="Pretendard ExtraBold"/>
                <a:ea typeface="Pretendard ExtraBold"/>
                <a:cs typeface="Pretendard ExtraBold"/>
              </a:rPr>
              <a:t>12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8942" y="1428750"/>
            <a:ext cx="931591" cy="594551"/>
            <a:chOff x="678942" y="1428750"/>
            <a:chExt cx="931591" cy="594551"/>
          </a:xfrm>
        </p:grpSpPr>
        <p:sp>
          <p:nvSpPr>
            <p:cNvPr id="3" name="Rectangle 3"/>
            <p:cNvSpPr/>
            <p:nvPr/>
          </p:nvSpPr>
          <p:spPr>
            <a:xfrm>
              <a:off x="685800" y="1428750"/>
              <a:ext cx="533400" cy="47625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78942" y="1759268"/>
              <a:ext cx="9315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225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PART 12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7700" y="2409825"/>
            <a:ext cx="4254504" cy="1562100"/>
            <a:chOff x="647700" y="2409825"/>
            <a:chExt cx="4254504" cy="1562100"/>
          </a:xfrm>
        </p:grpSpPr>
        <p:sp>
          <p:nvSpPr>
            <p:cNvPr id="6" name="TextBox 6"/>
            <p:cNvSpPr txBox="1"/>
            <p:nvPr/>
          </p:nvSpPr>
          <p:spPr>
            <a:xfrm>
              <a:off x="647700" y="2409825"/>
              <a:ext cx="387618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Evaluation과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47700" y="3095625"/>
              <a:ext cx="4254504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Observability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5132" y="4211955"/>
            <a:ext cx="6515481" cy="810768"/>
            <a:chOff x="675132" y="4211955"/>
            <a:chExt cx="6515481" cy="810768"/>
          </a:xfrm>
        </p:grpSpPr>
        <p:sp>
          <p:nvSpPr>
            <p:cNvPr id="9" name="TextBox 9"/>
            <p:cNvSpPr txBox="1"/>
            <p:nvPr/>
          </p:nvSpPr>
          <p:spPr>
            <a:xfrm>
              <a:off x="675132" y="4211955"/>
              <a:ext cx="6515481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"답이 좋아 보이는가?"가 아니라, </a:t>
              </a: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무엇이 잘못되었는지 측정하고 추적할 수 있어야 한다.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6656" y="5292090"/>
            <a:ext cx="5722119" cy="352044"/>
            <a:chOff x="676656" y="5292090"/>
            <a:chExt cx="5722119" cy="352044"/>
          </a:xfrm>
        </p:grpSpPr>
        <p:sp>
          <p:nvSpPr>
            <p:cNvPr id="11" name="TextBox 11"/>
            <p:cNvSpPr txBox="1"/>
            <p:nvPr/>
          </p:nvSpPr>
          <p:spPr>
            <a:xfrm>
              <a:off x="676656" y="5292090"/>
              <a:ext cx="57221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Agent 성능 = Result Quality + Trajectory Quality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21196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113 · LLM Evaluation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20083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Output을 정량·정성 기준으로 평가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5194783" cy="410718"/>
            <a:chOff x="675132" y="1678305"/>
            <a:chExt cx="5194783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519478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기준을 명시하고, 평가 방식을 조합한다.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5894" y="2514600"/>
            <a:ext cx="10830306" cy="1376934"/>
            <a:chOff x="675894" y="2514600"/>
            <a:chExt cx="10830306" cy="1376934"/>
          </a:xfrm>
        </p:grpSpPr>
        <p:sp>
          <p:nvSpPr>
            <p:cNvPr id="8" name="Line 8"/>
            <p:cNvSpPr/>
            <p:nvPr/>
          </p:nvSpPr>
          <p:spPr>
            <a:xfrm>
              <a:off x="685800" y="251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5894" y="2723198"/>
              <a:ext cx="120504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평가 기준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6656" y="3158490"/>
              <a:ext cx="72696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Correctness · Relevance · Completeness · Format Compliance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6656" y="3539490"/>
              <a:ext cx="36922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Safety · Tone · Latency · Cost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75894" y="4191000"/>
            <a:ext cx="10830306" cy="1609725"/>
            <a:chOff x="675894" y="4191000"/>
            <a:chExt cx="10830306" cy="1609725"/>
          </a:xfrm>
        </p:grpSpPr>
        <p:sp>
          <p:nvSpPr>
            <p:cNvPr id="13" name="Line 13"/>
            <p:cNvSpPr/>
            <p:nvPr/>
          </p:nvSpPr>
          <p:spPr>
            <a:xfrm>
              <a:off x="685800" y="41910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75894" y="4399598"/>
              <a:ext cx="120504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평가 방식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6656" y="4834890"/>
              <a:ext cx="48846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Human Evaluation · Rule-based Evaluation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6656" y="5215890"/>
              <a:ext cx="43329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LLM Evaluation · Dataset Benchmark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85800" y="5791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19" name="Line 19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9704" y="6537960"/>
              <a:ext cx="232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LLM Application 조립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44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47068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114 · 115 · RAG Evaluation · Retrieval Quality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37872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검색 실패와 생성 실패를 구분해 평가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9513468" cy="410718"/>
            <a:chOff x="675132" y="1640205"/>
            <a:chExt cx="9513468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95134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RAG는 Retrieval · Generation 두 단계로 나눠 평가해야 개선이 가능하다.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78180" y="2200275"/>
            <a:ext cx="9164999" cy="293370"/>
            <a:chOff x="678180" y="2200275"/>
            <a:chExt cx="9164999" cy="293370"/>
          </a:xfrm>
        </p:grpSpPr>
        <p:sp>
          <p:nvSpPr>
            <p:cNvPr id="8" name="TextBox 8"/>
            <p:cNvSpPr txBox="1"/>
            <p:nvPr/>
          </p:nvSpPr>
          <p:spPr>
            <a:xfrm>
              <a:off x="678180" y="2200275"/>
              <a:ext cx="91649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Retrieval Evaluation — 필요한 문서를 찾았는가? · Generation Evaluation — 근거를 정확히 썼는가?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5894" y="2705100"/>
            <a:ext cx="10830306" cy="2752725"/>
            <a:chOff x="675894" y="2705100"/>
            <a:chExt cx="10830306" cy="2752725"/>
          </a:xfrm>
        </p:grpSpPr>
        <p:sp>
          <p:nvSpPr>
            <p:cNvPr id="10" name="Line 10"/>
            <p:cNvSpPr/>
            <p:nvPr/>
          </p:nvSpPr>
          <p:spPr>
            <a:xfrm>
              <a:off x="685800" y="27051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5894" y="2913698"/>
              <a:ext cx="125410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Precision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10356" y="2929890"/>
              <a:ext cx="44042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검색 결과 중 실제로 관련 있는 문서 비율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85800" y="3390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75894" y="3599498"/>
              <a:ext cx="79886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Recall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10356" y="3615690"/>
              <a:ext cx="42588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필요한 관련 문서 중 얼마나 찾아냈는가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85800" y="4076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75894" y="4285298"/>
              <a:ext cx="111217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Hit Rate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10356" y="4301490"/>
              <a:ext cx="39926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Top-K 안에 정답 근거가 존재하는가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85800" y="4762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5894" y="4971098"/>
              <a:ext cx="55859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MRR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10356" y="4987290"/>
              <a:ext cx="41861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정답 문서가 얼마나 상위에 등장하는가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85800" y="54483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678180" y="5743575"/>
            <a:ext cx="5194744" cy="293370"/>
            <a:chOff x="678180" y="5743575"/>
            <a:chExt cx="5194744" cy="293370"/>
          </a:xfrm>
        </p:grpSpPr>
        <p:sp>
          <p:nvSpPr>
            <p:cNvPr id="24" name="TextBox 24"/>
            <p:cNvSpPr txBox="1"/>
            <p:nvPr/>
          </p:nvSpPr>
          <p:spPr>
            <a:xfrm>
              <a:off x="678180" y="5743575"/>
              <a:ext cx="51947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검색 실패와 생성 실패를 구분하지 않으면 개선이 어렵다.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6" name="Line 26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9704" y="6537960"/>
              <a:ext cx="232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LLM Application 조립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45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40978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116 · 117 · Faithfulness · Groundedness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24607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Context에 충실한가, 근거와 연결되는가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9884831" cy="410718"/>
            <a:chOff x="675132" y="1640205"/>
            <a:chExt cx="9884831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988483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Faithfulness는 Context와의 일치, Groundedness는 주장-근거 연결성이다.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429000"/>
            <a:chOff x="6096000" y="2286000"/>
            <a:chExt cx="9525" cy="34290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675894" y="2400300"/>
            <a:ext cx="4962906" cy="2861501"/>
            <a:chOff x="675894" y="2400300"/>
            <a:chExt cx="4962906" cy="2861501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5894" y="2646998"/>
              <a:ext cx="170911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Faithfulness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7418" y="3098482"/>
              <a:ext cx="35434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답변이 제공된 Context에 충실한가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85800" y="3581400"/>
              <a:ext cx="4953000" cy="114300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3778568"/>
              <a:ext cx="2606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Context: 2025년 매출은 100억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9442" y="4064318"/>
              <a:ext cx="2545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Answer: 2025년 매출은 150억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69442" y="4407218"/>
              <a:ext cx="17871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C2410C"/>
                  </a:solidFill>
                  <a:latin typeface="Pretendard SemiBold"/>
                  <a:ea typeface="Pretendard SemiBold"/>
                  <a:cs typeface="Pretendard SemiBold"/>
                </a:rPr>
                <a:t>→ Faithfulness 낮음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8942" y="4997768"/>
              <a:ext cx="22315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RAG에서 매우 중요한 지표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314694" y="2400300"/>
            <a:ext cx="5191506" cy="2823401"/>
            <a:chOff x="6314694" y="2400300"/>
            <a:chExt cx="5191506" cy="2823401"/>
          </a:xfrm>
        </p:grpSpPr>
        <p:sp>
          <p:nvSpPr>
            <p:cNvPr id="19" name="Line 19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14694" y="2646998"/>
              <a:ext cx="184758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Groundedness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16218" y="3098482"/>
              <a:ext cx="33930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각 주장이 실제 근거와 연결되는가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16980" y="3724275"/>
              <a:ext cx="26395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주장 A → 문서 3 근거 있음 </a:t>
              </a:r>
              <a:r>
                <a:rPr lang="en-US" sz="1500" dirty="0">
                  <a:solidFill>
                    <a:srgbClr val="1E7F4F"/>
                  </a:solidFill>
                  <a:latin typeface="Pretendard"/>
                  <a:ea typeface="Pretendard"/>
                  <a:cs typeface="Pretendard"/>
                </a:rPr>
                <a:t>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16980" y="4086225"/>
              <a:ext cx="19674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주장 B → 근거 없음 </a:t>
              </a:r>
              <a:r>
                <a:rPr lang="en-US" sz="1500" dirty="0">
                  <a:solidFill>
                    <a:srgbClr val="C2410C"/>
                  </a:solidFill>
                  <a:latin typeface="Pretendard"/>
                  <a:ea typeface="Pretendard"/>
                  <a:cs typeface="Pretendard"/>
                </a:rPr>
                <a:t>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17742" y="4712018"/>
              <a:ext cx="213969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Faithfulness와 비슷하지만 </a:t>
              </a:r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주장-근거 연결성을 강조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6" name="Line 26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9704" y="6537960"/>
              <a:ext cx="232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LLM Application 조립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46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22560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118 · LLM-as-a-Judge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650081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다른 LLM을 평가자로 사용하기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9799198" cy="410718"/>
            <a:chOff x="675132" y="1640205"/>
            <a:chExt cx="9799198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979919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빠른 자동 평가에 유용하지만, 편향이 있어 Rule·Human Review와 조합한다.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43000" y="2400300"/>
            <a:ext cx="9296400" cy="1143000"/>
            <a:chOff x="1143000" y="2400300"/>
            <a:chExt cx="9296400" cy="1143000"/>
          </a:xfrm>
        </p:grpSpPr>
        <p:sp>
          <p:nvSpPr>
            <p:cNvPr id="8" name="Rectangle 8"/>
            <p:cNvSpPr/>
            <p:nvPr/>
          </p:nvSpPr>
          <p:spPr>
            <a:xfrm>
              <a:off x="1143000" y="2400300"/>
              <a:ext cx="3429000" cy="11430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407575" y="2657475"/>
              <a:ext cx="8998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Question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346960" y="2943225"/>
              <a:ext cx="10210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Reference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93169" y="3228975"/>
              <a:ext cx="7286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Answer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4572000" y="29718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4288">
              <a:solidFill>
                <a:srgbClr val="94A0AE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5229225" y="291465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104775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0AE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10200" y="2686050"/>
              <a:ext cx="2286000" cy="571500"/>
            </a:xfrm>
            <a:prstGeom prst="rect">
              <a:avLst/>
            </a:prstGeom>
            <a:solidFill>
              <a:srgbClr val="F4F6F8"/>
            </a:solidFill>
            <a:ln w="19050">
              <a:solidFill>
                <a:srgbClr val="2563E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011413" y="2867025"/>
              <a:ext cx="10835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Judge LLM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7696200" y="29718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4288">
              <a:solidFill>
                <a:srgbClr val="94A0AE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8353425" y="291465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104775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0AE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8534400" y="2686050"/>
              <a:ext cx="1905000" cy="5715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198483" y="2867025"/>
              <a:ext cx="5768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Score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77418" y="4038600"/>
            <a:ext cx="10828782" cy="982789"/>
            <a:chOff x="677418" y="4038600"/>
            <a:chExt cx="10828782" cy="982789"/>
          </a:xfrm>
        </p:grpSpPr>
        <p:sp>
          <p:nvSpPr>
            <p:cNvPr id="21" name="Line 21"/>
            <p:cNvSpPr/>
            <p:nvPr/>
          </p:nvSpPr>
          <p:spPr>
            <a:xfrm>
              <a:off x="685800" y="4038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7418" y="427958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1E7F4F"/>
                  </a:solidFill>
                  <a:latin typeface="Pretendard SemiBold"/>
                  <a:ea typeface="Pretendard SemiBold"/>
                  <a:cs typeface="Pretendard SemiBold"/>
                </a:rPr>
                <a:t>장점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96618" y="4279582"/>
              <a:ext cx="31375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빠른 자동 평가 · 대규모 테스트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7418" y="469868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C2410C"/>
                  </a:solidFill>
                  <a:latin typeface="Pretendard SemiBold"/>
                  <a:ea typeface="Pretendard SemiBold"/>
                  <a:cs typeface="Pretendard SemiBold"/>
                </a:rPr>
                <a:t>위험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96618" y="4698682"/>
              <a:ext cx="46275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Judge Bias · 모델 간 편향 · 평가 기준 흔들림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77418" y="5295900"/>
            <a:ext cx="10828782" cy="563689"/>
            <a:chOff x="677418" y="5295900"/>
            <a:chExt cx="10828782" cy="563689"/>
          </a:xfrm>
        </p:grpSpPr>
        <p:sp>
          <p:nvSpPr>
            <p:cNvPr id="27" name="Line 27"/>
            <p:cNvSpPr/>
            <p:nvPr/>
          </p:nvSpPr>
          <p:spPr>
            <a:xfrm>
              <a:off x="685800" y="5295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7418" y="5536882"/>
              <a:ext cx="6956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중요한 시스템 — LLM Judge + Rule + Human Review 조합이 좋다.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30" name="Line 3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9704" y="6537960"/>
              <a:ext cx="232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LLM Application 조립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47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42494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119 · 120 · Agent Evaluation · Trajectory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617229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Final Answer만 보면 부족하다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8998458" cy="410718"/>
            <a:chOff x="675132" y="1640205"/>
            <a:chExt cx="8998458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89984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Agent 성능 = Result Quality + Trajectory Quality로 평가해야 한다.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76656" y="2438400"/>
            <a:ext cx="10829544" cy="944689"/>
            <a:chOff x="676656" y="2438400"/>
            <a:chExt cx="10829544" cy="944689"/>
          </a:xfrm>
        </p:grpSpPr>
        <p:sp>
          <p:nvSpPr>
            <p:cNvPr id="8" name="Line 8"/>
            <p:cNvSpPr/>
            <p:nvPr/>
          </p:nvSpPr>
          <p:spPr>
            <a:xfrm>
              <a:off x="685800" y="2438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6656" y="2663190"/>
              <a:ext cx="11123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평가 대상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7418" y="3060382"/>
              <a:ext cx="88621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Final Output + Tool Selection + Tool Arguments + Routing + Retry + Cost + Latency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77418" y="3619500"/>
            <a:ext cx="10828782" cy="563689"/>
            <a:chOff x="677418" y="3619500"/>
            <a:chExt cx="10828782" cy="563689"/>
          </a:xfrm>
        </p:grpSpPr>
        <p:sp>
          <p:nvSpPr>
            <p:cNvPr id="12" name="Line 12"/>
            <p:cNvSpPr/>
            <p:nvPr/>
          </p:nvSpPr>
          <p:spPr>
            <a:xfrm>
              <a:off x="685800" y="3619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7418" y="3860482"/>
              <a:ext cx="76937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예 — 정답은 맞았지만 검색 Tool을 17번 호출 → </a:t>
              </a:r>
              <a:r>
                <a:rPr lang="ko-KR" sz="1650" b="1" dirty="0">
                  <a:solidFill>
                    <a:srgbClr val="C2410C"/>
                  </a:solidFill>
                  <a:latin typeface="Pretendard SemiBold"/>
                  <a:ea typeface="Pretendard SemiBold"/>
                  <a:cs typeface="Pretendard SemiBold"/>
                </a:rPr>
                <a:t>좋은 Agent라고 보기 어렵다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76656" y="4419600"/>
            <a:ext cx="10829544" cy="1350645"/>
            <a:chOff x="676656" y="4419600"/>
            <a:chExt cx="10829544" cy="1350645"/>
          </a:xfrm>
        </p:grpSpPr>
        <p:sp>
          <p:nvSpPr>
            <p:cNvPr id="15" name="Line 15"/>
            <p:cNvSpPr/>
            <p:nvPr/>
          </p:nvSpPr>
          <p:spPr>
            <a:xfrm>
              <a:off x="685800" y="4419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76656" y="4644390"/>
              <a:ext cx="44448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Trajectory — 목표에 도달한 행동 경로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8942" y="5073968"/>
              <a:ext cx="54346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B6472"/>
                  </a:solidFill>
                  <a:latin typeface="Consolas"/>
                  <a:ea typeface="Consolas"/>
                  <a:cs typeface="Consolas"/>
                </a:rPr>
                <a:t>Question → Search → Search → Calculator → Database → Answer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8180" y="5476875"/>
              <a:ext cx="74224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평가 질문 — 불필요한 Tool 호출? 잘못된 Tool 선택? 무한 Loop? 불필요한 Retry?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32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LLM Application 조립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48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5210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121 · 122 · 123 · Observability · Tracing · Logging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24514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내부에서 무슨 일이 일어났는지 보기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7654930" cy="410718"/>
            <a:chOff x="675132" y="1640205"/>
            <a:chExt cx="7654930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765493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복잡한 Agent는 최종 답만 보고는 실패 원인을 알기 어렵다.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85800" y="2362200"/>
            <a:ext cx="10820400" cy="855345"/>
            <a:chOff x="685800" y="2362200"/>
            <a:chExt cx="10820400" cy="855345"/>
          </a:xfrm>
        </p:grpSpPr>
        <p:sp>
          <p:nvSpPr>
            <p:cNvPr id="8" name="Line 8"/>
            <p:cNvSpPr/>
            <p:nvPr/>
          </p:nvSpPr>
          <p:spPr>
            <a:xfrm>
              <a:off x="685800" y="2362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721519" y="2586038"/>
              <a:ext cx="214312" cy="142875"/>
              <a:chOff x="721519" y="2586038"/>
              <a:chExt cx="214312" cy="14287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04862" y="2633662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2563EB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21519" y="2586038"/>
                <a:ext cx="214312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42875">
                    <a:moveTo>
                      <a:pt x="214312" y="71438"/>
                    </a:moveTo>
                    <a:cubicBezTo>
                      <a:pt x="185738" y="119062"/>
                      <a:pt x="150019" y="142875"/>
                      <a:pt x="107156" y="142875"/>
                    </a:cubicBezTo>
                    <a:cubicBezTo>
                      <a:pt x="64294" y="142875"/>
                      <a:pt x="28575" y="119062"/>
                      <a:pt x="0" y="71438"/>
                    </a:cubicBezTo>
                    <a:cubicBezTo>
                      <a:pt x="28575" y="23812"/>
                      <a:pt x="64294" y="0"/>
                      <a:pt x="107156" y="0"/>
                    </a:cubicBezTo>
                    <a:cubicBezTo>
                      <a:pt x="150019" y="0"/>
                      <a:pt x="185738" y="23812"/>
                      <a:pt x="214312" y="71438"/>
                    </a:cubicBezTo>
                  </a:path>
                </a:pathLst>
              </a:custGeom>
              <a:noFill/>
              <a:ln w="23812">
                <a:solidFill>
                  <a:srgbClr val="2563EB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133856" y="2586990"/>
              <a:ext cx="17048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Observability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5380" y="2924175"/>
              <a:ext cx="93236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Prompt · Model · Retriever · Tool · State · Latency · Tokens · Cost · Errors를 볼 수 있는 능력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85800" y="3390900"/>
            <a:ext cx="10820400" cy="1166051"/>
            <a:chOff x="685800" y="3390900"/>
            <a:chExt cx="10820400" cy="1166051"/>
          </a:xfrm>
        </p:grpSpPr>
        <p:sp>
          <p:nvSpPr>
            <p:cNvPr id="15" name="Line 15"/>
            <p:cNvSpPr/>
            <p:nvPr/>
          </p:nvSpPr>
          <p:spPr>
            <a:xfrm>
              <a:off x="685800" y="3390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33425" y="3579019"/>
              <a:ext cx="190501" cy="226218"/>
              <a:chOff x="733425" y="3579019"/>
              <a:chExt cx="190501" cy="226218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04862" y="3757612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2563EB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33425" y="3781425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71438" y="0"/>
                    </a:moveTo>
                    <a:lnTo>
                      <a:pt x="0" y="0"/>
                    </a:lnTo>
                  </a:path>
                </a:pathLst>
              </a:custGeom>
              <a:noFill/>
              <a:ln w="23812">
                <a:solidFill>
                  <a:srgbClr val="2563EB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52488" y="3781425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rgbClr val="2563EB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57238" y="3579019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71438" y="142875"/>
                    </a:moveTo>
                    <a:lnTo>
                      <a:pt x="47625" y="119062"/>
                    </a:lnTo>
                    <a:lnTo>
                      <a:pt x="11906" y="119062"/>
                    </a:lnTo>
                    <a:cubicBezTo>
                      <a:pt x="5331" y="119062"/>
                      <a:pt x="0" y="113732"/>
                      <a:pt x="0" y="107156"/>
                    </a:cubicBezTo>
                    <a:lnTo>
                      <a:pt x="0" y="11906"/>
                    </a:lnTo>
                    <a:cubicBezTo>
                      <a:pt x="0" y="5331"/>
                      <a:pt x="5331" y="0"/>
                      <a:pt x="11906" y="0"/>
                    </a:cubicBezTo>
                    <a:lnTo>
                      <a:pt x="130969" y="0"/>
                    </a:lnTo>
                    <a:cubicBezTo>
                      <a:pt x="137544" y="0"/>
                      <a:pt x="142875" y="5331"/>
                      <a:pt x="142875" y="11906"/>
                    </a:cubicBezTo>
                    <a:lnTo>
                      <a:pt x="142875" y="107156"/>
                    </a:lnTo>
                    <a:cubicBezTo>
                      <a:pt x="142875" y="113732"/>
                      <a:pt x="137544" y="119062"/>
                      <a:pt x="130969" y="119062"/>
                    </a:cubicBezTo>
                    <a:lnTo>
                      <a:pt x="95250" y="119062"/>
                    </a:lnTo>
                    <a:lnTo>
                      <a:pt x="71438" y="142875"/>
                    </a:lnTo>
                  </a:path>
                </a:pathLst>
              </a:custGeom>
              <a:noFill/>
              <a:ln w="23812">
                <a:solidFill>
                  <a:srgbClr val="2563EB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133856" y="3615690"/>
              <a:ext cx="9416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Tracing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35380" y="3952875"/>
              <a:ext cx="7684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한 요청의 전체 실행 경로 기록 — 어느 Node가 느린가 · 어떤 Tool에서 오류가 났는가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6142" y="4292918"/>
              <a:ext cx="49659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B6472"/>
                  </a:solidFill>
                  <a:latin typeface="Consolas"/>
                  <a:ea typeface="Consolas"/>
                  <a:cs typeface="Consolas"/>
                </a:rPr>
                <a:t>Retriever 120ms → LLM 850ms → Tool 420ms → LLM 600ms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85800" y="4743450"/>
            <a:ext cx="10820400" cy="1038225"/>
            <a:chOff x="685800" y="4743450"/>
            <a:chExt cx="10820400" cy="1038225"/>
          </a:xfrm>
        </p:grpSpPr>
        <p:sp>
          <p:nvSpPr>
            <p:cNvPr id="25" name="Line 25"/>
            <p:cNvSpPr/>
            <p:nvPr/>
          </p:nvSpPr>
          <p:spPr>
            <a:xfrm>
              <a:off x="685800" y="47434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45331" y="4931569"/>
              <a:ext cx="166688" cy="214312"/>
              <a:chOff x="745331" y="4931569"/>
              <a:chExt cx="166688" cy="214312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45331" y="4955381"/>
                <a:ext cx="166688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90500">
                    <a:moveTo>
                      <a:pt x="47625" y="0"/>
                    </a:moveTo>
                    <a:lnTo>
                      <a:pt x="23812" y="0"/>
                    </a:lnTo>
                    <a:cubicBezTo>
                      <a:pt x="10661" y="0"/>
                      <a:pt x="0" y="10661"/>
                      <a:pt x="0" y="23812"/>
                    </a:cubicBezTo>
                    <a:lnTo>
                      <a:pt x="0" y="166688"/>
                    </a:lnTo>
                    <a:cubicBezTo>
                      <a:pt x="0" y="179839"/>
                      <a:pt x="10661" y="190500"/>
                      <a:pt x="23812" y="190500"/>
                    </a:cubicBezTo>
                    <a:lnTo>
                      <a:pt x="142875" y="190500"/>
                    </a:lnTo>
                    <a:cubicBezTo>
                      <a:pt x="156026" y="190500"/>
                      <a:pt x="166688" y="179839"/>
                      <a:pt x="166688" y="166688"/>
                    </a:cubicBezTo>
                    <a:lnTo>
                      <a:pt x="166688" y="23812"/>
                    </a:lnTo>
                    <a:cubicBezTo>
                      <a:pt x="166688" y="10661"/>
                      <a:pt x="156026" y="0"/>
                      <a:pt x="142875" y="0"/>
                    </a:cubicBezTo>
                    <a:lnTo>
                      <a:pt x="119062" y="0"/>
                    </a:lnTo>
                  </a:path>
                </a:pathLst>
              </a:custGeom>
              <a:noFill/>
              <a:ln w="23812">
                <a:solidFill>
                  <a:srgbClr val="2563EB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92956" y="4931569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47625" y="0"/>
                    </a:lnTo>
                    <a:cubicBezTo>
                      <a:pt x="60776" y="0"/>
                      <a:pt x="71438" y="10661"/>
                      <a:pt x="71438" y="23812"/>
                    </a:cubicBezTo>
                    <a:cubicBezTo>
                      <a:pt x="71438" y="36964"/>
                      <a:pt x="60776" y="47625"/>
                      <a:pt x="47625" y="47625"/>
                    </a:cubicBezTo>
                    <a:lnTo>
                      <a:pt x="23812" y="47625"/>
                    </a:lnTo>
                    <a:cubicBezTo>
                      <a:pt x="10661" y="47625"/>
                      <a:pt x="0" y="36964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2563EB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92956" y="5038725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rgbClr val="2563EB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133856" y="4968240"/>
              <a:ext cx="9416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Logging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35380" y="5305425"/>
              <a:ext cx="67938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개별 이벤트 기록. Logging = 개별 이벤트 / Tracing = 요청 전체 흐름 연결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685800" y="57721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34" name="Line 34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9704" y="6537960"/>
              <a:ext cx="232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LLM Application 조립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49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57377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124 · 125 · 126 · Latency · Token Cost · Error Tracking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02251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성능·비용·실패를 구조적으로 추적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9641738" cy="410718"/>
            <a:chOff x="675132" y="1640205"/>
            <a:chExt cx="9641738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96417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Agent는 여러 LLM 호출을 반복하므로 Latency와 비용이 빠르게 증가한다.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75894" y="2409825"/>
            <a:ext cx="3103626" cy="1569720"/>
            <a:chOff x="675894" y="2409825"/>
            <a:chExt cx="3103626" cy="1569720"/>
          </a:xfrm>
        </p:grpSpPr>
        <p:grpSp>
          <p:nvGrpSpPr>
            <p:cNvPr id="11" name="Group 11"/>
            <p:cNvGrpSpPr/>
            <p:nvPr/>
          </p:nvGrpSpPr>
          <p:grpSpPr>
            <a:xfrm>
              <a:off x="781050" y="2409825"/>
              <a:ext cx="190500" cy="285750"/>
              <a:chOff x="781050" y="2409825"/>
              <a:chExt cx="190500" cy="28575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788988" y="2473325"/>
                <a:ext cx="174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4625" h="9525">
                    <a:moveTo>
                      <a:pt x="0" y="0"/>
                    </a:moveTo>
                    <a:lnTo>
                      <a:pt x="174625" y="0"/>
                    </a:lnTo>
                  </a:path>
                </a:pathLst>
              </a:custGeom>
              <a:noFill/>
              <a:ln w="31750">
                <a:solidFill>
                  <a:srgbClr val="2563EB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781050" y="2552700"/>
                <a:ext cx="1905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42875">
                    <a:moveTo>
                      <a:pt x="0" y="127000"/>
                    </a:move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ubicBezTo>
                      <a:pt x="147855" y="0"/>
                      <a:pt x="190500" y="42645"/>
                      <a:pt x="190500" y="95250"/>
                    </a:cubicBezTo>
                    <a:lnTo>
                      <a:pt x="190500" y="127000"/>
                    </a:lnTo>
                    <a:cubicBezTo>
                      <a:pt x="190500" y="135768"/>
                      <a:pt x="183393" y="142875"/>
                      <a:pt x="174625" y="142875"/>
                    </a:cubicBezTo>
                    <a:lnTo>
                      <a:pt x="15875" y="142875"/>
                    </a:lnTo>
                    <a:cubicBezTo>
                      <a:pt x="7107" y="142875"/>
                      <a:pt x="0" y="135768"/>
                      <a:pt x="0" y="127000"/>
                    </a:cubicBezTo>
                  </a:path>
                </a:pathLst>
              </a:custGeom>
              <a:noFill/>
              <a:ln w="31750">
                <a:solidFill>
                  <a:srgbClr val="2563EB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81050" y="2409825"/>
                <a:ext cx="1905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42875">
                    <a:moveTo>
                      <a:pt x="0" y="15875"/>
                    </a:moveTo>
                    <a:lnTo>
                      <a:pt x="0" y="47625"/>
                    </a:lnTo>
                    <a:cubicBezTo>
                      <a:pt x="0" y="100230"/>
                      <a:pt x="42645" y="142875"/>
                      <a:pt x="95250" y="142875"/>
                    </a:cubicBezTo>
                    <a:cubicBezTo>
                      <a:pt x="147855" y="142875"/>
                      <a:pt x="190500" y="100230"/>
                      <a:pt x="190500" y="47625"/>
                    </a:cubicBezTo>
                    <a:lnTo>
                      <a:pt x="190500" y="15875"/>
                    </a:lnTo>
                    <a:cubicBezTo>
                      <a:pt x="190500" y="7107"/>
                      <a:pt x="183393" y="0"/>
                      <a:pt x="174625" y="0"/>
                    </a:cubicBezTo>
                    <a:lnTo>
                      <a:pt x="15875" y="0"/>
                    </a:ln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31750">
                <a:solidFill>
                  <a:srgbClr val="2563EB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675894" y="2989898"/>
              <a:ext cx="108958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Latency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419475"/>
              <a:ext cx="31013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en-US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Retrieval + LLM + Tool + Network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LLM 1회 1초 → Agent Loop 8회 8초+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371594" y="2409825"/>
            <a:ext cx="2865501" cy="2280476"/>
            <a:chOff x="4371594" y="2409825"/>
            <a:chExt cx="2865501" cy="2280476"/>
          </a:xfrm>
        </p:grpSpPr>
        <p:grpSp>
          <p:nvGrpSpPr>
            <p:cNvPr id="18" name="Group 18"/>
            <p:cNvGrpSpPr/>
            <p:nvPr/>
          </p:nvGrpSpPr>
          <p:grpSpPr>
            <a:xfrm>
              <a:off x="4460875" y="2409825"/>
              <a:ext cx="222250" cy="285751"/>
              <a:chOff x="4460875" y="2409825"/>
              <a:chExt cx="222250" cy="285751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4460875" y="2409825"/>
                <a:ext cx="222250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85751">
                    <a:moveTo>
                      <a:pt x="0" y="285751"/>
                    </a:move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190500" y="0"/>
                    </a:lnTo>
                    <a:cubicBezTo>
                      <a:pt x="208035" y="0"/>
                      <a:pt x="222250" y="14215"/>
                      <a:pt x="222250" y="31750"/>
                    </a:cubicBezTo>
                    <a:lnTo>
                      <a:pt x="222250" y="285751"/>
                    </a:lnTo>
                    <a:lnTo>
                      <a:pt x="174625" y="254001"/>
                    </a:lnTo>
                    <a:lnTo>
                      <a:pt x="142875" y="285751"/>
                    </a:lnTo>
                    <a:lnTo>
                      <a:pt x="111125" y="254001"/>
                    </a:lnTo>
                    <a:lnTo>
                      <a:pt x="79375" y="285751"/>
                    </a:lnTo>
                    <a:lnTo>
                      <a:pt x="47625" y="254001"/>
                    </a:lnTo>
                    <a:lnTo>
                      <a:pt x="0" y="285751"/>
                    </a:lnTo>
                  </a:path>
                </a:pathLst>
              </a:custGeom>
              <a:noFill/>
              <a:ln w="31750">
                <a:solidFill>
                  <a:srgbClr val="2563EB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4524375" y="2472930"/>
                <a:ext cx="95250" cy="12779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27790">
                    <a:moveTo>
                      <a:pt x="92075" y="16270"/>
                    </a:moveTo>
                    <a:cubicBezTo>
                      <a:pt x="86215" y="6105"/>
                      <a:pt x="75227" y="0"/>
                      <a:pt x="63500" y="395"/>
                    </a:cubicBezTo>
                    <a:lnTo>
                      <a:pt x="31750" y="395"/>
                    </a:lnTo>
                    <a:cubicBezTo>
                      <a:pt x="14215" y="395"/>
                      <a:pt x="0" y="14610"/>
                      <a:pt x="0" y="32145"/>
                    </a:cubicBezTo>
                    <a:cubicBezTo>
                      <a:pt x="0" y="49680"/>
                      <a:pt x="14215" y="63895"/>
                      <a:pt x="31750" y="63895"/>
                    </a:cubicBezTo>
                    <a:lnTo>
                      <a:pt x="63500" y="63895"/>
                    </a:lnTo>
                    <a:cubicBezTo>
                      <a:pt x="81035" y="63895"/>
                      <a:pt x="95250" y="78110"/>
                      <a:pt x="95250" y="95645"/>
                    </a:cubicBezTo>
                    <a:cubicBezTo>
                      <a:pt x="95250" y="113180"/>
                      <a:pt x="81035" y="127395"/>
                      <a:pt x="63500" y="127395"/>
                    </a:cubicBezTo>
                    <a:lnTo>
                      <a:pt x="31750" y="127395"/>
                    </a:lnTo>
                    <a:cubicBezTo>
                      <a:pt x="20023" y="127790"/>
                      <a:pt x="9035" y="121685"/>
                      <a:pt x="3175" y="111520"/>
                    </a:cubicBezTo>
                  </a:path>
                </a:pathLst>
              </a:custGeom>
              <a:noFill/>
              <a:ln w="31750">
                <a:solidFill>
                  <a:srgbClr val="2563EB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4572000" y="2457450"/>
                <a:ext cx="9525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8750">
                    <a:moveTo>
                      <a:pt x="0" y="0"/>
                    </a:moveTo>
                    <a:lnTo>
                      <a:pt x="0" y="158750"/>
                    </a:lnTo>
                  </a:path>
                </a:pathLst>
              </a:custGeom>
              <a:noFill/>
              <a:ln w="31750">
                <a:solidFill>
                  <a:srgbClr val="2563EB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4371594" y="2989898"/>
              <a:ext cx="14850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Token Cost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73880" y="3419475"/>
              <a:ext cx="28632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Input + Output + 반복 호출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1 Request → 10 LLM Calls면 급증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74642" y="4197668"/>
              <a:ext cx="2251139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en-US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Cost per Successful Task · </a:t>
              </a:r>
              <a:r>
                <a:rPr lang="en-US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Tokens per Answer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067294" y="2441575"/>
            <a:ext cx="3113151" cy="2248726"/>
            <a:chOff x="8067294" y="2441575"/>
            <a:chExt cx="3113151" cy="2248726"/>
          </a:xfrm>
        </p:grpSpPr>
        <p:grpSp>
          <p:nvGrpSpPr>
            <p:cNvPr id="32" name="Group 32"/>
            <p:cNvGrpSpPr/>
            <p:nvPr/>
          </p:nvGrpSpPr>
          <p:grpSpPr>
            <a:xfrm>
              <a:off x="8124825" y="2441575"/>
              <a:ext cx="285751" cy="238125"/>
              <a:chOff x="8124825" y="2441575"/>
              <a:chExt cx="285751" cy="23812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8220075" y="2441575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63500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ubicBezTo>
                      <a:pt x="73928" y="0"/>
                      <a:pt x="95250" y="21322"/>
                      <a:pt x="95250" y="47625"/>
                    </a:cubicBezTo>
                    <a:lnTo>
                      <a:pt x="95250" y="63500"/>
                    </a:lnTo>
                  </a:path>
                </a:pathLst>
              </a:custGeom>
              <a:noFill/>
              <a:ln w="31750">
                <a:solidFill>
                  <a:srgbClr val="C2410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188325" y="2505075"/>
                <a:ext cx="158750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174625">
                    <a:moveTo>
                      <a:pt x="15875" y="0"/>
                    </a:moveTo>
                    <a:lnTo>
                      <a:pt x="142875" y="0"/>
                    </a:lnTo>
                    <a:cubicBezTo>
                      <a:pt x="152330" y="14170"/>
                      <a:pt x="157813" y="30616"/>
                      <a:pt x="158750" y="47625"/>
                    </a:cubicBezTo>
                    <a:lnTo>
                      <a:pt x="158750" y="95250"/>
                    </a:lnTo>
                    <a:cubicBezTo>
                      <a:pt x="158750" y="139088"/>
                      <a:pt x="123213" y="174625"/>
                      <a:pt x="79375" y="174625"/>
                    </a:cubicBezTo>
                    <a:cubicBezTo>
                      <a:pt x="35537" y="174625"/>
                      <a:pt x="0" y="139088"/>
                      <a:pt x="0" y="95250"/>
                    </a:cubicBezTo>
                    <a:lnTo>
                      <a:pt x="0" y="47625"/>
                    </a:lnTo>
                    <a:cubicBezTo>
                      <a:pt x="938" y="30616"/>
                      <a:pt x="6420" y="14170"/>
                      <a:pt x="15875" y="0"/>
                    </a:cubicBezTo>
                  </a:path>
                </a:pathLst>
              </a:custGeom>
              <a:noFill/>
              <a:ln w="31750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124825" y="2568575"/>
                <a:ext cx="6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9525">
                    <a:moveTo>
                      <a:pt x="0" y="0"/>
                    </a:move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347076" y="2568575"/>
                <a:ext cx="6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9525">
                    <a:moveTo>
                      <a:pt x="0" y="0"/>
                    </a:move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267700" y="2584450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95250"/>
                    </a:move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rgbClr val="C2410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140700" y="2632076"/>
                <a:ext cx="53181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53181" h="31750">
                    <a:moveTo>
                      <a:pt x="0" y="31750"/>
                    </a:moveTo>
                    <a:lnTo>
                      <a:pt x="53181" y="0"/>
                    </a:lnTo>
                  </a:path>
                </a:pathLst>
              </a:custGeom>
              <a:noFill/>
              <a:ln w="31750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341519" y="2632076"/>
                <a:ext cx="53181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53181" h="31750">
                    <a:moveTo>
                      <a:pt x="53181" y="31750"/>
                    </a:move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140700" y="2473325"/>
                <a:ext cx="59531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38100">
                    <a:moveTo>
                      <a:pt x="0" y="0"/>
                    </a:moveTo>
                    <a:lnTo>
                      <a:pt x="59531" y="38100"/>
                    </a:lnTo>
                  </a:path>
                </a:pathLst>
              </a:custGeom>
              <a:noFill/>
              <a:ln w="31750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35169" y="2473325"/>
                <a:ext cx="59531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38100">
                    <a:moveTo>
                      <a:pt x="59531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31750">
                <a:solidFill>
                  <a:srgbClr val="C2410C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8067294" y="2989898"/>
              <a:ext cx="202166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Error Tracking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69580" y="3419475"/>
              <a:ext cx="31108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en-US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Model · Retriever · Tool · API · </a:t>
              </a:r>
              <a:r>
                <a:rPr lang="en-US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Schema · Timeout · Routing Error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70342" y="4197668"/>
              <a:ext cx="1805368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"Agent 실패"가 아니라 </a:t>
              </a:r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어디서·왜·얼마나 자주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78180" y="5105400"/>
            <a:ext cx="10828020" cy="550545"/>
            <a:chOff x="678180" y="5105400"/>
            <a:chExt cx="10828020" cy="550545"/>
          </a:xfrm>
        </p:grpSpPr>
        <p:sp>
          <p:nvSpPr>
            <p:cNvPr id="37" name="Line 37"/>
            <p:cNvSpPr/>
            <p:nvPr/>
          </p:nvSpPr>
          <p:spPr>
            <a:xfrm>
              <a:off x="685800" y="5105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8180" y="5362575"/>
              <a:ext cx="90839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Latency는 성능뿐 아니라 사용자 경험과 직접 연결되고, 실패는 조건별로 기록해야 개선할 수 있다.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40" name="Line 4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9704" y="6537960"/>
              <a:ext cx="232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LLM Application 조립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50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26488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PART 6~12 · 전체 연결 구조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564222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하나의 파이프라인으로 잇기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143000" y="1714500"/>
            <a:ext cx="9525" cy="4343400"/>
            <a:chOff x="1143000" y="1714500"/>
            <a:chExt cx="9525" cy="4343400"/>
          </a:xfrm>
        </p:grpSpPr>
        <p:sp>
          <p:nvSpPr>
            <p:cNvPr id="6" name="Line 6"/>
            <p:cNvSpPr/>
            <p:nvPr/>
          </p:nvSpPr>
          <p:spPr>
            <a:xfrm>
              <a:off x="1143000" y="1714500"/>
              <a:ext cx="9525" cy="4343400"/>
            </a:xfrm>
            <a:custGeom>
              <a:avLst/>
              <a:gdLst/>
              <a:ahLst/>
              <a:cxnLst/>
              <a:rect l="l" t="t" r="r" b="b"/>
              <a:pathLst>
                <a:path w="9525" h="4343400">
                  <a:moveTo>
                    <a:pt x="0" y="0"/>
                  </a:moveTo>
                  <a:lnTo>
                    <a:pt x="0" y="43434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095375" y="1764982"/>
            <a:ext cx="5026952" cy="322707"/>
            <a:chOff x="1095375" y="1764982"/>
            <a:chExt cx="5026952" cy="322707"/>
          </a:xfrm>
        </p:grpSpPr>
        <p:sp>
          <p:nvSpPr>
            <p:cNvPr id="8" name="Ellipse 8"/>
            <p:cNvSpPr/>
            <p:nvPr/>
          </p:nvSpPr>
          <p:spPr>
            <a:xfrm>
              <a:off x="1095375" y="1819275"/>
              <a:ext cx="95250" cy="9525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439418" y="1764982"/>
              <a:ext cx="4726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LLM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7142" y="1797368"/>
              <a:ext cx="7951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토큰 생성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95375" y="2241232"/>
            <a:ext cx="6730430" cy="322707"/>
            <a:chOff x="1095375" y="2241232"/>
            <a:chExt cx="6730430" cy="322707"/>
          </a:xfrm>
        </p:grpSpPr>
        <p:sp>
          <p:nvSpPr>
            <p:cNvPr id="12" name="Ellipse 12"/>
            <p:cNvSpPr/>
            <p:nvPr/>
          </p:nvSpPr>
          <p:spPr>
            <a:xfrm>
              <a:off x="1095375" y="2295525"/>
              <a:ext cx="95250" cy="95250"/>
            </a:xfrm>
            <a:prstGeom prst="ellipse">
              <a:avLst/>
            </a:prstGeom>
            <a:solidFill>
              <a:srgbClr val="94A0AE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439418" y="2241232"/>
              <a:ext cx="11267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LangChain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27142" y="2273618"/>
              <a:ext cx="24986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Application Components 조립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95375" y="2717482"/>
            <a:ext cx="5890443" cy="322707"/>
            <a:chOff x="1095375" y="2717482"/>
            <a:chExt cx="5890443" cy="322707"/>
          </a:xfrm>
        </p:grpSpPr>
        <p:sp>
          <p:nvSpPr>
            <p:cNvPr id="16" name="Ellipse 16"/>
            <p:cNvSpPr/>
            <p:nvPr/>
          </p:nvSpPr>
          <p:spPr>
            <a:xfrm>
              <a:off x="1095375" y="2771775"/>
              <a:ext cx="95250" cy="95250"/>
            </a:xfrm>
            <a:prstGeom prst="ellipse">
              <a:avLst/>
            </a:prstGeom>
            <a:solidFill>
              <a:srgbClr val="94A0AE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439418" y="2717482"/>
              <a:ext cx="6654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Agent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327142" y="2749868"/>
              <a:ext cx="16586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Decision + Tool Use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95375" y="3193732"/>
            <a:ext cx="6602699" cy="322707"/>
            <a:chOff x="1095375" y="3193732"/>
            <a:chExt cx="6602699" cy="322707"/>
          </a:xfrm>
        </p:grpSpPr>
        <p:sp>
          <p:nvSpPr>
            <p:cNvPr id="20" name="Ellipse 20"/>
            <p:cNvSpPr/>
            <p:nvPr/>
          </p:nvSpPr>
          <p:spPr>
            <a:xfrm>
              <a:off x="1095375" y="3248025"/>
              <a:ext cx="95250" cy="95250"/>
            </a:xfrm>
            <a:prstGeom prst="ellipse">
              <a:avLst/>
            </a:prstGeom>
            <a:solidFill>
              <a:srgbClr val="94A0A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39418" y="3193732"/>
              <a:ext cx="11857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LangGraph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27142" y="3226118"/>
              <a:ext cx="23709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State + Node + Edge + Loop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95375" y="3669982"/>
            <a:ext cx="6735280" cy="322707"/>
            <a:chOff x="1095375" y="3669982"/>
            <a:chExt cx="6735280" cy="322707"/>
          </a:xfrm>
        </p:grpSpPr>
        <p:sp>
          <p:nvSpPr>
            <p:cNvPr id="24" name="Ellipse 24"/>
            <p:cNvSpPr/>
            <p:nvPr/>
          </p:nvSpPr>
          <p:spPr>
            <a:xfrm>
              <a:off x="1095375" y="3724275"/>
              <a:ext cx="95250" cy="95250"/>
            </a:xfrm>
            <a:prstGeom prst="ellipse">
              <a:avLst/>
            </a:prstGeom>
            <a:solidFill>
              <a:srgbClr val="94A0A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439418" y="3669982"/>
              <a:ext cx="34342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Memory / Context Engineering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327142" y="3702368"/>
              <a:ext cx="25035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필요한 정보 선택·압축·라우팅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95375" y="4146232"/>
            <a:ext cx="6896357" cy="322707"/>
            <a:chOff x="1095375" y="4146232"/>
            <a:chExt cx="6896357" cy="322707"/>
          </a:xfrm>
        </p:grpSpPr>
        <p:sp>
          <p:nvSpPr>
            <p:cNvPr id="28" name="Ellipse 28"/>
            <p:cNvSpPr/>
            <p:nvPr/>
          </p:nvSpPr>
          <p:spPr>
            <a:xfrm>
              <a:off x="1095375" y="4200525"/>
              <a:ext cx="95250" cy="95250"/>
            </a:xfrm>
            <a:prstGeom prst="ellipse">
              <a:avLst/>
            </a:prstGeom>
            <a:solidFill>
              <a:srgbClr val="94A0A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439418" y="4146232"/>
              <a:ext cx="4726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MCP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27142" y="4178618"/>
              <a:ext cx="26645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External Tools / Data Sources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95375" y="4622482"/>
            <a:ext cx="7388482" cy="322707"/>
            <a:chOff x="1095375" y="4622482"/>
            <a:chExt cx="7388482" cy="322707"/>
          </a:xfrm>
        </p:grpSpPr>
        <p:sp>
          <p:nvSpPr>
            <p:cNvPr id="32" name="Ellipse 32"/>
            <p:cNvSpPr/>
            <p:nvPr/>
          </p:nvSpPr>
          <p:spPr>
            <a:xfrm>
              <a:off x="1095375" y="4676775"/>
              <a:ext cx="95250" cy="95250"/>
            </a:xfrm>
            <a:prstGeom prst="ellipse">
              <a:avLst/>
            </a:prstGeom>
            <a:solidFill>
              <a:srgbClr val="94A0AE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439418" y="4622482"/>
              <a:ext cx="13730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Multi-Agent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327142" y="4654868"/>
              <a:ext cx="31567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Role Specialization + Orchestration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95375" y="5098732"/>
            <a:ext cx="6635325" cy="322707"/>
            <a:chOff x="1095375" y="5098732"/>
            <a:chExt cx="6635325" cy="322707"/>
          </a:xfrm>
        </p:grpSpPr>
        <p:sp>
          <p:nvSpPr>
            <p:cNvPr id="36" name="Ellipse 36"/>
            <p:cNvSpPr/>
            <p:nvPr/>
          </p:nvSpPr>
          <p:spPr>
            <a:xfrm>
              <a:off x="1095375" y="5153025"/>
              <a:ext cx="95250" cy="95250"/>
            </a:xfrm>
            <a:prstGeom prst="ellipse">
              <a:avLst/>
            </a:prstGeom>
            <a:solidFill>
              <a:srgbClr val="94A0AE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439418" y="5098732"/>
              <a:ext cx="30050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Evaluation / Observability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327142" y="5131118"/>
              <a:ext cx="2403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무엇이 잘못됐는지 측정·추적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085850" y="5638800"/>
            <a:ext cx="6457950" cy="457200"/>
            <a:chOff x="1085850" y="5638800"/>
            <a:chExt cx="6457950" cy="457200"/>
          </a:xfrm>
        </p:grpSpPr>
        <p:sp>
          <p:nvSpPr>
            <p:cNvPr id="40" name="Ellipse 40"/>
            <p:cNvSpPr/>
            <p:nvPr/>
          </p:nvSpPr>
          <p:spPr>
            <a:xfrm>
              <a:off x="1085850" y="5810250"/>
              <a:ext cx="114300" cy="114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1447800" y="5638800"/>
              <a:ext cx="6096000" cy="45720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629918" y="5755958"/>
              <a:ext cx="41536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Quality · Cost · Reliability · Control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44" name="Line 44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9704" y="6537960"/>
              <a:ext cx="232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LLM Application 조립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51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19846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가장 중요한 한 장 요약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577580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계층 · 핵심 질문 · 대표 개념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685800" y="1600200"/>
            <a:ext cx="10820400" cy="4724400"/>
            <a:chOff x="685800" y="1600200"/>
            <a:chExt cx="10820400" cy="4724400"/>
          </a:xfrm>
        </p:grpSpPr>
        <p:sp>
          <p:nvSpPr>
            <p:cNvPr id="6" name="Rectangle 6"/>
            <p:cNvSpPr/>
            <p:nvPr/>
          </p:nvSpPr>
          <p:spPr>
            <a:xfrm>
              <a:off x="685800" y="1600200"/>
              <a:ext cx="10820400" cy="41910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50392" y="17211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5B6472"/>
                  </a:solidFill>
                  <a:latin typeface="Pretendard SemiBold"/>
                  <a:ea typeface="Pretendard SemiBold"/>
                  <a:cs typeface="Pretendard SemiBold"/>
                </a:rPr>
                <a:t>계층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041142" y="1721168"/>
              <a:ext cx="8342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5B6472"/>
                  </a:solidFill>
                  <a:latin typeface="Pretendard SemiBold"/>
                  <a:ea typeface="Pretendard SemiBold"/>
                  <a:cs typeface="Pretendard SemiBold"/>
                </a:rPr>
                <a:t>핵심 질문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17892" y="1721168"/>
              <a:ext cx="8342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5B6472"/>
                  </a:solidFill>
                  <a:latin typeface="Pretendard SemiBold"/>
                  <a:ea typeface="Pretendard SemiBold"/>
                  <a:cs typeface="Pretendard SemiBold"/>
                </a:rPr>
                <a:t>대표 개념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2857500" y="1600200"/>
              <a:ext cx="9525" cy="4724400"/>
            </a:xfrm>
            <a:custGeom>
              <a:avLst/>
              <a:gdLst/>
              <a:ahLst/>
              <a:cxnLst/>
              <a:rect l="l" t="t" r="r" b="b"/>
              <a:pathLst>
                <a:path w="9525" h="4724400">
                  <a:moveTo>
                    <a:pt x="0" y="0"/>
                  </a:moveTo>
                  <a:lnTo>
                    <a:pt x="0" y="472440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7334250" y="1600200"/>
              <a:ext cx="9525" cy="4724400"/>
            </a:xfrm>
            <a:custGeom>
              <a:avLst/>
              <a:gdLst/>
              <a:ahLst/>
              <a:cxnLst/>
              <a:rect l="l" t="t" r="r" b="b"/>
              <a:pathLst>
                <a:path w="9525" h="4724400">
                  <a:moveTo>
                    <a:pt x="0" y="0"/>
                  </a:moveTo>
                  <a:lnTo>
                    <a:pt x="0" y="472440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85800" y="2019300"/>
              <a:ext cx="10820400" cy="3952875"/>
              <a:chOff x="685800" y="2019300"/>
              <a:chExt cx="10820400" cy="3952875"/>
            </a:xfrm>
          </p:grpSpPr>
          <p:sp>
            <p:nvSpPr>
              <p:cNvPr id="12" name="Line 12"/>
              <p:cNvSpPr/>
              <p:nvPr/>
            </p:nvSpPr>
            <p:spPr>
              <a:xfrm>
                <a:off x="685800" y="20193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50011" y="2151221"/>
                <a:ext cx="973084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2563EB"/>
                    </a:solidFill>
                    <a:latin typeface="Pretendard SemiBold"/>
                    <a:ea typeface="Pretendard SemiBold"/>
                    <a:cs typeface="Pretendard SemiBold"/>
                  </a:rPr>
                  <a:t>LangChain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040761" y="2151221"/>
                <a:ext cx="248913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4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구성 요소를 어떻게 조립할까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517892" y="2159318"/>
                <a:ext cx="3101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5B6472"/>
                    </a:solidFill>
                    <a:latin typeface="Pretendard"/>
                    <a:ea typeface="Pretendard"/>
                    <a:cs typeface="Pretendard"/>
                  </a:rPr>
                  <a:t>Prompt, Retriever, Tool, Runnable</a:t>
                </a:r>
              </a:p>
            </p:txBody>
          </p:sp>
          <p:sp>
            <p:nvSpPr>
              <p:cNvPr id="16" name="Line 16"/>
              <p:cNvSpPr/>
              <p:nvPr/>
            </p:nvSpPr>
            <p:spPr>
              <a:xfrm>
                <a:off x="685800" y="245745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850011" y="2589371"/>
                <a:ext cx="574668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2563EB"/>
                    </a:solidFill>
                    <a:latin typeface="Pretendard SemiBold"/>
                    <a:ea typeface="Pretendard SemiBold"/>
                    <a:cs typeface="Pretendard SemiBold"/>
                  </a:rPr>
                  <a:t>Agent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040761" y="2589371"/>
                <a:ext cx="229729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4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다음 행동을 누가 결정할까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517892" y="2597468"/>
                <a:ext cx="253287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5B6472"/>
                    </a:solidFill>
                    <a:latin typeface="Pretendard"/>
                    <a:ea typeface="Pretendard"/>
                    <a:cs typeface="Pretendard"/>
                  </a:rPr>
                  <a:t>Planning, Tool Calling, ReAct</a:t>
                </a:r>
              </a:p>
            </p:txBody>
          </p:sp>
          <p:sp>
            <p:nvSpPr>
              <p:cNvPr id="20" name="Line 20"/>
              <p:cNvSpPr/>
              <p:nvPr/>
            </p:nvSpPr>
            <p:spPr>
              <a:xfrm>
                <a:off x="685800" y="28956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850011" y="3027521"/>
                <a:ext cx="1024074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2563EB"/>
                    </a:solidFill>
                    <a:latin typeface="Pretendard SemiBold"/>
                    <a:ea typeface="Pretendard SemiBold"/>
                    <a:cs typeface="Pretendard SemiBold"/>
                  </a:rPr>
                  <a:t>LangGraph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040761" y="3027521"/>
                <a:ext cx="31221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4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복잡한 실행 흐름을 어떻게 통제할까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517892" y="3035618"/>
                <a:ext cx="275743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5B6472"/>
                    </a:solidFill>
                    <a:latin typeface="Pretendard"/>
                    <a:ea typeface="Pretendard"/>
                    <a:cs typeface="Pretendard"/>
                  </a:rPr>
                  <a:t>Node, Edge, State, Checkpoint</a:t>
                </a:r>
              </a:p>
            </p:txBody>
          </p:sp>
          <p:sp>
            <p:nvSpPr>
              <p:cNvPr id="24" name="Line 24"/>
              <p:cNvSpPr/>
              <p:nvPr/>
            </p:nvSpPr>
            <p:spPr>
              <a:xfrm>
                <a:off x="685800" y="333375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850011" y="3465671"/>
                <a:ext cx="76678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2563EB"/>
                    </a:solidFill>
                    <a:latin typeface="Pretendard SemiBold"/>
                    <a:ea typeface="Pretendard SemiBold"/>
                    <a:cs typeface="Pretendard SemiBold"/>
                  </a:rPr>
                  <a:t>Memory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040761" y="3465671"/>
                <a:ext cx="2105463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4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무엇을 저장해 다시 쓸까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517892" y="3473768"/>
                <a:ext cx="338378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5B6472"/>
                    </a:solidFill>
                    <a:latin typeface="Pretendard"/>
                    <a:ea typeface="Pretendard"/>
                    <a:cs typeface="Pretendard"/>
                  </a:rPr>
                  <a:t>Short/Long-term, Semantic, Episodic</a:t>
                </a:r>
              </a:p>
            </p:txBody>
          </p:sp>
          <p:sp>
            <p:nvSpPr>
              <p:cNvPr id="28" name="Line 28"/>
              <p:cNvSpPr/>
              <p:nvPr/>
            </p:nvSpPr>
            <p:spPr>
              <a:xfrm>
                <a:off x="685800" y="37719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850011" y="3903821"/>
                <a:ext cx="198059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2563EB"/>
                    </a:solidFill>
                    <a:latin typeface="Pretendard SemiBold"/>
                    <a:ea typeface="Pretendard SemiBold"/>
                    <a:cs typeface="Pretendard SemiBold"/>
                  </a:rPr>
                  <a:t>Context Engineering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040761" y="3903821"/>
                <a:ext cx="2680964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4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지금 무엇을 모델에게 보여줄까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517892" y="3911918"/>
                <a:ext cx="289407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5B6472"/>
                    </a:solidFill>
                    <a:latin typeface="Pretendard"/>
                    <a:ea typeface="Pretendard"/>
                    <a:cs typeface="Pretendard"/>
                  </a:rPr>
                  <a:t>Selection, Compression, Routing</a:t>
                </a:r>
              </a:p>
            </p:txBody>
          </p:sp>
          <p:sp>
            <p:nvSpPr>
              <p:cNvPr id="32" name="Line 32"/>
              <p:cNvSpPr/>
              <p:nvPr/>
            </p:nvSpPr>
            <p:spPr>
              <a:xfrm>
                <a:off x="685800" y="421005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850011" y="4341971"/>
                <a:ext cx="40820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2563EB"/>
                    </a:solidFill>
                    <a:latin typeface="Pretendard SemiBold"/>
                    <a:ea typeface="Pretendard SemiBold"/>
                    <a:cs typeface="Pretendard SemiBold"/>
                  </a:rPr>
                  <a:t>MCP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040761" y="4341971"/>
                <a:ext cx="34968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4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외부 Tool/Data를 어떻게 표준 연결할까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517892" y="4350068"/>
                <a:ext cx="28113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5B6472"/>
                    </a:solidFill>
                    <a:latin typeface="Pretendard"/>
                    <a:ea typeface="Pretendard"/>
                    <a:cs typeface="Pretendard"/>
                  </a:rPr>
                  <a:t>Host, Client, Server, Resource</a:t>
                </a:r>
              </a:p>
            </p:txBody>
          </p:sp>
          <p:sp>
            <p:nvSpPr>
              <p:cNvPr id="36" name="Line 36"/>
              <p:cNvSpPr/>
              <p:nvPr/>
            </p:nvSpPr>
            <p:spPr>
              <a:xfrm>
                <a:off x="685800" y="46482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50011" y="4780121"/>
                <a:ext cx="1185784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2563EB"/>
                    </a:solidFill>
                    <a:latin typeface="Pretendard SemiBold"/>
                    <a:ea typeface="Pretendard SemiBold"/>
                    <a:cs typeface="Pretendard SemiBold"/>
                  </a:rPr>
                  <a:t>Multi-Agent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3040761" y="4780121"/>
                <a:ext cx="185608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4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역할을 어떻게 나눌까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517892" y="4788218"/>
                <a:ext cx="263174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5B6472"/>
                    </a:solidFill>
                    <a:latin typeface="Pretendard"/>
                    <a:ea typeface="Pretendard"/>
                    <a:cs typeface="Pretendard"/>
                  </a:rPr>
                  <a:t>Supervisor, Worker, Handoff</a:t>
                </a:r>
              </a:p>
            </p:txBody>
          </p:sp>
          <p:sp>
            <p:nvSpPr>
              <p:cNvPr id="40" name="Line 40"/>
              <p:cNvSpPr/>
              <p:nvPr/>
            </p:nvSpPr>
            <p:spPr>
              <a:xfrm>
                <a:off x="685800" y="508635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850011" y="5218271"/>
                <a:ext cx="102730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2563EB"/>
                    </a:solidFill>
                    <a:latin typeface="Pretendard SemiBold"/>
                    <a:ea typeface="Pretendard SemiBold"/>
                    <a:cs typeface="Pretendard SemiBold"/>
                  </a:rPr>
                  <a:t>Evaluation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3040761" y="5218271"/>
                <a:ext cx="2680964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4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잘 작동하는지 어떻게 판단할까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517892" y="5226368"/>
                <a:ext cx="280201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5B6472"/>
                    </a:solidFill>
                    <a:latin typeface="Pretendard"/>
                    <a:ea typeface="Pretendard"/>
                    <a:cs typeface="Pretendard"/>
                  </a:rPr>
                  <a:t>Faithfulness, Retrieval Quality</a:t>
                </a:r>
              </a:p>
            </p:txBody>
          </p:sp>
          <p:sp>
            <p:nvSpPr>
              <p:cNvPr id="44" name="Line 44"/>
              <p:cNvSpPr/>
              <p:nvPr/>
            </p:nvSpPr>
            <p:spPr>
              <a:xfrm>
                <a:off x="685800" y="55245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850011" y="5656421"/>
                <a:ext cx="1349673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2563EB"/>
                    </a:solidFill>
                    <a:latin typeface="Pretendard SemiBold"/>
                    <a:ea typeface="Pretendard SemiBold"/>
                    <a:cs typeface="Pretendard SemiBold"/>
                  </a:rPr>
                  <a:t>Observability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3040761" y="5656421"/>
                <a:ext cx="3314014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42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왜 그렇게 작동했는지 어떻게 추적할까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517892" y="5664518"/>
                <a:ext cx="24044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5B6472"/>
                    </a:solidFill>
                    <a:latin typeface="Pretendard"/>
                    <a:ea typeface="Pretendard"/>
                    <a:cs typeface="Pretendard"/>
                  </a:rPr>
                  <a:t>Trace, Log, Latency, Cost</a:t>
                </a:r>
              </a:p>
            </p:txBody>
          </p:sp>
          <p:sp>
            <p:nvSpPr>
              <p:cNvPr id="48" name="Line 48"/>
              <p:cNvSpPr/>
              <p:nvPr/>
            </p:nvSpPr>
            <p:spPr>
              <a:xfrm>
                <a:off x="685800" y="596265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</p:grpSp>
      </p:grpSp>
      <p:grpSp>
        <p:nvGrpSpPr>
          <p:cNvPr id="54" name="Group 54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51" name="Line 51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9704" y="6537960"/>
              <a:ext cx="232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LLM Application 조립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52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78942" y="838200"/>
            <a:ext cx="646767" cy="537401"/>
            <a:chOff x="678942" y="838200"/>
            <a:chExt cx="646767" cy="537401"/>
          </a:xfrm>
        </p:grpSpPr>
        <p:sp>
          <p:nvSpPr>
            <p:cNvPr id="2" name="Rectangle 2"/>
            <p:cNvSpPr/>
            <p:nvPr/>
          </p:nvSpPr>
          <p:spPr>
            <a:xfrm>
              <a:off x="685800" y="838200"/>
              <a:ext cx="533400" cy="47625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8942" y="1111568"/>
              <a:ext cx="6467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spc="225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마무리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70560" y="1771650"/>
            <a:ext cx="6699314" cy="2875979"/>
            <a:chOff x="670560" y="1771650"/>
            <a:chExt cx="6699314" cy="2875979"/>
          </a:xfrm>
        </p:grpSpPr>
        <p:sp>
          <p:nvSpPr>
            <p:cNvPr id="5" name="TextBox 5"/>
            <p:cNvSpPr txBox="1"/>
            <p:nvPr/>
          </p:nvSpPr>
          <p:spPr>
            <a:xfrm>
              <a:off x="670560" y="1771650"/>
              <a:ext cx="475867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0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필요한 만큼만 확장하고,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70560" y="2266950"/>
              <a:ext cx="36773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0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전 과정을 통제한다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5894" y="3066098"/>
              <a:ext cx="6693980" cy="15815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ko-KR" sz="19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AX에서 중요한 것은 가장 복잡한 Agent가 아니다. </a:t>
              </a:r>
              <a:r>
                <a:rPr lang="ko-KR" sz="19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문제의 성격에 맞게 필요한 만큼만 확장하고, </a:t>
              </a:r>
              <a:r>
                <a:rPr lang="ko-KR" sz="19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그 전 과정을 Context·State·Evaluation· </a:t>
              </a:r>
              <a:r>
                <a:rPr lang="ko-KR" sz="19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Observability로 통제할 수 있는 시스템 문해력이 핵심이다.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239000" y="1714500"/>
            <a:ext cx="9525" cy="3619500"/>
            <a:chOff x="7239000" y="1714500"/>
            <a:chExt cx="9525" cy="3619500"/>
          </a:xfrm>
        </p:grpSpPr>
        <p:sp>
          <p:nvSpPr>
            <p:cNvPr id="9" name="Line 9"/>
            <p:cNvSpPr/>
            <p:nvPr/>
          </p:nvSpPr>
          <p:spPr>
            <a:xfrm>
              <a:off x="7239000" y="17145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7687056" y="1824990"/>
            <a:ext cx="2206401" cy="4276344"/>
            <a:chOff x="7687056" y="1824990"/>
            <a:chExt cx="2206401" cy="4276344"/>
          </a:xfrm>
        </p:grpSpPr>
        <p:sp>
          <p:nvSpPr>
            <p:cNvPr id="11" name="TextBox 11"/>
            <p:cNvSpPr txBox="1"/>
            <p:nvPr/>
          </p:nvSpPr>
          <p:spPr>
            <a:xfrm>
              <a:off x="7687056" y="1824990"/>
              <a:ext cx="22064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필요한 만큼만 확장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7056" y="2396490"/>
              <a:ext cx="8743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Prompt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87818" y="283178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↓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87056" y="3234690"/>
              <a:ext cx="4407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RAG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87818" y="366998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↓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87056" y="4072890"/>
              <a:ext cx="11286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Workflow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87818" y="450818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↓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87056" y="4911090"/>
              <a:ext cx="6922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Agent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87818" y="534638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87056" y="5749290"/>
              <a:ext cx="14978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Multi-Agent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9704" y="6305550"/>
            <a:ext cx="10832592" cy="409956"/>
            <a:chOff x="679704" y="6305550"/>
            <a:chExt cx="10832592" cy="409956"/>
          </a:xfrm>
        </p:grpSpPr>
        <p:sp>
          <p:nvSpPr>
            <p:cNvPr id="22" name="Line 22"/>
            <p:cNvSpPr/>
            <p:nvPr/>
          </p:nvSpPr>
          <p:spPr>
            <a:xfrm>
              <a:off x="685800" y="6305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9704" y="6480810"/>
              <a:ext cx="4006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전문성 강화 영어교과 심화 연수 · PART 6–12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53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2026-09-06T17:50:03Z</dcterms:created>
  <dcterms:modified xsi:type="dcterms:W3CDTF">2026-09-06T17:50:03Z</dcterms:modified>
  <cp:category/>
  <cp:contentStatus/>
</cp:coreProperties>
</file>