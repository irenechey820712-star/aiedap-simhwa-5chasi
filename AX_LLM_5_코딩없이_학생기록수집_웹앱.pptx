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85800" y="825818"/>
            <a:ext cx="5120562" cy="207749"/>
            <a:chOff x="685800" y="825818"/>
            <a:chExt cx="5120562" cy="207749"/>
          </a:xfrm>
        </p:grpSpPr>
        <p:sp>
          <p:nvSpPr>
            <p:cNvPr id="2" name="Rectangle 2"/>
            <p:cNvSpPr/>
            <p:nvPr/>
          </p:nvSpPr>
          <p:spPr>
            <a:xfrm>
              <a:off x="685800" y="876300"/>
              <a:ext cx="438150" cy="57150"/>
            </a:xfrm>
            <a:prstGeom prst="rect">
              <a:avLst/>
            </a:prstGeom>
            <a:solidFill>
              <a:srgbClr val="EC2B7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31392" y="825818"/>
              <a:ext cx="4574970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altLang="en-US" sz="1350" b="1" spc="150" dirty="0" err="1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시간없는</a:t>
              </a:r>
              <a:r>
                <a:rPr lang="ko-KR" altLang="en-US" sz="13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 바쁜 선생님들을 위한 미니 </a:t>
              </a:r>
              <a:r>
                <a:rPr lang="ko-KR" sz="13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교사 연수 · 60~90분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8650" y="1676400"/>
            <a:ext cx="9664038" cy="2089785"/>
            <a:chOff x="628650" y="1676400"/>
            <a:chExt cx="9664038" cy="2089785"/>
          </a:xfrm>
        </p:grpSpPr>
        <p:sp>
          <p:nvSpPr>
            <p:cNvPr id="5" name="Rectangle 5"/>
            <p:cNvSpPr/>
            <p:nvPr/>
          </p:nvSpPr>
          <p:spPr>
            <a:xfrm>
              <a:off x="628650" y="1676400"/>
              <a:ext cx="3505200" cy="819150"/>
            </a:xfrm>
            <a:prstGeom prst="roundRect">
              <a:avLst>
                <a:gd name="adj" fmla="val 11628"/>
              </a:avLst>
            </a:prstGeom>
            <a:solidFill>
              <a:srgbClr val="CEFF3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2950" y="1689735"/>
              <a:ext cx="3502613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57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코딩 없이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6750" y="2661285"/>
              <a:ext cx="9625938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57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만드는 학생기록 </a:t>
              </a:r>
              <a:r>
                <a:rPr lang="ko-KR" sz="5700" b="1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수집 웹앱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4370" y="3738562"/>
            <a:ext cx="7802462" cy="440055"/>
            <a:chOff x="674370" y="3738562"/>
            <a:chExt cx="7802462" cy="440055"/>
          </a:xfrm>
        </p:grpSpPr>
        <p:sp>
          <p:nvSpPr>
            <p:cNvPr id="9" name="TextBox 9"/>
            <p:cNvSpPr txBox="1"/>
            <p:nvPr/>
          </p:nvSpPr>
          <p:spPr>
            <a:xfrm>
              <a:off x="674370" y="3738562"/>
              <a:ext cx="78024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b="1" dirty="0">
                  <a:solidFill>
                    <a:srgbClr val="6B5B52"/>
                  </a:solidFill>
                  <a:latin typeface="Pretendard SemiBold"/>
                  <a:ea typeface="Pretendard SemiBold"/>
                  <a:cs typeface="Pretendard SemiBold"/>
                </a:rPr>
                <a:t>Interactive HTML × Google Spreadsheet × 생성형 AI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4381500"/>
            <a:ext cx="10820400" cy="1338834"/>
            <a:chOff x="685800" y="4381500"/>
            <a:chExt cx="10820400" cy="1338834"/>
          </a:xfrm>
        </p:grpSpPr>
        <p:sp>
          <p:nvSpPr>
            <p:cNvPr id="11" name="Rectangle 11"/>
            <p:cNvSpPr/>
            <p:nvPr/>
          </p:nvSpPr>
          <p:spPr>
            <a:xfrm>
              <a:off x="685800" y="4381500"/>
              <a:ext cx="10820400" cy="1257300"/>
            </a:xfrm>
            <a:prstGeom prst="roundRect">
              <a:avLst>
                <a:gd name="adj" fmla="val 15152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1456" y="4682490"/>
              <a:ext cx="51432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구글 설문이든, 학습지든, 수행평가 기록이든 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1456" y="5025390"/>
              <a:ext cx="65314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Interactive HTML 웹앱에 Google Spreadsheet만 연동하면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1456" y="5368290"/>
              <a:ext cx="46871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EC2B7A"/>
                  </a:solidFill>
                  <a:latin typeface="Pretendard SemiBold"/>
                  <a:ea typeface="Pretendard SemiBold"/>
                  <a:cs typeface="Pretendard SemiBold"/>
                </a:rPr>
                <a:t>학생 활동 기록을 자동으로 받을 수 있다.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8942" y="6026468"/>
            <a:ext cx="10834116" cy="264033"/>
            <a:chOff x="678942" y="6026468"/>
            <a:chExt cx="10834116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678942" y="6026468"/>
              <a:ext cx="8120813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Google Spreadsheet는 써봤지만 Apps Script 코딩은 부담스러운 선생님을 위한 연수</a:t>
              </a:r>
              <a:r>
                <a:rPr lang="en-US" altLang="ko-KR" sz="135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 – </a:t>
              </a:r>
              <a:r>
                <a:rPr lang="ko-KR" altLang="en-US" sz="1350" dirty="0" err="1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학남고등학교</a:t>
              </a:r>
              <a:r>
                <a:rPr lang="ko-KR" altLang="en-US" sz="135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 영어교사 </a:t>
              </a:r>
              <a:r>
                <a:rPr lang="ko-KR" altLang="en-US" sz="1350" dirty="0" err="1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최시강</a:t>
              </a:r>
              <a:r>
                <a:rPr lang="ko-KR" altLang="en-US" sz="135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 </a:t>
              </a:r>
              <a:endParaRPr lang="ko-KR" sz="1350" dirty="0">
                <a:solidFill>
                  <a:srgbClr val="A99C90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99521" y="60264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6657236" cy="894969"/>
            <a:chOff x="669036" y="499110"/>
            <a:chExt cx="6657236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13367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1 · 도입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66572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받고 싶은 학생 기록은 다양하다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85800" y="1676400"/>
            <a:ext cx="10820400" cy="3581400"/>
            <a:chOff x="685800" y="1676400"/>
            <a:chExt cx="10820400" cy="35814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3581400"/>
            </a:xfrm>
            <a:prstGeom prst="roundRect">
              <a:avLst>
                <a:gd name="adj" fmla="val 5319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1456" y="2015490"/>
              <a:ext cx="51311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선생님이 한 학기 동안 모으고 싶은 기록의 종류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1028700" y="2676525"/>
              <a:ext cx="9264777" cy="1664970"/>
              <a:chOff x="1028700" y="2676525"/>
              <a:chExt cx="9264777" cy="166497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1028700" y="2743200"/>
                <a:ext cx="76200" cy="762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230630" y="2676525"/>
                <a:ext cx="15745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Google 설문 응답</a:t>
                </a:r>
              </a:p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1028700" y="3200400"/>
                <a:ext cx="76200" cy="762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30630" y="3133725"/>
                <a:ext cx="1567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수업 Exit Ticket</a:t>
                </a:r>
              </a:p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1028700" y="3657600"/>
                <a:ext cx="76200" cy="762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30630" y="3590925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학습지 답변</a:t>
                </a: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1028700" y="4114800"/>
                <a:ext cx="76200" cy="762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30630" y="4048125"/>
                <a:ext cx="8835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독서 기록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4533900" y="2743200"/>
                <a:ext cx="76200" cy="762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735830" y="2676525"/>
                <a:ext cx="175183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수행평가 과정 기록</a:t>
                </a: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533900" y="3200400"/>
                <a:ext cx="76200" cy="762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735830" y="313372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모둠활동 기록</a:t>
                </a: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4533900" y="3657600"/>
                <a:ext cx="76200" cy="762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735830" y="3590925"/>
                <a:ext cx="189318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자기평가와 동료평가</a:t>
                </a:r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533900" y="4114800"/>
                <a:ext cx="76200" cy="762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735830" y="4048125"/>
                <a:ext cx="8835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상담 신청</a:t>
                </a: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8077200" y="2743200"/>
                <a:ext cx="76200" cy="762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279130" y="2676525"/>
                <a:ext cx="175183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프로젝트 진행 상황</a:t>
                </a:r>
              </a:p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8077200" y="3200400"/>
                <a:ext cx="76200" cy="762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279130" y="3133725"/>
                <a:ext cx="11780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AI 활용 기록</a:t>
                </a:r>
              </a:p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8077200" y="3657600"/>
                <a:ext cx="76200" cy="762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279130" y="3590925"/>
                <a:ext cx="201434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수정 전후 글쓰기 기록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983742" y="4616768"/>
              <a:ext cx="62836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겉모양은 달라도, 결국 학생이 무언가를 입력하고 교사가 확인하는 활동이다.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5800" y="5486400"/>
            <a:ext cx="10820400" cy="716089"/>
            <a:chOff x="685800" y="5486400"/>
            <a:chExt cx="10820400" cy="716089"/>
          </a:xfrm>
        </p:grpSpPr>
        <p:sp>
          <p:nvSpPr>
            <p:cNvPr id="33" name="Rectangle 33"/>
            <p:cNvSpPr/>
            <p:nvPr/>
          </p:nvSpPr>
          <p:spPr>
            <a:xfrm>
              <a:off x="685800" y="5486400"/>
              <a:ext cx="10820400" cy="685800"/>
            </a:xfrm>
            <a:prstGeom prst="roundRect">
              <a:avLst>
                <a:gd name="adj" fmla="val 25000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5266" y="5715952"/>
              <a:ext cx="729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CEFF32"/>
                  </a:solidFill>
                  <a:latin typeface="Pretendard ExtraBold"/>
                  <a:ea typeface="Pretendard ExtraBold"/>
                  <a:cs typeface="Pretendard ExtraBold"/>
                </a:rPr>
                <a:t>핵심 질문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2218" y="5879782"/>
              <a:ext cx="4832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6E8"/>
                  </a:solidFill>
                  <a:latin typeface="Pretendard SemiBold"/>
                  <a:ea typeface="Pretendard SemiBold"/>
                  <a:cs typeface="Pretendard SemiBold"/>
                </a:rPr>
                <a:t>이 기록들을 한 곳에 자동으로 모을 수 없을까?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37" name="Line 37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02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499110"/>
            <a:ext cx="3568341" cy="1148715"/>
            <a:chOff x="666750" y="499110"/>
            <a:chExt cx="3568341" cy="114871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13367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1 · 도입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771525"/>
              <a:ext cx="3568341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가능합니다.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42875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76656" y="1863090"/>
            <a:ext cx="6511442" cy="675894"/>
            <a:chOff x="676656" y="1863090"/>
            <a:chExt cx="6511442" cy="675894"/>
          </a:xfrm>
        </p:grpSpPr>
        <p:sp>
          <p:nvSpPr>
            <p:cNvPr id="6" name="TextBox 6"/>
            <p:cNvSpPr txBox="1"/>
            <p:nvPr/>
          </p:nvSpPr>
          <p:spPr>
            <a:xfrm>
              <a:off x="676656" y="1863090"/>
              <a:ext cx="65114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학생이 입력할 화면은 Interactive HTML 웹앱으로 만들고,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6656" y="2186940"/>
              <a:ext cx="59091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제출한 기록은 Google Spreadsheet에 자동 저장한다.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" y="2857500"/>
            <a:ext cx="2362200" cy="2743200"/>
            <a:chOff x="914400" y="2857500"/>
            <a:chExt cx="2362200" cy="2743200"/>
          </a:xfrm>
        </p:grpSpPr>
        <p:sp>
          <p:nvSpPr>
            <p:cNvPr id="9" name="Rectangle 9"/>
            <p:cNvSpPr/>
            <p:nvPr/>
          </p:nvSpPr>
          <p:spPr>
            <a:xfrm>
              <a:off x="914400" y="2857500"/>
              <a:ext cx="2362200" cy="5715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5380" y="3048000"/>
              <a:ext cx="8835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구글 설문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14400" y="3581400"/>
              <a:ext cx="2362200" cy="5715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5380" y="3771900"/>
              <a:ext cx="1085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학습지 웹앱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4305300"/>
              <a:ext cx="2362200" cy="5715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5380" y="4495800"/>
              <a:ext cx="1085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학생기록 앱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14400" y="5029200"/>
              <a:ext cx="2362200" cy="5715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5380" y="5219700"/>
              <a:ext cx="1085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수행평가 앱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276600" y="3143250"/>
            <a:ext cx="2438400" cy="2171700"/>
            <a:chOff x="3276600" y="3143250"/>
            <a:chExt cx="2438400" cy="2171700"/>
          </a:xfrm>
        </p:grpSpPr>
        <p:sp>
          <p:nvSpPr>
            <p:cNvPr id="18" name="Freeform 18"/>
            <p:cNvSpPr/>
            <p:nvPr/>
          </p:nvSpPr>
          <p:spPr>
            <a:xfrm>
              <a:off x="3276600" y="3143250"/>
              <a:ext cx="2400300" cy="1085850"/>
            </a:xfrm>
            <a:custGeom>
              <a:avLst/>
              <a:gdLst/>
              <a:ahLst/>
              <a:cxnLst/>
              <a:rect l="l" t="t" r="r" b="b"/>
              <a:pathLst>
                <a:path w="2400300" h="1085850">
                  <a:moveTo>
                    <a:pt x="0" y="0"/>
                  </a:moveTo>
                  <a:cubicBezTo>
                    <a:pt x="1200150" y="0"/>
                    <a:pt x="1200150" y="1085850"/>
                    <a:pt x="2400300" y="1085850"/>
                  </a:cubicBezTo>
                </a:path>
              </a:pathLst>
            </a:custGeom>
            <a:noFill/>
            <a:ln w="23812">
              <a:solidFill>
                <a:srgbClr val="FE7BBF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276600" y="3867150"/>
              <a:ext cx="2400300" cy="361950"/>
            </a:xfrm>
            <a:custGeom>
              <a:avLst/>
              <a:gdLst/>
              <a:ahLst/>
              <a:cxnLst/>
              <a:rect l="l" t="t" r="r" b="b"/>
              <a:pathLst>
                <a:path w="2400300" h="361950">
                  <a:moveTo>
                    <a:pt x="0" y="0"/>
                  </a:moveTo>
                  <a:cubicBezTo>
                    <a:pt x="1200150" y="0"/>
                    <a:pt x="1200150" y="361950"/>
                    <a:pt x="2400300" y="361950"/>
                  </a:cubicBezTo>
                </a:path>
              </a:pathLst>
            </a:custGeom>
            <a:noFill/>
            <a:ln w="23812">
              <a:solidFill>
                <a:srgbClr val="FE7BBF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276600" y="4229100"/>
              <a:ext cx="2400300" cy="361950"/>
            </a:xfrm>
            <a:custGeom>
              <a:avLst/>
              <a:gdLst/>
              <a:ahLst/>
              <a:cxnLst/>
              <a:rect l="l" t="t" r="r" b="b"/>
              <a:pathLst>
                <a:path w="2400300" h="361950">
                  <a:moveTo>
                    <a:pt x="0" y="361950"/>
                  </a:moveTo>
                  <a:cubicBezTo>
                    <a:pt x="1200150" y="361950"/>
                    <a:pt x="1200150" y="0"/>
                    <a:pt x="2400300" y="0"/>
                  </a:cubicBezTo>
                </a:path>
              </a:pathLst>
            </a:custGeom>
            <a:noFill/>
            <a:ln w="23812">
              <a:solidFill>
                <a:srgbClr val="FE7BBF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276600" y="4229100"/>
              <a:ext cx="2400300" cy="1085850"/>
            </a:xfrm>
            <a:custGeom>
              <a:avLst/>
              <a:gdLst/>
              <a:ahLst/>
              <a:cxnLst/>
              <a:rect l="l" t="t" r="r" b="b"/>
              <a:pathLst>
                <a:path w="2400300" h="1085850">
                  <a:moveTo>
                    <a:pt x="0" y="1085850"/>
                  </a:moveTo>
                  <a:cubicBezTo>
                    <a:pt x="1200150" y="1085850"/>
                    <a:pt x="1200150" y="0"/>
                    <a:pt x="2400300" y="0"/>
                  </a:cubicBezTo>
                </a:path>
              </a:pathLst>
            </a:custGeom>
            <a:noFill/>
            <a:ln w="23812">
              <a:solidFill>
                <a:srgbClr val="FE7BBF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581650" y="41624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E7BBF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753100" y="3581400"/>
            <a:ext cx="4800600" cy="1295400"/>
            <a:chOff x="5753100" y="3581400"/>
            <a:chExt cx="4800600" cy="1295400"/>
          </a:xfrm>
        </p:grpSpPr>
        <p:sp>
          <p:nvSpPr>
            <p:cNvPr id="24" name="Rectangle 24"/>
            <p:cNvSpPr/>
            <p:nvPr/>
          </p:nvSpPr>
          <p:spPr>
            <a:xfrm>
              <a:off x="5753100" y="3581400"/>
              <a:ext cx="4800600" cy="1295400"/>
            </a:xfrm>
            <a:prstGeom prst="roundRect">
              <a:avLst>
                <a:gd name="adj" fmla="val 14706"/>
              </a:avLst>
            </a:prstGeom>
            <a:solidFill>
              <a:srgbClr val="CEFF3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84570" y="3871912"/>
              <a:ext cx="303234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Google Spreadsheet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88380" y="4314825"/>
              <a:ext cx="2882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한 곳으로 모이는 교사의 기록장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8" name="Line 28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03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5117923" cy="894969"/>
            <a:chOff x="669036" y="499110"/>
            <a:chExt cx="5117923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13367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1 · 도입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511792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두 방식은 무엇이 다른가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85800" y="1638300"/>
            <a:ext cx="10820400" cy="4305300"/>
            <a:chOff x="685800" y="1638300"/>
            <a:chExt cx="10820400" cy="4305300"/>
          </a:xfrm>
        </p:grpSpPr>
        <p:sp>
          <p:nvSpPr>
            <p:cNvPr id="6" name="Rectangle 6"/>
            <p:cNvSpPr/>
            <p:nvPr/>
          </p:nvSpPr>
          <p:spPr>
            <a:xfrm>
              <a:off x="685800" y="1638300"/>
              <a:ext cx="10820400" cy="4305300"/>
            </a:xfrm>
            <a:prstGeom prst="roundRect">
              <a:avLst>
                <a:gd name="adj" fmla="val 4425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638300"/>
              <a:ext cx="10820400" cy="533400"/>
            </a:xfrm>
            <a:prstGeom prst="roundRect">
              <a:avLst>
                <a:gd name="adj" fmla="val 35714"/>
              </a:avLst>
            </a:prstGeom>
            <a:solidFill>
              <a:srgbClr val="FBEAD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905000"/>
              <a:ext cx="10820400" cy="266700"/>
            </a:xfrm>
            <a:prstGeom prst="rect">
              <a:avLst/>
            </a:prstGeom>
            <a:solidFill>
              <a:srgbClr val="FBEAD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4504" y="18421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6B5B52"/>
                  </a:solidFill>
                  <a:latin typeface="Pretendard SemiBold"/>
                  <a:ea typeface="Pretendard SemiBold"/>
                  <a:cs typeface="Pretendard SemiBold"/>
                </a:rPr>
                <a:t>구분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69361" y="1817846"/>
              <a:ext cx="11857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3262C"/>
                  </a:solidFill>
                  <a:latin typeface="Pretendard SemiBold"/>
                  <a:ea typeface="Pretendard SemiBold"/>
                  <a:cs typeface="Pretendard SemiBold"/>
                </a:rPr>
                <a:t>Google Form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9361" y="1817846"/>
              <a:ext cx="21796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20" b="1" dirty="0">
                  <a:solidFill>
                    <a:srgbClr val="EC2B7A"/>
                  </a:solidFill>
                  <a:latin typeface="Pretendard SemiBold"/>
                  <a:ea typeface="Pretendard SemiBold"/>
                  <a:cs typeface="Pretendard SemiBold"/>
                </a:rPr>
                <a:t>Interactive HTML 웹앱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971800" y="1638300"/>
              <a:ext cx="9525" cy="4305300"/>
            </a:xfrm>
            <a:custGeom>
              <a:avLst/>
              <a:gdLst/>
              <a:ahLst/>
              <a:cxnLst/>
              <a:rect l="l" t="t" r="r" b="b"/>
              <a:pathLst>
                <a:path w="9525" h="4305300">
                  <a:moveTo>
                    <a:pt x="0" y="0"/>
                  </a:moveTo>
                  <a:lnTo>
                    <a:pt x="0" y="430530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781800" y="1638300"/>
              <a:ext cx="9525" cy="4305300"/>
            </a:xfrm>
            <a:custGeom>
              <a:avLst/>
              <a:gdLst/>
              <a:ahLst/>
              <a:cxnLst/>
              <a:rect l="l" t="t" r="r" b="b"/>
              <a:pathLst>
                <a:path w="9525" h="4305300">
                  <a:moveTo>
                    <a:pt x="0" y="0"/>
                  </a:moveTo>
                  <a:lnTo>
                    <a:pt x="0" y="430530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85800" y="2352675"/>
              <a:ext cx="10820400" cy="3493770"/>
              <a:chOff x="685800" y="2352675"/>
              <a:chExt cx="10820400" cy="3493770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982980" y="2352675"/>
                <a:ext cx="11389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6B5B52"/>
                    </a:solidFill>
                    <a:latin typeface="Pretendard SemiBold"/>
                    <a:ea typeface="Pretendard SemiBold"/>
                    <a:cs typeface="Pretendard SemiBold"/>
                  </a:rPr>
                  <a:t>제작 난이도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268980" y="23526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낮음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078980" y="2352675"/>
                <a:ext cx="23728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AI 도움으로 낮출 수 있음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685800" y="27051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9D9C4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82980" y="2886075"/>
                <a:ext cx="11389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6B5B52"/>
                    </a:solidFill>
                    <a:latin typeface="Pretendard SemiBold"/>
                    <a:ea typeface="Pretendard SemiBold"/>
                    <a:cs typeface="Pretendard SemiBold"/>
                  </a:rPr>
                  <a:t>화면 디자인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268980" y="28860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제한적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078980" y="2886075"/>
                <a:ext cx="175183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자유롭게 구성 가능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685800" y="32385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9D9C4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82980" y="3419475"/>
                <a:ext cx="11389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6B5B52"/>
                    </a:solidFill>
                    <a:latin typeface="Pretendard SemiBold"/>
                    <a:ea typeface="Pretendard SemiBold"/>
                    <a:cs typeface="Pretendard SemiBold"/>
                  </a:rPr>
                  <a:t>조건부 활동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268980" y="3419475"/>
                <a:ext cx="8835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일부 가능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078980" y="341947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매우 자유로움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685800" y="37719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9D9C4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82980" y="3952875"/>
                <a:ext cx="11389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6B5B52"/>
                    </a:solidFill>
                    <a:latin typeface="Pretendard SemiBold"/>
                    <a:ea typeface="Pretendard SemiBold"/>
                    <a:cs typeface="Pretendard SemiBold"/>
                  </a:rPr>
                  <a:t>학생 피드백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268980" y="39528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제한적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078980" y="3952875"/>
                <a:ext cx="15499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즉시 피드백 가능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685800" y="43053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9D9C4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82980" y="4486275"/>
                <a:ext cx="14146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6B5B52"/>
                    </a:solidFill>
                    <a:latin typeface="Pretendard SemiBold"/>
                    <a:ea typeface="Pretendard SemiBold"/>
                    <a:cs typeface="Pretendard SemiBold"/>
                  </a:rPr>
                  <a:t>수업 흐름 반영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268980" y="44862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제한적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078980" y="4486275"/>
                <a:ext cx="15499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단계형 활동 가능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685800" y="48387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9D9C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82980" y="5019675"/>
                <a:ext cx="17947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6B5B52"/>
                    </a:solidFill>
                    <a:latin typeface="Pretendard SemiBold"/>
                    <a:ea typeface="Pretendard SemiBold"/>
                    <a:cs typeface="Pretendard SemiBold"/>
                  </a:rPr>
                  <a:t>Spreadsheet 저장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268980" y="50196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가능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078980" y="50196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가능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685800" y="53721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9D9C4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82980" y="5553075"/>
                <a:ext cx="6513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6B5B52"/>
                    </a:solidFill>
                    <a:latin typeface="Pretendard SemiBold"/>
                    <a:ea typeface="Pretendard SemiBold"/>
                    <a:cs typeface="Pretendard SemiBold"/>
                  </a:rPr>
                  <a:t>확장성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268980" y="55530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중간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078980" y="55530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높음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43" name="Line 43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04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7887982" cy="894969"/>
            <a:chOff x="669036" y="499110"/>
            <a:chExt cx="7887982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13367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1 · 도입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788798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Google Form을 버리자는 말이 아니다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7418" y="1536382"/>
            <a:ext cx="6347270" cy="322707"/>
            <a:chOff x="677418" y="1536382"/>
            <a:chExt cx="6347270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77418" y="1536382"/>
              <a:ext cx="63472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둘은 경쟁이 아니라 역할이 다르다. 활동의 성격에 맞게 고른다.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1943100"/>
            <a:ext cx="5181600" cy="4038600"/>
            <a:chOff x="685800" y="1943100"/>
            <a:chExt cx="5181600" cy="4038600"/>
          </a:xfrm>
        </p:grpSpPr>
        <p:sp>
          <p:nvSpPr>
            <p:cNvPr id="8" name="Rectangle 8"/>
            <p:cNvSpPr/>
            <p:nvPr/>
          </p:nvSpPr>
          <p:spPr>
            <a:xfrm>
              <a:off x="685800" y="1943100"/>
              <a:ext cx="5181600" cy="4038600"/>
            </a:xfrm>
            <a:prstGeom prst="roundRect">
              <a:avLst>
                <a:gd name="adj" fmla="val 4717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1456" y="2244090"/>
              <a:ext cx="2938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Google Form이 좋은 경우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982599" y="2839879"/>
              <a:ext cx="1797425" cy="1565339"/>
              <a:chOff x="982599" y="2839879"/>
              <a:chExt cx="1797425" cy="156533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982599" y="2839879"/>
                <a:ext cx="109773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단순 설문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82599" y="3258979"/>
                <a:ext cx="130976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객관식 조사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599" y="3678079"/>
                <a:ext cx="15853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빠른 응답 수집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2599" y="4097179"/>
                <a:ext cx="179742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익숙한 제출 방식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6324600" y="1943100"/>
            <a:ext cx="5181600" cy="4038600"/>
            <a:chOff x="6324600" y="1943100"/>
            <a:chExt cx="5181600" cy="40386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943100"/>
              <a:ext cx="5181600" cy="4038600"/>
            </a:xfrm>
            <a:prstGeom prst="roundRect">
              <a:avLst>
                <a:gd name="adj" fmla="val 4717"/>
              </a:avLst>
            </a:prstGeom>
            <a:solidFill>
              <a:srgbClr val="FFFFFF"/>
            </a:solidFill>
            <a:ln w="19050">
              <a:solidFill>
                <a:srgbClr val="EC2B7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20256" y="2244090"/>
              <a:ext cx="3608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Interactive HTML이 좋은 경우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621399" y="2763679"/>
              <a:ext cx="2221478" cy="2479739"/>
              <a:chOff x="6621399" y="2763679"/>
              <a:chExt cx="2221478" cy="2479739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621399" y="2763679"/>
                <a:ext cx="152179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단계형 학습지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21399" y="3125629"/>
                <a:ext cx="130976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즉시 피드백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21399" y="3487579"/>
                <a:ext cx="130976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버튼형 활동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21399" y="3849529"/>
                <a:ext cx="179742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학생별 기록 누적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21399" y="4211479"/>
                <a:ext cx="222147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디자인이 중요한 활동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21399" y="4573429"/>
                <a:ext cx="163100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AI 피드백 연결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621399" y="4935379"/>
                <a:ext cx="200945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수행평가 과정 기록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7" name="Line 27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05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3578611" cy="894969"/>
            <a:chOff x="669036" y="499110"/>
            <a:chExt cx="3578611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13367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1 · 도입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35786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오늘의 핵심 비유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85800" y="2019300"/>
            <a:ext cx="10820400" cy="2171700"/>
            <a:chOff x="685800" y="2019300"/>
            <a:chExt cx="10820400" cy="2171700"/>
          </a:xfrm>
        </p:grpSpPr>
        <p:sp>
          <p:nvSpPr>
            <p:cNvPr id="6" name="Rectangle 6"/>
            <p:cNvSpPr/>
            <p:nvPr/>
          </p:nvSpPr>
          <p:spPr>
            <a:xfrm>
              <a:off x="685800" y="2019300"/>
              <a:ext cx="3352800" cy="2171700"/>
            </a:xfrm>
            <a:prstGeom prst="roundRect">
              <a:avLst>
                <a:gd name="adj" fmla="val 8772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2594" y="2342198"/>
              <a:ext cx="175630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학생의 활동지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4880" y="2809875"/>
              <a:ext cx="24182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학생이 보고 입력하는 화면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4880" y="3686175"/>
              <a:ext cx="1797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C2B7A"/>
                  </a:solidFill>
                  <a:latin typeface="Pretendard SemiBold"/>
                  <a:ea typeface="Pretendard SemiBold"/>
                  <a:cs typeface="Pretendard SemiBold"/>
                </a:rPr>
                <a:t>Interactive HTML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419600" y="2019300"/>
              <a:ext cx="3352800" cy="2171700"/>
            </a:xfrm>
            <a:prstGeom prst="roundRect">
              <a:avLst>
                <a:gd name="adj" fmla="val 8772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76394" y="2342198"/>
              <a:ext cx="175630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FFF6E8"/>
                  </a:solidFill>
                  <a:latin typeface="Pretendard ExtraBold"/>
                  <a:ea typeface="Pretendard ExtraBold"/>
                  <a:cs typeface="Pretendard ExtraBold"/>
                </a:rPr>
                <a:t>연결하는 통로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8680" y="2809875"/>
              <a:ext cx="23576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입력값을 기록장으로 보냄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78680" y="3686175"/>
              <a:ext cx="12053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CEFF32"/>
                  </a:solidFill>
                  <a:latin typeface="Pretendard SemiBold"/>
                  <a:ea typeface="Pretendard SemiBold"/>
                  <a:cs typeface="Pretendard SemiBold"/>
                </a:rPr>
                <a:t>Apps Script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53400" y="2019300"/>
              <a:ext cx="3352800" cy="2171700"/>
            </a:xfrm>
            <a:prstGeom prst="roundRect">
              <a:avLst>
                <a:gd name="adj" fmla="val 8772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10194" y="2342198"/>
              <a:ext cx="175630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교사의 기록장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12480" y="2809875"/>
              <a:ext cx="18124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기록이 한 곳에 쌓임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12480" y="3686175"/>
              <a:ext cx="20215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C2B7A"/>
                  </a:solidFill>
                  <a:latin typeface="Pretendard SemiBold"/>
                  <a:ea typeface="Pretendard SemiBold"/>
                  <a:cs typeface="Pretendard SemiBold"/>
                </a:rPr>
                <a:t>Google Spreadsheet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038600" y="3048000"/>
            <a:ext cx="4095750" cy="114300"/>
            <a:chOff x="4038600" y="3048000"/>
            <a:chExt cx="4095750" cy="114300"/>
          </a:xfrm>
        </p:grpSpPr>
        <p:sp>
          <p:nvSpPr>
            <p:cNvPr id="19" name="Freeform 19"/>
            <p:cNvSpPr/>
            <p:nvPr/>
          </p:nvSpPr>
          <p:spPr>
            <a:xfrm>
              <a:off x="4038600" y="31051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rgbClr val="FE7BBF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286250" y="30480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E7BBF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772400" y="31051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rgbClr val="FE7BBF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020050" y="30480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E7BBF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85800" y="4686300"/>
            <a:ext cx="10820400" cy="1066800"/>
            <a:chOff x="685800" y="4686300"/>
            <a:chExt cx="10820400" cy="1066800"/>
          </a:xfrm>
        </p:grpSpPr>
        <p:sp>
          <p:nvSpPr>
            <p:cNvPr id="24" name="Rectangle 24"/>
            <p:cNvSpPr/>
            <p:nvPr/>
          </p:nvSpPr>
          <p:spPr>
            <a:xfrm>
              <a:off x="685800" y="4686300"/>
              <a:ext cx="10820400" cy="1066800"/>
            </a:xfrm>
            <a:prstGeom prst="roundRect">
              <a:avLst>
                <a:gd name="adj" fmla="val 17857"/>
              </a:avLst>
            </a:prstGeom>
            <a:solidFill>
              <a:srgbClr val="CEFF3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81456" y="4987290"/>
              <a:ext cx="71082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23262C"/>
                  </a:solidFill>
                  <a:latin typeface="Pretendard SemiBold"/>
                  <a:ea typeface="Pretendard SemiBold"/>
                  <a:cs typeface="Pretendard SemiBold"/>
                </a:rPr>
                <a:t>Spreadsheet는 교사의 기록장, HTML 웹앱은 학생의 활동지,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1456" y="5311140"/>
              <a:ext cx="43925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23262C"/>
                  </a:solidFill>
                  <a:latin typeface="Pretendard SemiBold"/>
                  <a:ea typeface="Pretendard SemiBold"/>
                  <a:cs typeface="Pretendard SemiBold"/>
                </a:rPr>
                <a:t>Apps Script는 둘을 연결하는 통로다.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8" name="Line 28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06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14373" y="27527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FBEAD6"/>
                </a:solidFill>
                <a:latin typeface="Pretendard ExtraBold"/>
                <a:ea typeface="Pretendard ExtraBold"/>
                <a:cs typeface="Pretendard ExtraBold"/>
              </a:rPr>
              <a:t>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632651"/>
            <a:chOff x="678942" y="1428750"/>
            <a:chExt cx="788693" cy="6326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609600" cy="76200"/>
            </a:xfrm>
            <a:prstGeom prst="rect">
              <a:avLst/>
            </a:prstGeom>
            <a:solidFill>
              <a:srgbClr val="EC2B7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973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540318"/>
            <a:ext cx="5326041" cy="1533525"/>
            <a:chOff x="647700" y="2540318"/>
            <a:chExt cx="5326041" cy="1533525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540318"/>
              <a:ext cx="329694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3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이해할 것은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226118"/>
              <a:ext cx="532604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3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코드가 아니라 </a:t>
              </a:r>
              <a:r>
                <a:rPr lang="ko-KR" sz="4350" b="1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구조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307205"/>
            <a:ext cx="8530666" cy="410718"/>
            <a:chOff x="675132" y="4307205"/>
            <a:chExt cx="8530666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307205"/>
              <a:ext cx="85306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알아야 할 건 학생 화면 · 기록 저장소 · 연결 장치, 이 셋의 관계뿐.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7418" y="4965382"/>
            <a:ext cx="7914284" cy="322707"/>
            <a:chOff x="677418" y="4965382"/>
            <a:chExt cx="7914284" cy="322707"/>
          </a:xfrm>
        </p:grpSpPr>
        <p:sp>
          <p:nvSpPr>
            <p:cNvPr id="11" name="TextBox 11"/>
            <p:cNvSpPr txBox="1"/>
            <p:nvPr/>
          </p:nvSpPr>
          <p:spPr>
            <a:xfrm>
              <a:off x="677418" y="4965382"/>
              <a:ext cx="7914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코드는 생성형 AI가 만든다. 선생님은 어떤 기록을 받고 싶은지를 설계한다.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5840934" cy="894969"/>
            <a:chOff x="669036" y="499110"/>
            <a:chExt cx="5840934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18129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2 · 핵심 개념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58409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선생님이 알아야 하는 3가지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7418" y="1555432"/>
            <a:ext cx="5907634" cy="322707"/>
            <a:chOff x="677418" y="1555432"/>
            <a:chExt cx="5907634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77418" y="1555432"/>
              <a:ext cx="59076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이 세 부분의 관계만 알면 나머지는 AI에게 맡길 수 있다.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2019300"/>
            <a:ext cx="10820400" cy="3581400"/>
            <a:chOff x="685800" y="2019300"/>
            <a:chExt cx="10820400" cy="3581400"/>
          </a:xfrm>
        </p:grpSpPr>
        <p:sp>
          <p:nvSpPr>
            <p:cNvPr id="8" name="Rectangle 8"/>
            <p:cNvSpPr/>
            <p:nvPr/>
          </p:nvSpPr>
          <p:spPr>
            <a:xfrm>
              <a:off x="685800" y="2019300"/>
              <a:ext cx="3352800" cy="3581400"/>
            </a:xfrm>
            <a:prstGeom prst="roundRect">
              <a:avLst>
                <a:gd name="adj" fmla="val 5682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79170" y="23479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0694" y="2875598"/>
              <a:ext cx="12050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학생 화면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599" y="3373279"/>
              <a:ext cx="1076134" cy="5937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8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학생이 보는 입력 화면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3742" y="5035868"/>
              <a:ext cx="1617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B5B52"/>
                  </a:solidFill>
                  <a:latin typeface="Pretendard SemiBold"/>
                  <a:ea typeface="Pretendard SemiBold"/>
                  <a:cs typeface="Pretendard SemiBold"/>
                </a:rPr>
                <a:t>Interactive HTML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19600" y="2019300"/>
              <a:ext cx="3352800" cy="3581400"/>
            </a:xfrm>
            <a:prstGeom prst="roundRect">
              <a:avLst>
                <a:gd name="adj" fmla="val 5682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12970" y="23479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14494" y="2875598"/>
              <a:ext cx="14806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기록 저장소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16399" y="3373279"/>
              <a:ext cx="1896237" cy="5937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8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교사가 보는 </a:t>
              </a:r>
              <a:r>
                <a:rPr lang="en-US" sz="158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Google Spreadsheet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17542" y="5035868"/>
              <a:ext cx="18194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B5B52"/>
                  </a:solidFill>
                  <a:latin typeface="Pretendard SemiBold"/>
                  <a:ea typeface="Pretendard SemiBold"/>
                  <a:cs typeface="Pretendard SemiBold"/>
                </a:rPr>
                <a:t>Google Spreadsheet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153400" y="2019300"/>
              <a:ext cx="3352800" cy="3581400"/>
            </a:xfrm>
            <a:prstGeom prst="roundRect">
              <a:avLst>
                <a:gd name="adj" fmla="val 5682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46770" y="23479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CEFF32"/>
                  </a:solidFill>
                  <a:latin typeface="Pretendard ExtraBold"/>
                  <a:ea typeface="Pretendard ExtraBold"/>
                  <a:cs typeface="Pretendard ExtraBold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48294" y="2875598"/>
              <a:ext cx="12050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FFF6E8"/>
                  </a:solidFill>
                  <a:latin typeface="Pretendard ExtraBold"/>
                  <a:ea typeface="Pretendard ExtraBold"/>
                  <a:cs typeface="Pretendard ExtraBold"/>
                </a:rPr>
                <a:t>연결 장치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50199" y="3373279"/>
              <a:ext cx="1886236" cy="5937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80" dirty="0">
                  <a:solidFill>
                    <a:srgbClr val="FFF6E8"/>
                  </a:solidFill>
                  <a:latin typeface="Pretendard"/>
                  <a:ea typeface="Pretendard"/>
                  <a:cs typeface="Pretendard"/>
                </a:rPr>
                <a:t>HTML 입력값을 Spreadsheet로 보냄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51342" y="5035868"/>
              <a:ext cx="1084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99C90"/>
                  </a:solidFill>
                  <a:latin typeface="Pretendard SemiBold"/>
                  <a:ea typeface="Pretendard SemiBold"/>
                  <a:cs typeface="Pretendard SemiBold"/>
                </a:rPr>
                <a:t>Apps Script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4" name="Line 24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08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6657236" cy="894969"/>
            <a:chOff x="669036" y="499110"/>
            <a:chExt cx="6657236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18129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2 · 핵심 개념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66572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선생님이 외우지 않아도 되는 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85800" y="1733550"/>
            <a:ext cx="10820400" cy="3143250"/>
            <a:chOff x="685800" y="1733550"/>
            <a:chExt cx="10820400" cy="3143250"/>
          </a:xfrm>
        </p:grpSpPr>
        <p:sp>
          <p:nvSpPr>
            <p:cNvPr id="6" name="Rectangle 6"/>
            <p:cNvSpPr/>
            <p:nvPr/>
          </p:nvSpPr>
          <p:spPr>
            <a:xfrm>
              <a:off x="685800" y="1733550"/>
              <a:ext cx="10820400" cy="3143250"/>
            </a:xfrm>
            <a:prstGeom prst="roundRect">
              <a:avLst>
                <a:gd name="adj" fmla="val 6061"/>
              </a:avLst>
            </a:prstGeom>
            <a:solidFill>
              <a:srgbClr val="23262C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58418" y="2184082"/>
              <a:ext cx="8930640" cy="1541907"/>
              <a:chOff x="1058418" y="2184082"/>
              <a:chExt cx="8930640" cy="1541907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058418" y="2184082"/>
                <a:ext cx="124708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8A8580"/>
                    </a:solidFill>
                    <a:latin typeface="Consolas"/>
                    <a:ea typeface="Consolas"/>
                    <a:cs typeface="Consolas"/>
                  </a:rPr>
                  <a:t>getRange()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4944618" y="2184082"/>
                <a:ext cx="141376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8A8580"/>
                    </a:solidFill>
                    <a:latin typeface="Consolas"/>
                    <a:ea typeface="Consolas"/>
                    <a:cs typeface="Consolas"/>
                  </a:rPr>
                  <a:t>appendRow()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564118" y="2184082"/>
                <a:ext cx="88161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8A8580"/>
                    </a:solidFill>
                    <a:latin typeface="Consolas"/>
                    <a:ea typeface="Consolas"/>
                    <a:cs typeface="Consolas"/>
                  </a:rPr>
                  <a:t>doGet()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58418" y="2793682"/>
                <a:ext cx="198255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8A8580"/>
                    </a:solidFill>
                    <a:latin typeface="Consolas"/>
                    <a:ea typeface="Consolas"/>
                    <a:cs typeface="Consolas"/>
                  </a:rPr>
                  <a:t>google.script.run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944618" y="2793682"/>
                <a:ext cx="58003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8A8580"/>
                    </a:solidFill>
                    <a:latin typeface="Consolas"/>
                    <a:ea typeface="Consolas"/>
                    <a:cs typeface="Consolas"/>
                  </a:rPr>
                  <a:t>JSON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564118" y="2793682"/>
                <a:ext cx="14249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8A8580"/>
                    </a:solidFill>
                    <a:latin typeface="Consolas"/>
                    <a:ea typeface="Microsoft YaHei"/>
                    <a:cs typeface="Consolas"/>
                  </a:rPr>
                  <a:t>API 호출 방식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58418" y="3403282"/>
                <a:ext cx="171277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8A8580"/>
                    </a:solidFill>
                    <a:latin typeface="Consolas"/>
                    <a:ea typeface="Microsoft YaHei"/>
                    <a:cs typeface="Consolas"/>
                  </a:rPr>
                  <a:t>JavaScript 문법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944618" y="3403282"/>
                <a:ext cx="11198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8A8580"/>
                    </a:solidFill>
                    <a:latin typeface="Consolas"/>
                    <a:ea typeface="Microsoft YaHei"/>
                    <a:cs typeface="Consolas"/>
                  </a:rPr>
                  <a:t>HTML 문법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059180" y="4181475"/>
              <a:ext cx="3862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이 용어들의 뜻을 몰라도 웹앱은 완성된다.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5181600"/>
            <a:ext cx="10820400" cy="685800"/>
            <a:chOff x="685800" y="5181600"/>
            <a:chExt cx="10820400" cy="685800"/>
          </a:xfrm>
        </p:grpSpPr>
        <p:sp>
          <p:nvSpPr>
            <p:cNvPr id="18" name="Rectangle 18"/>
            <p:cNvSpPr/>
            <p:nvPr/>
          </p:nvSpPr>
          <p:spPr>
            <a:xfrm>
              <a:off x="685800" y="5181600"/>
              <a:ext cx="10820400" cy="685800"/>
            </a:xfrm>
            <a:prstGeom prst="roundRect">
              <a:avLst>
                <a:gd name="adj" fmla="val 25000"/>
              </a:avLst>
            </a:prstGeom>
            <a:solidFill>
              <a:srgbClr val="EC2B7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1456" y="5406390"/>
              <a:ext cx="4749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Pretendard ExtraBold"/>
                  <a:ea typeface="Pretendard ExtraBold"/>
                  <a:cs typeface="Pretendard ExtraBold"/>
                </a:rPr>
                <a:t>이것들은 전부 생성형 AI가 만들어준다.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1" name="Line 21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09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6190778" cy="894969"/>
            <a:chOff x="669036" y="499110"/>
            <a:chExt cx="6190778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18129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2 · 핵심 개념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619077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선생님이 반드시 해야 하는 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85800" y="1676400"/>
            <a:ext cx="10820400" cy="4305300"/>
            <a:chOff x="685800" y="1676400"/>
            <a:chExt cx="10820400" cy="43053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4305300"/>
            </a:xfrm>
            <a:prstGeom prst="roundRect">
              <a:avLst>
                <a:gd name="adj" fmla="val 4425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028700" y="2038350"/>
              <a:ext cx="5101867" cy="3472434"/>
              <a:chOff x="1028700" y="2038350"/>
              <a:chExt cx="5101867" cy="3472434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028700" y="2038350"/>
                <a:ext cx="381000" cy="3810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153273" y="21431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Pretendard ExtraBold"/>
                    <a:ea typeface="Pretendard ExtraBold"/>
                    <a:cs typeface="Pretendard ExtraBold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67256" y="2110740"/>
                <a:ext cx="29018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어떤 활동을 만들지 정한다</a:t>
                </a:r>
              </a:p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1028700" y="2647950"/>
                <a:ext cx="381000" cy="3810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53273" y="27527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Pretendard ExtraBold"/>
                    <a:ea typeface="Pretendard ExtraBold"/>
                    <a:cs typeface="Pretendard ExtraBold"/>
                  </a:rPr>
                  <a:t>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667256" y="2720340"/>
                <a:ext cx="31441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학생이 입력할 항목을 정한다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1028700" y="3257550"/>
                <a:ext cx="381000" cy="3810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53273" y="33623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Pretendard ExtraBold"/>
                    <a:ea typeface="Pretendard ExtraBold"/>
                    <a:cs typeface="Pretendard ExtraBold"/>
                  </a:rPr>
                  <a:t>3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67256" y="3329940"/>
                <a:ext cx="44633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Spreadsheet에 저장될 열 이름을 정한다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1028700" y="3867150"/>
                <a:ext cx="381000" cy="3810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153273" y="39719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Pretendard ExtraBold"/>
                    <a:ea typeface="Pretendard ExtraBold"/>
                    <a:cs typeface="Pretendard ExtraBold"/>
                  </a:rPr>
                  <a:t>4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667256" y="3939540"/>
                <a:ext cx="36287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학생에게 보여줄 안내문을 정한다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1028700" y="4476750"/>
                <a:ext cx="381000" cy="3810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153273" y="45815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Pretendard ExtraBold"/>
                    <a:ea typeface="Pretendard ExtraBold"/>
                    <a:cs typeface="Pretendard ExtraBold"/>
                  </a:rPr>
                  <a:t>5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667256" y="4549140"/>
                <a:ext cx="269382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AI에게 정확히 요청한다</a:t>
                </a:r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1028700" y="5086350"/>
                <a:ext cx="381000" cy="381000"/>
              </a:xfrm>
              <a:prstGeom prst="ellipse">
                <a:avLst/>
              </a:prstGeom>
              <a:solidFill>
                <a:srgbClr val="EC2B7A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153273" y="51911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Pretendard ExtraBold"/>
                    <a:ea typeface="Pretendard ExtraBold"/>
                    <a:cs typeface="Pretendard ExtraBold"/>
                  </a:rPr>
                  <a:t>6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667256" y="5158740"/>
                <a:ext cx="41134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만들어진 코드를 붙여넣고 테스트한다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7" name="Line 27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10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5910903" cy="894969"/>
            <a:chOff x="669036" y="499110"/>
            <a:chExt cx="5910903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18129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2 · 핵심 개념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591090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아이디어에서 기록 확인까지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85800" y="1866900"/>
            <a:ext cx="10820400" cy="3276600"/>
            <a:chOff x="685800" y="1866900"/>
            <a:chExt cx="10820400" cy="3276600"/>
          </a:xfrm>
        </p:grpSpPr>
        <p:sp>
          <p:nvSpPr>
            <p:cNvPr id="6" name="Rectangle 6"/>
            <p:cNvSpPr/>
            <p:nvPr/>
          </p:nvSpPr>
          <p:spPr>
            <a:xfrm>
              <a:off x="685800" y="1866900"/>
              <a:ext cx="3200400" cy="685800"/>
            </a:xfrm>
            <a:prstGeom prst="roundRect">
              <a:avLst>
                <a:gd name="adj" fmla="val 19444"/>
              </a:avLst>
            </a:prstGeom>
            <a:solidFill>
              <a:srgbClr val="FFFFFF"/>
            </a:solidFill>
            <a:ln w="14288">
              <a:solidFill>
                <a:srgbClr val="23262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82652" y="2113121"/>
              <a:ext cx="16066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42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수업활동 아이디어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495800" y="1866900"/>
              <a:ext cx="3200400" cy="685800"/>
            </a:xfrm>
            <a:prstGeom prst="roundRect">
              <a:avLst>
                <a:gd name="adj" fmla="val 19444"/>
              </a:avLst>
            </a:prstGeom>
            <a:solidFill>
              <a:srgbClr val="FFFFFF"/>
            </a:solidFill>
            <a:ln w="14288">
              <a:solidFill>
                <a:srgbClr val="23262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139185" y="2113121"/>
              <a:ext cx="19136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42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학생 입력 항목 정하기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05800" y="1866900"/>
              <a:ext cx="3200400" cy="685800"/>
            </a:xfrm>
            <a:prstGeom prst="roundRect">
              <a:avLst>
                <a:gd name="adj" fmla="val 19444"/>
              </a:avLst>
            </a:prstGeom>
            <a:solidFill>
              <a:srgbClr val="FFFFFF"/>
            </a:solidFill>
            <a:ln w="14288">
              <a:solidFill>
                <a:srgbClr val="23262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50247" y="2113121"/>
              <a:ext cx="25115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42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Spreadsheet 열 이름 정하기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3162300"/>
              <a:ext cx="3200400" cy="685800"/>
            </a:xfrm>
            <a:prstGeom prst="roundRect">
              <a:avLst>
                <a:gd name="adj" fmla="val 19444"/>
              </a:avLst>
            </a:prstGeom>
            <a:solidFill>
              <a:srgbClr val="FFFFFF"/>
            </a:solidFill>
            <a:ln w="14288">
              <a:solidFill>
                <a:srgbClr val="23262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89291" y="3408521"/>
              <a:ext cx="21934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42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생성형 AI에게 제작 요청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95800" y="3162300"/>
              <a:ext cx="3200400" cy="685800"/>
            </a:xfrm>
            <a:prstGeom prst="roundRect">
              <a:avLst>
                <a:gd name="adj" fmla="val 19444"/>
              </a:avLst>
            </a:prstGeom>
            <a:solidFill>
              <a:srgbClr val="FFF6E8"/>
            </a:solidFill>
            <a:ln w="19050">
              <a:solidFill>
                <a:srgbClr val="EC2B7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41493" y="3341846"/>
              <a:ext cx="11090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42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AI가 HTML +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27291" y="3570446"/>
              <a:ext cx="15374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42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Apps Script 생성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05800" y="3162300"/>
              <a:ext cx="3200400" cy="685800"/>
            </a:xfrm>
            <a:prstGeom prst="roundRect">
              <a:avLst>
                <a:gd name="adj" fmla="val 19444"/>
              </a:avLst>
            </a:prstGeom>
            <a:solidFill>
              <a:srgbClr val="FFFFFF"/>
            </a:solidFill>
            <a:ln w="14288">
              <a:solidFill>
                <a:srgbClr val="23262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46283" y="3408521"/>
              <a:ext cx="21194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42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Apps Script에 붙여넣기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" y="4457700"/>
              <a:ext cx="3200400" cy="685800"/>
            </a:xfrm>
            <a:prstGeom prst="roundRect">
              <a:avLst>
                <a:gd name="adj" fmla="val 19444"/>
              </a:avLst>
            </a:prstGeom>
            <a:solidFill>
              <a:srgbClr val="FFFFFF"/>
            </a:solidFill>
            <a:ln w="14288">
              <a:solidFill>
                <a:srgbClr val="23262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866319" y="4703921"/>
              <a:ext cx="8393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42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웹앱 배포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95800" y="4457700"/>
              <a:ext cx="3200400" cy="685800"/>
            </a:xfrm>
            <a:prstGeom prst="roundRect">
              <a:avLst>
                <a:gd name="adj" fmla="val 19444"/>
              </a:avLst>
            </a:prstGeom>
            <a:solidFill>
              <a:srgbClr val="FFFFFF"/>
            </a:solidFill>
            <a:ln w="14288">
              <a:solidFill>
                <a:srgbClr val="23262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580402" y="4703921"/>
              <a:ext cx="10311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42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학생 테스트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305800" y="4457700"/>
              <a:ext cx="3200400" cy="685800"/>
            </a:xfrm>
            <a:prstGeom prst="roundRect">
              <a:avLst>
                <a:gd name="adj" fmla="val 19444"/>
              </a:avLst>
            </a:prstGeom>
            <a:solidFill>
              <a:srgbClr val="CEFF3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820653" y="4703921"/>
              <a:ext cx="21706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420" b="1" dirty="0">
                  <a:solidFill>
                    <a:srgbClr val="23262C"/>
                  </a:solidFill>
                  <a:latin typeface="Pretendard SemiBold"/>
                  <a:ea typeface="Pretendard SemiBold"/>
                  <a:cs typeface="Pretendard SemiBold"/>
                </a:rPr>
                <a:t>Spreadsheet 기록 확인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2228850" y="2152650"/>
              <a:ext cx="7734300" cy="2705100"/>
              <a:chOff x="2228850" y="2152650"/>
              <a:chExt cx="7734300" cy="27051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3886200" y="2209800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28575">
                <a:solidFill>
                  <a:srgbClr val="FE7BB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381500" y="21526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FE7BB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696200" y="2209800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28575">
                <a:solidFill>
                  <a:srgbClr val="FE7BB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91500" y="21526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FE7BB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906000" y="255270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28575">
                <a:solidFill>
                  <a:srgbClr val="FE7BB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848850" y="30480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57150" y="114300"/>
                    </a:moveTo>
                    <a:lnTo>
                      <a:pt x="0" y="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FE7BB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34300" y="3505200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571500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FE7BB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734300" y="34480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lnTo>
                      <a:pt x="114300" y="0"/>
                    </a:lnTo>
                    <a:lnTo>
                      <a:pt x="114300" y="114300"/>
                    </a:lnTo>
                    <a:close/>
                  </a:path>
                </a:pathLst>
              </a:custGeom>
              <a:solidFill>
                <a:srgbClr val="FE7BBF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924300" y="3505200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571500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FE7BB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924300" y="34480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lnTo>
                      <a:pt x="114300" y="0"/>
                    </a:lnTo>
                    <a:lnTo>
                      <a:pt x="114300" y="114300"/>
                    </a:lnTo>
                    <a:close/>
                  </a:path>
                </a:pathLst>
              </a:custGeom>
              <a:solidFill>
                <a:srgbClr val="FE7BBF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2286000" y="384810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28575">
                <a:solidFill>
                  <a:srgbClr val="FE7BB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2228850" y="43434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57150" y="114300"/>
                    </a:moveTo>
                    <a:lnTo>
                      <a:pt x="0" y="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FE7BBF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3886200" y="4800600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28575">
                <a:solidFill>
                  <a:srgbClr val="FE7BB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381500" y="47434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FE7BBF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696200" y="4800600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28575">
                <a:solidFill>
                  <a:srgbClr val="FE7BB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91500" y="47434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FE7BBF"/>
              </a:solidFill>
              <a:ln>
                <a:noFill/>
              </a:ln>
            </p:spPr>
          </p:sp>
        </p:grpSp>
      </p:grpSp>
      <p:grpSp>
        <p:nvGrpSpPr>
          <p:cNvPr id="46" name="Group 46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43" name="Line 43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11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6447330" cy="894969"/>
            <a:chOff x="669036" y="499110"/>
            <a:chExt cx="6447330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18129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2 · 핵심 개념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644733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앱을 만들기 전에 답하는 5가지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85800" y="1676400"/>
            <a:ext cx="10820400" cy="4305300"/>
            <a:chOff x="685800" y="1676400"/>
            <a:chExt cx="10820400" cy="43053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4305300"/>
            </a:xfrm>
            <a:prstGeom prst="roundRect">
              <a:avLst>
                <a:gd name="adj" fmla="val 4425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57656" y="2167890"/>
              <a:ext cx="10067544" cy="3552444"/>
              <a:chOff x="1057656" y="2167890"/>
              <a:chExt cx="10067544" cy="3552444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057656" y="2167890"/>
                <a:ext cx="5156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Q1.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667256" y="2167890"/>
                <a:ext cx="431939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이 활동에서 학생은 무엇을 입력하나요?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1066800" y="2628900"/>
                <a:ext cx="1005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58400" h="9525">
                    <a:moveTo>
                      <a:pt x="0" y="0"/>
                    </a:moveTo>
                    <a:lnTo>
                      <a:pt x="10058400" y="0"/>
                    </a:lnTo>
                  </a:path>
                </a:pathLst>
              </a:custGeom>
              <a:noFill/>
              <a:ln w="9525">
                <a:solidFill>
                  <a:srgbClr val="E9D9C4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57656" y="2967990"/>
                <a:ext cx="5156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Q2.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67256" y="2967990"/>
                <a:ext cx="35924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교사는 어떤 기록을 보고 싶나요?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1066800" y="3429000"/>
                <a:ext cx="1005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58400" h="9525">
                    <a:moveTo>
                      <a:pt x="0" y="0"/>
                    </a:moveTo>
                    <a:lnTo>
                      <a:pt x="10058400" y="0"/>
                    </a:lnTo>
                  </a:path>
                </a:pathLst>
              </a:custGeom>
              <a:noFill/>
              <a:ln w="9525">
                <a:solidFill>
                  <a:srgbClr val="E9D9C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57656" y="3768090"/>
                <a:ext cx="5156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Q3.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667256" y="3768090"/>
                <a:ext cx="43920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학생 입력 후 어떤 메시지를 보여줄까요?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1066800" y="4229100"/>
                <a:ext cx="1005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58400" h="9525">
                    <a:moveTo>
                      <a:pt x="0" y="0"/>
                    </a:moveTo>
                    <a:lnTo>
                      <a:pt x="10058400" y="0"/>
                    </a:lnTo>
                  </a:path>
                </a:pathLst>
              </a:custGeom>
              <a:noFill/>
              <a:ln w="9525">
                <a:solidFill>
                  <a:srgbClr val="E9D9C4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57656" y="4568190"/>
                <a:ext cx="5156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Q4.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667256" y="4568190"/>
                <a:ext cx="45617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학생이 다시 수정하거나 성찰해야 하나요?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1066800" y="5029200"/>
                <a:ext cx="1005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58400" h="9525">
                    <a:moveTo>
                      <a:pt x="0" y="0"/>
                    </a:moveTo>
                    <a:lnTo>
                      <a:pt x="10058400" y="0"/>
                    </a:lnTo>
                  </a:path>
                </a:pathLst>
              </a:custGeom>
              <a:noFill/>
              <a:ln w="9525">
                <a:solidFill>
                  <a:srgbClr val="E9D9C4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57656" y="5368290"/>
                <a:ext cx="5156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Q5.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667256" y="5368290"/>
                <a:ext cx="396803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기록은 한 번만 받나요, 누적하나요?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3" name="Line 23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12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14373" y="27527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FBEAD6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632651"/>
            <a:chOff x="678942" y="1428750"/>
            <a:chExt cx="788693" cy="6326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609600" cy="76200"/>
            </a:xfrm>
            <a:prstGeom prst="rect">
              <a:avLst/>
            </a:prstGeom>
            <a:solidFill>
              <a:srgbClr val="EC2B7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973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3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540318"/>
            <a:ext cx="8041729" cy="1533525"/>
            <a:chOff x="647700" y="2540318"/>
            <a:chExt cx="8041729" cy="1533525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54031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3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무엇이든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226118"/>
              <a:ext cx="8041729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3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Spreadsheet로 받을 수 있다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307205"/>
            <a:ext cx="8907780" cy="410718"/>
            <a:chOff x="675132" y="4307205"/>
            <a:chExt cx="8907780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307205"/>
              <a:ext cx="8907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설문 · 학습지 · 학생기록 · 수행평가 · AI 활용 — 겉모양만 다르다.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7418" y="4965382"/>
            <a:ext cx="4981213" cy="322707"/>
            <a:chOff x="677418" y="4965382"/>
            <a:chExt cx="4981213" cy="322707"/>
          </a:xfrm>
        </p:grpSpPr>
        <p:sp>
          <p:nvSpPr>
            <p:cNvPr id="11" name="TextBox 11"/>
            <p:cNvSpPr txBox="1"/>
            <p:nvPr/>
          </p:nvSpPr>
          <p:spPr>
            <a:xfrm>
              <a:off x="677418" y="4965382"/>
              <a:ext cx="49812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각 유형마다 목적 · 예시 · 저장 열을 하나씩 본다.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5989892" cy="894969"/>
            <a:chOff x="669036" y="499110"/>
            <a:chExt cx="5989892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3213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3 · 무엇이든 Spreadsheet로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59898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활동 유형 1 · Google 설문형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85800" y="1676400"/>
            <a:ext cx="10820400" cy="4305300"/>
            <a:chOff x="685800" y="1676400"/>
            <a:chExt cx="10820400" cy="43053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4305300"/>
            </a:xfrm>
            <a:prstGeom prst="roundRect">
              <a:avLst>
                <a:gd name="adj" fmla="val 4425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5266" y="2039302"/>
              <a:ext cx="327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목적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1456" y="2301240"/>
              <a:ext cx="53855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학생 의견, 선호, 체크리스트를 빠르게 수집한다.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5266" y="3029902"/>
              <a:ext cx="327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예시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82599" y="3335179"/>
              <a:ext cx="6500298" cy="993839"/>
              <a:chOff x="982599" y="3335179"/>
              <a:chExt cx="6500298" cy="99383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982599" y="3335179"/>
                <a:ext cx="207305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독서 희망 도서 조사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82599" y="3678079"/>
                <a:ext cx="179742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수업 이해도 점검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599" y="4020979"/>
                <a:ext cx="207305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진로 관심 분야 조사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97499" y="3335179"/>
                <a:ext cx="15853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모둠 역할 선택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897499" y="3678079"/>
                <a:ext cx="15853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행사 참여 신청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985266" y="4725352"/>
              <a:ext cx="17547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Spreadsheet 저장 열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90600" y="4991100"/>
              <a:ext cx="9525000" cy="571500"/>
            </a:xfrm>
            <a:prstGeom prst="roundRect">
              <a:avLst>
                <a:gd name="adj" fmla="val 23333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11580" y="5191125"/>
              <a:ext cx="41951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CEFF32"/>
                  </a:solidFill>
                  <a:latin typeface="Consolas"/>
                  <a:ea typeface="Consolas"/>
                  <a:cs typeface="Consolas"/>
                </a:rPr>
                <a:t>timestamp, name, class, choice, comment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0" name="Line 20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14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4838048" cy="894969"/>
            <a:chOff x="669036" y="499110"/>
            <a:chExt cx="4838048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3213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3 · 무엇이든 Spreadsheet로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48380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활동 유형 2 · 학습지형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85800" y="1676400"/>
            <a:ext cx="10820400" cy="4305300"/>
            <a:chOff x="685800" y="1676400"/>
            <a:chExt cx="10820400" cy="43053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4305300"/>
            </a:xfrm>
            <a:prstGeom prst="roundRect">
              <a:avLst>
                <a:gd name="adj" fmla="val 4425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5266" y="2039302"/>
              <a:ext cx="327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목적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1456" y="2301240"/>
              <a:ext cx="37620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학생이 단계별로 생각을 작성한다.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5266" y="3029902"/>
              <a:ext cx="327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예시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82599" y="3335179"/>
              <a:ext cx="6987959" cy="993839"/>
              <a:chOff x="982599" y="3335179"/>
              <a:chExt cx="6987959" cy="99383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982599" y="3335179"/>
                <a:ext cx="207305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영어 독해 근거 찾기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82599" y="3678079"/>
                <a:ext cx="179742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문학 감상문 작성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599" y="4020979"/>
                <a:ext cx="207305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수학 풀이 과정 설명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97499" y="3335179"/>
                <a:ext cx="207305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과학 실험 관찰 기록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897499" y="3678079"/>
                <a:ext cx="207305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사회 이슈 찬반 논증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985266" y="4725352"/>
              <a:ext cx="17547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Spreadsheet 저장 열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90600" y="4991100"/>
              <a:ext cx="9525000" cy="571500"/>
            </a:xfrm>
            <a:prstGeom prst="roundRect">
              <a:avLst>
                <a:gd name="adj" fmla="val 23333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11580" y="5191125"/>
              <a:ext cx="58005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CEFF32"/>
                  </a:solidFill>
                  <a:latin typeface="Consolas"/>
                  <a:ea typeface="Consolas"/>
                  <a:cs typeface="Consolas"/>
                </a:rPr>
                <a:t>timestamp, name, class, question1, question2, reflection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0" name="Line 20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15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5304507" cy="894969"/>
            <a:chOff x="669036" y="499110"/>
            <a:chExt cx="5304507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3213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3 · 무엇이든 Spreadsheet로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53045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활동 유형 3 · 학생기록형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85800" y="1676400"/>
            <a:ext cx="10820400" cy="4305300"/>
            <a:chOff x="685800" y="1676400"/>
            <a:chExt cx="10820400" cy="43053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4305300"/>
            </a:xfrm>
            <a:prstGeom prst="roundRect">
              <a:avLst>
                <a:gd name="adj" fmla="val 4425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5266" y="2039302"/>
              <a:ext cx="327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목적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1456" y="2301240"/>
              <a:ext cx="46344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학생의 변화와 성장 과정을 누적 기록한다.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5266" y="2991802"/>
              <a:ext cx="327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예시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82599" y="3297079"/>
              <a:ext cx="7136378" cy="993839"/>
              <a:chOff x="982599" y="3297079"/>
              <a:chExt cx="7136378" cy="99383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982599" y="3297079"/>
                <a:ext cx="179742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상담 전 자기점검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82599" y="3639979"/>
                <a:ext cx="200945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프로젝트 진행 기록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599" y="3982879"/>
                <a:ext cx="173381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독서 포트폴리오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97499" y="3297079"/>
                <a:ext cx="222147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글쓰기 초안과 수정본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897499" y="3639979"/>
                <a:ext cx="192224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AI 활용 과정 기록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897499" y="3982879"/>
                <a:ext cx="222147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자기평가와 목표 설정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985266" y="4687252"/>
              <a:ext cx="17547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Spreadsheet 저장 열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90600" y="4953000"/>
              <a:ext cx="9525000" cy="571500"/>
            </a:xfrm>
            <a:prstGeom prst="roundRect">
              <a:avLst>
                <a:gd name="adj" fmla="val 23333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11961" y="5161121"/>
              <a:ext cx="57886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CEFF32"/>
                  </a:solidFill>
                  <a:latin typeface="Consolas"/>
                  <a:ea typeface="Consolas"/>
                  <a:cs typeface="Consolas"/>
                </a:rPr>
                <a:t>date, name, class, goal, progress, next_step, teacher_note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1" name="Line 21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16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7450215" cy="894969"/>
            <a:chOff x="669036" y="499110"/>
            <a:chExt cx="7450215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3213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3 · 무엇이든 Spreadsheet로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745021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활동 유형 4 · 수행평가 과정 기록형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85800" y="1676400"/>
            <a:ext cx="10820400" cy="4305300"/>
            <a:chOff x="685800" y="1676400"/>
            <a:chExt cx="10820400" cy="43053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4305300"/>
            </a:xfrm>
            <a:prstGeom prst="roundRect">
              <a:avLst>
                <a:gd name="adj" fmla="val 4425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5266" y="2039302"/>
              <a:ext cx="327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목적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1456" y="2301240"/>
              <a:ext cx="59913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최종 결과물뿐 아니라 수행 과정과 수정 과정을 남긴다.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5266" y="3029902"/>
              <a:ext cx="327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예시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82599" y="3335179"/>
              <a:ext cx="6712325" cy="993839"/>
              <a:chOff x="982599" y="3335179"/>
              <a:chExt cx="6712325" cy="99383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982599" y="3335179"/>
                <a:ext cx="15853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발표 준비 기록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82599" y="3678079"/>
                <a:ext cx="207305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탐구 주제 선정 과정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599" y="4020979"/>
                <a:ext cx="207305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자료 조사 출처 기록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97499" y="3335179"/>
                <a:ext cx="179742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피드백 반영 여부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897499" y="3678079"/>
                <a:ext cx="109773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최종 성찰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985266" y="4725352"/>
              <a:ext cx="17547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Spreadsheet 저장 열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90600" y="4991100"/>
              <a:ext cx="9525000" cy="571500"/>
            </a:xfrm>
            <a:prstGeom prst="roundRect">
              <a:avLst>
                <a:gd name="adj" fmla="val 23333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11961" y="5199221"/>
              <a:ext cx="61435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CEFF32"/>
                  </a:solidFill>
                  <a:latin typeface="Consolas"/>
                  <a:ea typeface="Consolas"/>
                  <a:cs typeface="Consolas"/>
                </a:rPr>
                <a:t>timestamp, team, role, task_done, evidence, issue, next_action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0" name="Line 20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17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6317513" cy="894969"/>
            <a:chOff x="669036" y="499110"/>
            <a:chExt cx="6317513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3213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3 · 무엇이든 Spreadsheet로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63175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활동 유형 5 · AI 활용 기록형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85800" y="1676400"/>
            <a:ext cx="10820400" cy="4305300"/>
            <a:chOff x="685800" y="1676400"/>
            <a:chExt cx="10820400" cy="43053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4305300"/>
            </a:xfrm>
            <a:prstGeom prst="roundRect">
              <a:avLst>
                <a:gd name="adj" fmla="val 4425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5266" y="2039302"/>
              <a:ext cx="327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목적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1456" y="2301240"/>
              <a:ext cx="56253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학생이 AI를 어떻게 사용했는지 투명하게 남긴다.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5266" y="3029902"/>
              <a:ext cx="327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예시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82599" y="3335179"/>
              <a:ext cx="6712325" cy="993839"/>
              <a:chOff x="982599" y="3335179"/>
              <a:chExt cx="6712325" cy="99383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982599" y="3335179"/>
                <a:ext cx="214626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내가 AI에게 한 질문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82599" y="3678079"/>
                <a:ext cx="140697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AI 답변 요약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599" y="4020979"/>
                <a:ext cx="179742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내가 확인한 근거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97499" y="3335179"/>
                <a:ext cx="179742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내가 수정한 내용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897499" y="3678079"/>
                <a:ext cx="179742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최종 자기 언어화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985266" y="4725352"/>
              <a:ext cx="17547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Spreadsheet 저장 열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90600" y="4991100"/>
              <a:ext cx="9525000" cy="571500"/>
            </a:xfrm>
            <a:prstGeom prst="roundRect">
              <a:avLst>
                <a:gd name="adj" fmla="val 23333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12342" y="5207318"/>
              <a:ext cx="6156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EFF32"/>
                  </a:solidFill>
                  <a:latin typeface="Consolas"/>
                  <a:ea typeface="Consolas"/>
                  <a:cs typeface="Consolas"/>
                </a:rPr>
                <a:t>name, prompt, ai_response_summary, evidence, revision, reflection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0" name="Line 20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18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6050840" cy="894969"/>
            <a:chOff x="669036" y="499110"/>
            <a:chExt cx="6050840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3213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3 · 무엇이든 Spreadsheet로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60508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겉모양은 달라도 구조는 같다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685800" y="1905000"/>
            <a:ext cx="9601200" cy="3086100"/>
            <a:chOff x="685800" y="1905000"/>
            <a:chExt cx="9601200" cy="3086100"/>
          </a:xfrm>
        </p:grpSpPr>
        <p:grpSp>
          <p:nvGrpSpPr>
            <p:cNvPr id="16" name="Group 16"/>
            <p:cNvGrpSpPr/>
            <p:nvPr/>
          </p:nvGrpSpPr>
          <p:grpSpPr>
            <a:xfrm>
              <a:off x="685800" y="1905000"/>
              <a:ext cx="2857500" cy="3086100"/>
              <a:chOff x="685800" y="1905000"/>
              <a:chExt cx="2857500" cy="30861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85800" y="1905000"/>
                <a:ext cx="2857500" cy="4953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4288">
                <a:solidFill>
                  <a:srgbClr val="23262C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905000" y="2057400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설문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685800" y="2552700"/>
                <a:ext cx="2857500" cy="4953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4288">
                <a:solidFill>
                  <a:srgbClr val="23262C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804035" y="270510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학습지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685800" y="3200400"/>
                <a:ext cx="2857500" cy="4953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4288">
                <a:solidFill>
                  <a:srgbClr val="23262C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470850" y="3352800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수행평가 기록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685800" y="3848100"/>
                <a:ext cx="2857500" cy="4953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4288">
                <a:solidFill>
                  <a:srgbClr val="23262C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525524" y="4000500"/>
                <a:ext cx="11780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AI 활용 기록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685800" y="4495800"/>
                <a:ext cx="2857500" cy="4953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4288">
                <a:solidFill>
                  <a:srgbClr val="23262C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672780" y="4648200"/>
                <a:ext cx="8835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상담 신청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476750" y="3200400"/>
              <a:ext cx="5810250" cy="533400"/>
              <a:chOff x="4476750" y="3200400"/>
              <a:chExt cx="5810250" cy="5334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476750" y="3200400"/>
                <a:ext cx="2476500" cy="533400"/>
              </a:xfrm>
              <a:prstGeom prst="roundRect">
                <a:avLst>
                  <a:gd name="adj" fmla="val 25000"/>
                </a:avLst>
              </a:prstGeom>
              <a:solidFill>
                <a:srgbClr val="FBEAD6"/>
              </a:solidFill>
              <a:ln w="14288">
                <a:solidFill>
                  <a:srgbClr val="E9D9C4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251523" y="3371850"/>
                <a:ext cx="92695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학생 입력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7620000" y="3200400"/>
                <a:ext cx="2667000" cy="533400"/>
              </a:xfrm>
              <a:prstGeom prst="roundRect">
                <a:avLst>
                  <a:gd name="adj" fmla="val 25000"/>
                </a:avLst>
              </a:prstGeom>
              <a:solidFill>
                <a:srgbClr val="FFF6E8"/>
              </a:solidFill>
              <a:ln w="19050">
                <a:solidFill>
                  <a:srgbClr val="EC2B7A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054769" y="3371850"/>
                <a:ext cx="17974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EC2B7A"/>
                    </a:solidFill>
                    <a:latin typeface="Pretendard SemiBold"/>
                    <a:ea typeface="Pretendard SemiBold"/>
                    <a:cs typeface="Pretendard SemiBold"/>
                  </a:rPr>
                  <a:t>Interactive HTML</a:t>
                </a:r>
              </a:p>
            </p:txBody>
          </p:sp>
        </p:grpSp>
        <p:sp>
          <p:nvSpPr>
            <p:cNvPr id="22" name="Rectangle 22"/>
            <p:cNvSpPr/>
            <p:nvPr/>
          </p:nvSpPr>
          <p:spPr>
            <a:xfrm>
              <a:off x="4476750" y="4305300"/>
              <a:ext cx="5810250" cy="685800"/>
            </a:xfrm>
            <a:prstGeom prst="roundRect">
              <a:avLst>
                <a:gd name="adj" fmla="val 22222"/>
              </a:avLst>
            </a:prstGeom>
            <a:solidFill>
              <a:srgbClr val="CEFF3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68938" y="4530090"/>
              <a:ext cx="2425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Google Spreadsheet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3543300" y="2152650"/>
              <a:ext cx="4076700" cy="2590800"/>
              <a:chOff x="3543300" y="2152650"/>
              <a:chExt cx="4076700" cy="2590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3543300" y="2152650"/>
                <a:ext cx="914400" cy="127635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1276350">
                    <a:moveTo>
                      <a:pt x="0" y="0"/>
                    </a:moveTo>
                    <a:cubicBezTo>
                      <a:pt x="457200" y="0"/>
                      <a:pt x="552450" y="1276350"/>
                      <a:pt x="914400" y="1276350"/>
                    </a:cubicBezTo>
                  </a:path>
                </a:pathLst>
              </a:custGeom>
              <a:noFill/>
              <a:ln w="28575">
                <a:solidFill>
                  <a:srgbClr val="FE7BB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543300" y="2800350"/>
                <a:ext cx="9144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647700">
                    <a:moveTo>
                      <a:pt x="0" y="0"/>
                    </a:moveTo>
                    <a:cubicBezTo>
                      <a:pt x="457200" y="0"/>
                      <a:pt x="552450" y="647700"/>
                      <a:pt x="914400" y="647700"/>
                    </a:cubicBezTo>
                  </a:path>
                </a:pathLst>
              </a:custGeom>
              <a:noFill/>
              <a:ln w="28575">
                <a:solidFill>
                  <a:srgbClr val="FE7BB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543300" y="3448050"/>
                <a:ext cx="914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525">
                    <a:moveTo>
                      <a:pt x="0" y="0"/>
                    </a:moveTo>
                    <a:lnTo>
                      <a:pt x="914400" y="0"/>
                    </a:lnTo>
                  </a:path>
                </a:pathLst>
              </a:custGeom>
              <a:noFill/>
              <a:ln w="28575">
                <a:solidFill>
                  <a:srgbClr val="FE7BB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543300" y="3486150"/>
                <a:ext cx="914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609600">
                    <a:moveTo>
                      <a:pt x="0" y="609600"/>
                    </a:moveTo>
                    <a:cubicBezTo>
                      <a:pt x="457200" y="609600"/>
                      <a:pt x="552450" y="0"/>
                      <a:pt x="914400" y="0"/>
                    </a:cubicBezTo>
                  </a:path>
                </a:pathLst>
              </a:custGeom>
              <a:noFill/>
              <a:ln w="28575">
                <a:solidFill>
                  <a:srgbClr val="FE7BB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543300" y="3505200"/>
                <a:ext cx="914400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1238250">
                    <a:moveTo>
                      <a:pt x="0" y="1238250"/>
                    </a:moveTo>
                    <a:cubicBezTo>
                      <a:pt x="457200" y="1238250"/>
                      <a:pt x="552450" y="0"/>
                      <a:pt x="914400" y="0"/>
                    </a:cubicBezTo>
                  </a:path>
                </a:pathLst>
              </a:custGeom>
              <a:noFill/>
              <a:ln w="28575">
                <a:solidFill>
                  <a:srgbClr val="FE7BB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381500" y="34099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FE7BB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53250" y="3467100"/>
                <a:ext cx="628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9525">
                    <a:moveTo>
                      <a:pt x="0" y="0"/>
                    </a:moveTo>
                    <a:lnTo>
                      <a:pt x="628650" y="0"/>
                    </a:lnTo>
                  </a:path>
                </a:pathLst>
              </a:custGeom>
              <a:noFill/>
              <a:ln w="28575">
                <a:solidFill>
                  <a:srgbClr val="FE7BB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505700" y="34099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FE7BBF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381875" y="37338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28575">
                <a:solidFill>
                  <a:srgbClr val="FE7BB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324725" y="41910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57150" y="114300"/>
                    </a:moveTo>
                    <a:lnTo>
                      <a:pt x="0" y="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FE7BBF"/>
              </a:solidFill>
              <a:ln>
                <a:noFill/>
              </a:ln>
            </p:spPr>
          </p:sp>
        </p:grpSp>
      </p:grpSp>
      <p:grpSp>
        <p:nvGrpSpPr>
          <p:cNvPr id="39" name="Group 39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36" name="Line 36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19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14373" y="27527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FBEAD6"/>
                </a:solidFill>
                <a:latin typeface="Pretendard ExtraBold"/>
                <a:ea typeface="Pretendard ExtraBold"/>
                <a:cs typeface="Pretendard ExtraBold"/>
              </a:rPr>
              <a:t>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632651"/>
            <a:chOff x="678942" y="1428750"/>
            <a:chExt cx="788693" cy="6326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609600" cy="76200"/>
            </a:xfrm>
            <a:prstGeom prst="rect">
              <a:avLst/>
            </a:prstGeom>
            <a:solidFill>
              <a:srgbClr val="EC2B7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973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4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540318"/>
            <a:ext cx="5206546" cy="1533525"/>
            <a:chOff x="647700" y="2540318"/>
            <a:chExt cx="5206546" cy="1533525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540318"/>
              <a:ext cx="520654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Interactive HTML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226118"/>
              <a:ext cx="329694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3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웹앱의 </a:t>
              </a:r>
              <a:r>
                <a:rPr lang="ko-KR" sz="4350" b="1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장점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307205"/>
            <a:ext cx="8233829" cy="410718"/>
            <a:chOff x="675132" y="4307205"/>
            <a:chExt cx="8233829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307205"/>
              <a:ext cx="82338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수업 흐름을 담고, 친절한 화면을 주고, 기록을 자동으로 쌓는다.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7418" y="4965382"/>
            <a:ext cx="4459224" cy="322707"/>
            <a:chOff x="677418" y="4965382"/>
            <a:chExt cx="4459224" cy="322707"/>
          </a:xfrm>
        </p:grpSpPr>
        <p:sp>
          <p:nvSpPr>
            <p:cNvPr id="11" name="TextBox 11"/>
            <p:cNvSpPr txBox="1"/>
            <p:nvPr/>
          </p:nvSpPr>
          <p:spPr>
            <a:xfrm>
              <a:off x="677418" y="496538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그리고 교사는 복사·붙여넣기에서 해방된다.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7123694" cy="894969"/>
            <a:chOff x="669036" y="499110"/>
            <a:chExt cx="7123694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0135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4 · 웹앱의 장점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71236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웹앱은 수업 흐름을 그대로 담는다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7418" y="1555432"/>
            <a:ext cx="4603604" cy="322707"/>
            <a:chOff x="677418" y="1555432"/>
            <a:chExt cx="4603604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77418" y="1555432"/>
              <a:ext cx="46036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한 화면 안에서 학생을 단계로 안내할 수 있다.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1981200"/>
            <a:ext cx="10820400" cy="3886200"/>
            <a:chOff x="685800" y="1981200"/>
            <a:chExt cx="10820400" cy="3886200"/>
          </a:xfrm>
        </p:grpSpPr>
        <p:sp>
          <p:nvSpPr>
            <p:cNvPr id="8" name="Rectangle 8"/>
            <p:cNvSpPr/>
            <p:nvPr/>
          </p:nvSpPr>
          <p:spPr>
            <a:xfrm>
              <a:off x="685800" y="1981200"/>
              <a:ext cx="1082040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1080" y="2238375"/>
              <a:ext cx="555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1단계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72056" y="2205990"/>
              <a:ext cx="13752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내 생각 쓰기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2781300"/>
              <a:ext cx="1082040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21080" y="3038475"/>
              <a:ext cx="555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2단계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72056" y="3006090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근거 문장 찾기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3581400"/>
              <a:ext cx="1082040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1080" y="3838575"/>
              <a:ext cx="555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3단계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72056" y="3806190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친구 의견 비교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5800" y="4381500"/>
              <a:ext cx="1082040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21080" y="4638675"/>
              <a:ext cx="555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4단계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72056" y="4606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수정하기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5800" y="5181600"/>
              <a:ext cx="10820400" cy="685800"/>
            </a:xfrm>
            <a:prstGeom prst="roundRect">
              <a:avLst>
                <a:gd name="adj" fmla="val 22222"/>
              </a:avLst>
            </a:prstGeom>
            <a:solidFill>
              <a:srgbClr val="CEFF3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21080" y="5438775"/>
              <a:ext cx="555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5단계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72056" y="5406390"/>
              <a:ext cx="16975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23262C"/>
                  </a:solidFill>
                  <a:latin typeface="Pretendard SemiBold"/>
                  <a:ea typeface="Pretendard SemiBold"/>
                  <a:cs typeface="Pretendard SemiBold"/>
                </a:rPr>
                <a:t>최종 성찰 제출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4" name="Line 24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21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8336486" cy="894969"/>
            <a:chOff x="669036" y="499110"/>
            <a:chExt cx="8336486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0135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4 · 웹앱의 장점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833648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학생에게 더 친절한 화면을 만들 수 있다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85800" y="1752600"/>
            <a:ext cx="6858000" cy="4229100"/>
            <a:chOff x="685800" y="1752600"/>
            <a:chExt cx="6858000" cy="4229100"/>
          </a:xfrm>
        </p:grpSpPr>
        <p:sp>
          <p:nvSpPr>
            <p:cNvPr id="6" name="Rectangle 6"/>
            <p:cNvSpPr/>
            <p:nvPr/>
          </p:nvSpPr>
          <p:spPr>
            <a:xfrm>
              <a:off x="685800" y="1752600"/>
              <a:ext cx="6858000" cy="4229100"/>
            </a:xfrm>
            <a:prstGeom prst="roundRect">
              <a:avLst>
                <a:gd name="adj" fmla="val 4505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5266" y="2077402"/>
              <a:ext cx="1935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화면에 넣을 수 있는 요소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982980" y="2524125"/>
              <a:ext cx="5190363" cy="1969770"/>
              <a:chOff x="982980" y="2524125"/>
              <a:chExt cx="5190363" cy="1969770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982980" y="2524125"/>
                <a:ext cx="104546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안내 카드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82980" y="2943225"/>
                <a:ext cx="104546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예시 답변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82980" y="3362325"/>
                <a:ext cx="150990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문장 시작 표현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82980" y="3781425"/>
                <a:ext cx="104546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단어 은행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980" y="4200525"/>
                <a:ext cx="104546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선택 버튼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259580" y="2524125"/>
                <a:ext cx="124739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단계별 질문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259580" y="2943225"/>
                <a:ext cx="19137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제출 전 체크리스트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259580" y="3362325"/>
                <a:ext cx="171183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즉시 피드백 문구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59580" y="3781425"/>
                <a:ext cx="130797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글자 수 안내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59580" y="4200525"/>
                <a:ext cx="171183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저장 완료 메시지</a:t>
                </a: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983742" y="5054918"/>
              <a:ext cx="45166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Google Form으로는 어려운 요소를 자유롭게 조합한다.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848600" y="1752600"/>
            <a:ext cx="3657600" cy="4229100"/>
            <a:chOff x="7848600" y="1752600"/>
            <a:chExt cx="3657600" cy="4229100"/>
          </a:xfrm>
        </p:grpSpPr>
        <p:sp>
          <p:nvSpPr>
            <p:cNvPr id="21" name="Rectangle 21"/>
            <p:cNvSpPr/>
            <p:nvPr/>
          </p:nvSpPr>
          <p:spPr>
            <a:xfrm>
              <a:off x="7848600" y="1752600"/>
              <a:ext cx="3657600" cy="4229100"/>
            </a:xfrm>
            <a:prstGeom prst="roundRect">
              <a:avLst>
                <a:gd name="adj" fmla="val 5208"/>
              </a:avLst>
            </a:prstGeom>
            <a:solidFill>
              <a:srgbClr val="FBEAD6"/>
            </a:solidFill>
            <a:ln w="14288">
              <a:solidFill>
                <a:srgbClr val="E9D9C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153400" y="2057400"/>
              <a:ext cx="3048000" cy="3619500"/>
            </a:xfrm>
            <a:prstGeom prst="roundRect">
              <a:avLst>
                <a:gd name="adj" fmla="val 4375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74380" y="2333625"/>
              <a:ext cx="1138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오늘의 질문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97956"/>
              <a:ext cx="31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이름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0" y="2914650"/>
              <a:ext cx="2590800" cy="323850"/>
            </a:xfrm>
            <a:prstGeom prst="roundRect">
              <a:avLst>
                <a:gd name="adj" fmla="val 23529"/>
              </a:avLst>
            </a:prstGeom>
            <a:solidFill>
              <a:srgbClr val="FFF6E8"/>
            </a:solidFill>
            <a:ln w="14288">
              <a:solidFill>
                <a:srgbClr val="E9D9C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76285" y="3440906"/>
              <a:ext cx="31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답변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382000" y="3657600"/>
              <a:ext cx="2590800" cy="1143000"/>
            </a:xfrm>
            <a:prstGeom prst="roundRect">
              <a:avLst>
                <a:gd name="adj" fmla="val 6667"/>
              </a:avLst>
            </a:prstGeom>
            <a:solidFill>
              <a:srgbClr val="FFF6E8"/>
            </a:solidFill>
            <a:ln w="14288">
              <a:solidFill>
                <a:srgbClr val="E9D9C4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382000" y="5048250"/>
              <a:ext cx="2590800" cy="419100"/>
            </a:xfrm>
            <a:prstGeom prst="roundRect">
              <a:avLst>
                <a:gd name="adj" fmla="val 22727"/>
              </a:avLst>
            </a:prstGeom>
            <a:solidFill>
              <a:srgbClr val="EC2B7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79718" y="51692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제출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31" name="Line 31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22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7450215" cy="894969"/>
            <a:chOff x="669036" y="499110"/>
            <a:chExt cx="7450215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0135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4 · 웹앱의 장점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745021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학생이 제출하면 자동으로 기록된다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85800" y="1828800"/>
            <a:ext cx="10820400" cy="2857500"/>
            <a:chOff x="685800" y="1828800"/>
            <a:chExt cx="10820400" cy="2857500"/>
          </a:xfrm>
        </p:grpSpPr>
        <p:sp>
          <p:nvSpPr>
            <p:cNvPr id="6" name="Rectangle 6"/>
            <p:cNvSpPr/>
            <p:nvPr/>
          </p:nvSpPr>
          <p:spPr>
            <a:xfrm>
              <a:off x="685800" y="1828800"/>
              <a:ext cx="10820400" cy="2857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828800"/>
              <a:ext cx="10820400" cy="533400"/>
            </a:xfrm>
            <a:prstGeom prst="roundRect">
              <a:avLst>
                <a:gd name="adj" fmla="val 35714"/>
              </a:avLst>
            </a:prstGeom>
            <a:solidFill>
              <a:srgbClr val="CEFF3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2095500"/>
              <a:ext cx="10820400" cy="266700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83742" y="2045018"/>
              <a:ext cx="9216259" cy="264033"/>
              <a:chOff x="983742" y="2045018"/>
              <a:chExt cx="9216259" cy="264033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83742" y="2045018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제출시각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2736342" y="2045018"/>
                <a:ext cx="3953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이름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993642" y="2045018"/>
                <a:ext cx="2045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반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098542" y="2045018"/>
                <a:ext cx="9392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1단계 답변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232142" y="2045018"/>
                <a:ext cx="9392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2단계 근거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365742" y="2045018"/>
                <a:ext cx="8342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최종 성찰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85800" y="2817971"/>
              <a:ext cx="10820400" cy="1574102"/>
              <a:chOff x="685800" y="2817971"/>
              <a:chExt cx="10820400" cy="1574102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83361" y="2817971"/>
                <a:ext cx="5420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09:10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735961" y="2817971"/>
                <a:ext cx="589978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김민수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93261" y="2817971"/>
                <a:ext cx="33100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1-3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098161" y="2817971"/>
                <a:ext cx="147101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I think that ...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231761" y="2817971"/>
                <a:ext cx="131894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본문 3문단 ...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65361" y="2817971"/>
                <a:ext cx="121343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근거를 더 ...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685800" y="32004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9D9C4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83361" y="3465671"/>
                <a:ext cx="5420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09:12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735961" y="3465671"/>
                <a:ext cx="589978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이수진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993261" y="3465671"/>
                <a:ext cx="33100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1-3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098161" y="3465671"/>
                <a:ext cx="181658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The text shows ...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231761" y="3465671"/>
                <a:ext cx="151077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2문단 마지막 ...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365361" y="3465671"/>
                <a:ext cx="121343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좋은 근거 ...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685800" y="38481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9D9C4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83361" y="4113371"/>
                <a:ext cx="5420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A99C90"/>
                    </a:solidFill>
                    <a:latin typeface="Pretendard"/>
                    <a:ea typeface="Pretendard"/>
                    <a:cs typeface="Pretendard"/>
                  </a:rPr>
                  <a:t>09:15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735961" y="4113371"/>
                <a:ext cx="589978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dirty="0">
                    <a:solidFill>
                      <a:srgbClr val="A99C90"/>
                    </a:solidFill>
                    <a:latin typeface="Pretendard"/>
                    <a:ea typeface="Pretendard"/>
                    <a:cs typeface="Pretendard"/>
                  </a:rPr>
                  <a:t>박서준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993261" y="4113371"/>
                <a:ext cx="33100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A99C90"/>
                    </a:solidFill>
                    <a:latin typeface="Pretendard"/>
                    <a:ea typeface="Pretendard"/>
                    <a:cs typeface="Pretendard"/>
                  </a:rPr>
                  <a:t>1-4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098161" y="4113371"/>
                <a:ext cx="33100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A99C90"/>
                    </a:solidFill>
                    <a:latin typeface="Pretendard"/>
                    <a:ea typeface="Pretendard"/>
                    <a:cs typeface="Pretendard"/>
                  </a:rPr>
                  <a:t>...</a:t>
                </a:r>
              </a:p>
            </p:txBody>
          </p:sp>
        </p:grpSp>
        <p:sp>
          <p:nvSpPr>
            <p:cNvPr id="35" name="Line 35"/>
            <p:cNvSpPr/>
            <p:nvPr/>
          </p:nvSpPr>
          <p:spPr>
            <a:xfrm>
              <a:off x="2514600" y="18288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3771900" y="18288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4876800" y="18288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7010400" y="18288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9144000" y="18288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85800" y="4991100"/>
            <a:ext cx="10820400" cy="876300"/>
            <a:chOff x="685800" y="4991100"/>
            <a:chExt cx="10820400" cy="876300"/>
          </a:xfrm>
        </p:grpSpPr>
        <p:sp>
          <p:nvSpPr>
            <p:cNvPr id="41" name="Rectangle 41"/>
            <p:cNvSpPr/>
            <p:nvPr/>
          </p:nvSpPr>
          <p:spPr>
            <a:xfrm>
              <a:off x="685800" y="4991100"/>
              <a:ext cx="10820400" cy="876300"/>
            </a:xfrm>
            <a:prstGeom prst="roundRect">
              <a:avLst>
                <a:gd name="adj" fmla="val 21739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81456" y="5330190"/>
              <a:ext cx="5259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6E8"/>
                  </a:solidFill>
                  <a:latin typeface="Pretendard SemiBold"/>
                  <a:ea typeface="Pretendard SemiBold"/>
                  <a:cs typeface="Pretendard SemiBold"/>
                </a:rPr>
                <a:t>교사는 따로 복사·붙여넣기 하지 않아도 된다.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44" name="Line 44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23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4511528" cy="894969"/>
            <a:chOff x="669036" y="499110"/>
            <a:chExt cx="4511528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0135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4 · 웹앱의 장점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45115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교사의 업무가 바뀐다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85800" y="1752600"/>
            <a:ext cx="5181600" cy="4229100"/>
            <a:chOff x="685800" y="1752600"/>
            <a:chExt cx="5181600" cy="4229100"/>
          </a:xfrm>
        </p:grpSpPr>
        <p:sp>
          <p:nvSpPr>
            <p:cNvPr id="6" name="Rectangle 6"/>
            <p:cNvSpPr/>
            <p:nvPr/>
          </p:nvSpPr>
          <p:spPr>
            <a:xfrm>
              <a:off x="685800" y="1752600"/>
              <a:ext cx="5181600" cy="4229100"/>
            </a:xfrm>
            <a:prstGeom prst="roundRect">
              <a:avLst>
                <a:gd name="adj" fmla="val 4505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2218" y="2050732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6B5B52"/>
                  </a:solidFill>
                  <a:latin typeface="Pretendard ExtraBold"/>
                  <a:ea typeface="Pretendard ExtraBold"/>
                  <a:cs typeface="Pretendard ExtraBold"/>
                </a:rPr>
                <a:t>Before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982599" y="2573179"/>
              <a:ext cx="1627403" cy="2403539"/>
              <a:chOff x="982599" y="2573179"/>
              <a:chExt cx="1627403" cy="2403539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982599" y="2573179"/>
                <a:ext cx="162740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학생 활동지 걷기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82599" y="2992279"/>
                <a:ext cx="92771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파일 열기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82599" y="3411379"/>
                <a:ext cx="92771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응답 복사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82599" y="3830479"/>
                <a:ext cx="44005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정리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599" y="4249579"/>
                <a:ext cx="92771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누락 확인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2599" y="4668679"/>
                <a:ext cx="1139742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피드백 작성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84504" y="2785110"/>
              <a:ext cx="101041" cy="1911096"/>
              <a:chOff x="984504" y="2785110"/>
              <a:chExt cx="101041" cy="1911096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984504" y="27851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A99C90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84504" y="32042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A99C90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84504" y="36233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A99C90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84504" y="40424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A99C90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84504" y="4461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A99C90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6324600" y="1752600"/>
            <a:ext cx="5181600" cy="4229100"/>
            <a:chOff x="6324600" y="1752600"/>
            <a:chExt cx="5181600" cy="4229100"/>
          </a:xfrm>
        </p:grpSpPr>
        <p:sp>
          <p:nvSpPr>
            <p:cNvPr id="22" name="Rectangle 22"/>
            <p:cNvSpPr/>
            <p:nvPr/>
          </p:nvSpPr>
          <p:spPr>
            <a:xfrm>
              <a:off x="6324600" y="1752600"/>
              <a:ext cx="5181600" cy="4229100"/>
            </a:xfrm>
            <a:prstGeom prst="roundRect">
              <a:avLst>
                <a:gd name="adj" fmla="val 4505"/>
              </a:avLst>
            </a:prstGeom>
            <a:solidFill>
              <a:srgbClr val="CEFF3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21018" y="2050732"/>
              <a:ext cx="6654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After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6621399" y="2611279"/>
              <a:ext cx="2399189" cy="2289239"/>
              <a:chOff x="6621399" y="2611279"/>
              <a:chExt cx="2399189" cy="2289239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6621399" y="2611279"/>
                <a:ext cx="148534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학생 웹앱 제출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621399" y="3106579"/>
                <a:ext cx="239918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Spreadsheet 자동 저장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621399" y="3601879"/>
                <a:ext cx="119592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학급별 확인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621399" y="4097179"/>
                <a:ext cx="215322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필요한 학생만 피드백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621399" y="4592479"/>
                <a:ext cx="973302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수업 개선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623304" y="2880360"/>
              <a:ext cx="101041" cy="1720596"/>
              <a:chOff x="6623304" y="2880360"/>
              <a:chExt cx="101041" cy="1720596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6623304" y="288036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623304" y="337566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623304" y="387096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623304" y="436626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36" name="Line 36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24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14373" y="27527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FBEAD6"/>
                </a:solidFill>
                <a:latin typeface="Pretendard ExtraBold"/>
                <a:ea typeface="Pretendard ExtraBold"/>
                <a:cs typeface="Pretendard ExtraBold"/>
              </a:rPr>
              <a:t>5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632651"/>
            <a:chOff x="678942" y="1428750"/>
            <a:chExt cx="788693" cy="6326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609600" cy="76200"/>
            </a:xfrm>
            <a:prstGeom prst="rect">
              <a:avLst/>
            </a:prstGeom>
            <a:solidFill>
              <a:srgbClr val="EC2B7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973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540318"/>
            <a:ext cx="5326041" cy="1533525"/>
            <a:chOff x="647700" y="2540318"/>
            <a:chExt cx="5326041" cy="1533525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540318"/>
              <a:ext cx="4033639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3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생성형 AI에게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226118"/>
              <a:ext cx="532604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3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무엇을 시킬 것인가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307205"/>
            <a:ext cx="5321998" cy="410718"/>
            <a:chOff x="675132" y="4307205"/>
            <a:chExt cx="5321998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307205"/>
              <a:ext cx="53219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선생님은 코드 작성자가 아니라 </a:t>
              </a:r>
              <a:r>
                <a:rPr lang="ko-KR" sz="2100" dirty="0">
                  <a:solidFill>
                    <a:srgbClr val="EC2B7A"/>
                  </a:solidFill>
                  <a:latin typeface="Pretendard"/>
                  <a:ea typeface="Pretendard"/>
                  <a:cs typeface="Pretendard"/>
                </a:rPr>
                <a:t>기획자</a:t>
              </a:r>
              <a:r>
                <a:rPr lang="ko-KR" sz="21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7418" y="4965382"/>
            <a:ext cx="7202443" cy="322707"/>
            <a:chOff x="677418" y="4965382"/>
            <a:chExt cx="7202443" cy="322707"/>
          </a:xfrm>
        </p:grpSpPr>
        <p:sp>
          <p:nvSpPr>
            <p:cNvPr id="11" name="TextBox 11"/>
            <p:cNvSpPr txBox="1"/>
            <p:nvPr/>
          </p:nvSpPr>
          <p:spPr>
            <a:xfrm>
              <a:off x="677418" y="4965382"/>
              <a:ext cx="72024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처음부터 완성형일 필요 없다. 기능 추가도, 오류 수정도 말로 요청한다.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8523069" cy="894969"/>
            <a:chOff x="669036" y="499110"/>
            <a:chExt cx="8523069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283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5 · 생성형 AI 활용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85230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선생님은 코드 작성자가 아니라 기획자다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85800" y="1752600"/>
            <a:ext cx="5181600" cy="4229100"/>
            <a:chOff x="685800" y="1752600"/>
            <a:chExt cx="5181600" cy="4229100"/>
          </a:xfrm>
        </p:grpSpPr>
        <p:sp>
          <p:nvSpPr>
            <p:cNvPr id="6" name="Rectangle 6"/>
            <p:cNvSpPr/>
            <p:nvPr/>
          </p:nvSpPr>
          <p:spPr>
            <a:xfrm>
              <a:off x="685800" y="1752600"/>
              <a:ext cx="5181600" cy="4229100"/>
            </a:xfrm>
            <a:prstGeom prst="roundRect">
              <a:avLst>
                <a:gd name="adj" fmla="val 4505"/>
              </a:avLst>
            </a:prstGeom>
            <a:solidFill>
              <a:srgbClr val="FFFFFF"/>
            </a:solidFill>
            <a:ln w="19050">
              <a:solidFill>
                <a:srgbClr val="EC2B7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1456" y="2053590"/>
              <a:ext cx="16212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선생님의 역할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982599" y="2687479"/>
              <a:ext cx="2073059" cy="2136839"/>
              <a:chOff x="982599" y="2687479"/>
              <a:chExt cx="2073059" cy="2136839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982599" y="2687479"/>
                <a:ext cx="152179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수업목표 설정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82599" y="3144679"/>
                <a:ext cx="207305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학생 입력 항목 설계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82599" y="3601879"/>
                <a:ext cx="179742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피드백 기준 설정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82599" y="4059079"/>
                <a:ext cx="186103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제출 후 활동 설계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599" y="4516279"/>
                <a:ext cx="200945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개인정보 범위 결정</a:t>
                </a: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6324600" y="1752600"/>
            <a:ext cx="5181600" cy="4229100"/>
            <a:chOff x="6324600" y="1752600"/>
            <a:chExt cx="5181600" cy="4229100"/>
          </a:xfrm>
        </p:grpSpPr>
        <p:sp>
          <p:nvSpPr>
            <p:cNvPr id="15" name="Rectangle 15"/>
            <p:cNvSpPr/>
            <p:nvPr/>
          </p:nvSpPr>
          <p:spPr>
            <a:xfrm>
              <a:off x="6324600" y="1752600"/>
              <a:ext cx="5181600" cy="4229100"/>
            </a:xfrm>
            <a:prstGeom prst="roundRect">
              <a:avLst>
                <a:gd name="adj" fmla="val 4505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20256" y="2053590"/>
              <a:ext cx="20210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CEFF32"/>
                  </a:solidFill>
                  <a:latin typeface="Pretendard ExtraBold"/>
                  <a:ea typeface="Pretendard ExtraBold"/>
                  <a:cs typeface="Pretendard ExtraBold"/>
                </a:rPr>
                <a:t>생성형 AI의 역할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6621399" y="2611279"/>
              <a:ext cx="3159013" cy="2213039"/>
              <a:chOff x="6621399" y="2611279"/>
              <a:chExt cx="3159013" cy="221303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621399" y="2611279"/>
                <a:ext cx="197824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FFF6E8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FFF6E8"/>
                    </a:solidFill>
                    <a:latin typeface="Pretendard"/>
                    <a:ea typeface="Pretendard"/>
                    <a:cs typeface="Pretendard"/>
                  </a:rPr>
                  <a:t>HTML 화면 만들기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21399" y="2992279"/>
                <a:ext cx="307006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FFF6E8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FFF6E8"/>
                    </a:solidFill>
                    <a:latin typeface="Pretendard"/>
                    <a:ea typeface="Pretendard"/>
                    <a:cs typeface="Pretendard"/>
                  </a:rPr>
                  <a:t>Apps Script 연결 코드 만들기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21399" y="3373279"/>
                <a:ext cx="315901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FFF6E8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FFF6E8"/>
                    </a:solidFill>
                    <a:latin typeface="Pretendard"/>
                    <a:ea typeface="Pretendard"/>
                    <a:cs typeface="Pretendard"/>
                  </a:rPr>
                  <a:t>Spreadsheet 저장 코드 만들기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21399" y="3754279"/>
                <a:ext cx="152179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FFF6E8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FFF6E8"/>
                    </a:solidFill>
                    <a:latin typeface="Pretendard"/>
                    <a:ea typeface="Pretendard"/>
                    <a:cs typeface="Pretendard"/>
                  </a:rPr>
                  <a:t>오류 수정하기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21399" y="4135279"/>
                <a:ext cx="173381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FFF6E8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FFF6E8"/>
                    </a:solidFill>
                    <a:latin typeface="Pretendard"/>
                    <a:ea typeface="Pretendard"/>
                    <a:cs typeface="Pretendard"/>
                  </a:rPr>
                  <a:t>디자인 개선하기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21399" y="4516279"/>
                <a:ext cx="152179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FFF6E8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FFF6E8"/>
                    </a:solidFill>
                    <a:latin typeface="Pretendard"/>
                    <a:ea typeface="Pretendard"/>
                    <a:cs typeface="Pretendard"/>
                  </a:rPr>
                  <a:t>기능 추가하기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5" name="Line 25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26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6810375" cy="894969"/>
            <a:chOff x="669036" y="499110"/>
            <a:chExt cx="6810375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283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5 · 생성형 AI 활용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681037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AI에게 요청하는 기본 프롬프트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85800" y="1676400"/>
            <a:ext cx="10820400" cy="4343400"/>
            <a:chOff x="685800" y="1676400"/>
            <a:chExt cx="10820400" cy="43434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4343400"/>
            </a:xfrm>
            <a:prstGeom prst="roundRect">
              <a:avLst>
                <a:gd name="adj" fmla="val 4386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5266" y="1944052"/>
              <a:ext cx="1806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FE7BBF"/>
                  </a:solidFill>
                  <a:latin typeface="Pretendard ExtraBold"/>
                  <a:ea typeface="Pretendard ExtraBold"/>
                  <a:cs typeface="Pretendard ExtraBold"/>
                </a:rPr>
                <a:t>그대로 붙여넣는 요청문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983742" y="2292668"/>
              <a:ext cx="6030100" cy="3235833"/>
              <a:chOff x="983742" y="2292668"/>
              <a:chExt cx="6030100" cy="3235833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983742" y="2292668"/>
                <a:ext cx="18583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나는 고등학교 교사야.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83742" y="2559368"/>
                <a:ext cx="603010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Google Spreadsheet와 연동되는 Interactive HTML 웹앱을 만들고 싶어.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83742" y="2826068"/>
                <a:ext cx="580442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학생이 웹앱에서 입력하면 응답이 Spreadsheet에 자동 저장되게 해줘.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83742" y="3245168"/>
                <a:ext cx="14585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CEFF32"/>
                    </a:solidFill>
                    <a:latin typeface="Consolas"/>
                    <a:ea typeface="Microsoft YaHei"/>
                    <a:cs typeface="Consolas"/>
                  </a:rPr>
                  <a:t>활동명: [활동명]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3742" y="3511868"/>
                <a:ext cx="32668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CEFF32"/>
                    </a:solidFill>
                    <a:latin typeface="Consolas"/>
                    <a:ea typeface="Microsoft YaHei"/>
                    <a:cs typeface="Consolas"/>
                  </a:rPr>
                  <a:t>학생 입력 항목: 이름 / 반 / 답변 / 성찰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3742" y="3778568"/>
                <a:ext cx="549088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CEFF32"/>
                    </a:solidFill>
                    <a:latin typeface="Consolas"/>
                    <a:ea typeface="Microsoft YaHei"/>
                    <a:cs typeface="Consolas"/>
                  </a:rPr>
                  <a:t>Spreadsheet 열: timestamp, name, class, answer, reflection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83742" y="41976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조건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83742" y="4464368"/>
                <a:ext cx="17311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- 나는 코딩 초보자야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83742" y="4731068"/>
                <a:ext cx="47739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- Apps Script에서 어떤 파일을 만들지 단계별로 설명해줘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83742" y="4997768"/>
                <a:ext cx="51215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- Code.gs 전체 코드와 index.html 전체 코드를 완성본으로 줘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83742" y="5264468"/>
                <a:ext cx="33485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- 오류가 생겼을 때 확인할 부분도 알려줘</a:t>
                </a: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1" name="Line 21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27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4908017" cy="894969"/>
            <a:chOff x="669036" y="499110"/>
            <a:chExt cx="4908017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283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5 · 생성형 AI 활용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490801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좋은 요청의 7가지 구조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85800" y="1676400"/>
            <a:ext cx="10820400" cy="4343400"/>
            <a:chOff x="685800" y="1676400"/>
            <a:chExt cx="10820400" cy="43434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4343400"/>
            </a:xfrm>
            <a:prstGeom prst="roundRect">
              <a:avLst>
                <a:gd name="adj" fmla="val 4386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58037" y="2042636"/>
              <a:ext cx="5096332" cy="3537776"/>
              <a:chOff x="1058037" y="2042636"/>
              <a:chExt cx="5096332" cy="3537776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058037" y="2042636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①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515237" y="2042636"/>
                <a:ext cx="1608230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나는 누구인가?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58037" y="2576036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②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515237" y="2576036"/>
                <a:ext cx="237455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무엇을 만들고 싶은가?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58037" y="3109436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③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515237" y="3109436"/>
                <a:ext cx="283899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학생은 무엇을 입력하는가?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58037" y="3642836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15237" y="3642836"/>
                <a:ext cx="463913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Spreadsheet에는 어떤 열로 저장할 것인가?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58037" y="4176236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⑤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515237" y="4176236"/>
                <a:ext cx="337309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화면은 어떤 느낌이면 좋겠는가?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58037" y="4709636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⑥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515237" y="4709636"/>
                <a:ext cx="420908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제출 후 어떤 메시지가 나오면 좋겠는가?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58037" y="5243036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⑦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515237" y="5243036"/>
                <a:ext cx="3245377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초보자용 설치 절차를 알려달라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3" name="Line 23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28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7590152" cy="894969"/>
            <a:chOff x="669036" y="499110"/>
            <a:chExt cx="7590152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283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5 · 생성형 AI 활용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759015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빈칸만 채우면 되는 프롬프트 템플릿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85800" y="1676400"/>
            <a:ext cx="10820400" cy="4343400"/>
            <a:chOff x="685800" y="1676400"/>
            <a:chExt cx="10820400" cy="43434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4343400"/>
            </a:xfrm>
            <a:prstGeom prst="roundRect">
              <a:avLst>
                <a:gd name="adj" fmla="val 4386"/>
              </a:avLst>
            </a:prstGeom>
            <a:solidFill>
              <a:srgbClr val="23262C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83742" y="1987868"/>
              <a:ext cx="4911768" cy="3426333"/>
              <a:chOff x="983742" y="1987868"/>
              <a:chExt cx="4911768" cy="3426333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983742" y="1987868"/>
                <a:ext cx="414832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Google Spreadsheet와 연동되는 학생 기록 수집용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83742" y="2254568"/>
                <a:ext cx="3050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Interactive HTML 웹앱을 만들어줘.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83742" y="2711768"/>
                <a:ext cx="9950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E7BBF"/>
                    </a:solidFill>
                    <a:latin typeface="Consolas"/>
                    <a:ea typeface="Microsoft YaHei"/>
                    <a:cs typeface="Consolas"/>
                  </a:rPr>
                  <a:t>[활동 목적]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83742" y="2978468"/>
                <a:ext cx="38301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학생들이 </a:t>
                </a:r>
                <a:r>
                  <a:rPr lang="en-US" sz="1350" dirty="0">
                    <a:solidFill>
                      <a:srgbClr val="CEFF32"/>
                    </a:solidFill>
                    <a:latin typeface="Consolas"/>
                    <a:ea typeface="Consolas"/>
                    <a:cs typeface="Consolas"/>
                  </a:rPr>
                  <a:t>________</a:t>
                </a:r>
                <a:r>
                  <a:rPr lang="ko-KR" sz="135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 을/를 작성하게 하고 싶다.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83742" y="34356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E7BBF"/>
                    </a:solidFill>
                    <a:latin typeface="Consolas"/>
                    <a:ea typeface="Microsoft YaHei"/>
                    <a:cs typeface="Consolas"/>
                  </a:rPr>
                  <a:t>[학생 입력 항목]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3742" y="3702368"/>
                <a:ext cx="37938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이름 · 반 · </a:t>
                </a:r>
                <a:r>
                  <a:rPr lang="en-US" sz="1350" dirty="0">
                    <a:solidFill>
                      <a:srgbClr val="CEFF32"/>
                    </a:solidFill>
                    <a:latin typeface="Consolas"/>
                    <a:ea typeface="Consolas"/>
                    <a:cs typeface="Consolas"/>
                  </a:rPr>
                  <a:t>________</a:t>
                </a:r>
                <a:r>
                  <a:rPr lang="en-US" sz="1350" dirty="0">
                    <a:solidFill>
                      <a:srgbClr val="FFF6E8"/>
                    </a:solidFill>
                    <a:latin typeface="Consolas"/>
                    <a:ea typeface="Consolas"/>
                    <a:cs typeface="Consolas"/>
                  </a:rPr>
                  <a:t> · </a:t>
                </a:r>
                <a:r>
                  <a:rPr lang="en-US" sz="1350" dirty="0">
                    <a:solidFill>
                      <a:srgbClr val="CEFF32"/>
                    </a:solidFill>
                    <a:latin typeface="Consolas"/>
                    <a:ea typeface="Consolas"/>
                    <a:cs typeface="Consolas"/>
                  </a:rPr>
                  <a:t>________</a:t>
                </a:r>
                <a:r>
                  <a:rPr lang="en-US" sz="1350" dirty="0">
                    <a:solidFill>
                      <a:srgbClr val="FFF6E8"/>
                    </a:solidFill>
                    <a:latin typeface="Consolas"/>
                    <a:ea typeface="Consolas"/>
                    <a:cs typeface="Consolas"/>
                  </a:rPr>
                  <a:t> · </a:t>
                </a:r>
                <a:r>
                  <a:rPr lang="en-US" sz="1350" dirty="0">
                    <a:solidFill>
                      <a:srgbClr val="CEFF32"/>
                    </a:solidFill>
                    <a:latin typeface="Consolas"/>
                    <a:ea typeface="Consolas"/>
                    <a:cs typeface="Consolas"/>
                  </a:rPr>
                  <a:t>________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3742" y="4159568"/>
                <a:ext cx="19774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E7BBF"/>
                    </a:solidFill>
                    <a:latin typeface="Consolas"/>
                    <a:ea typeface="Microsoft YaHei"/>
                    <a:cs typeface="Consolas"/>
                  </a:rPr>
                  <a:t>[Spreadsheet 저장 열]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83742" y="4426268"/>
                <a:ext cx="40482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6E8"/>
                    </a:solidFill>
                    <a:latin typeface="Consolas"/>
                    <a:ea typeface="Consolas"/>
                    <a:cs typeface="Consolas"/>
                  </a:rPr>
                  <a:t>timestamp, name, class, </a:t>
                </a:r>
                <a:r>
                  <a:rPr lang="en-US" sz="1350" dirty="0">
                    <a:solidFill>
                      <a:srgbClr val="CEFF32"/>
                    </a:solidFill>
                    <a:latin typeface="Consolas"/>
                    <a:ea typeface="Consolas"/>
                    <a:cs typeface="Consolas"/>
                  </a:rPr>
                  <a:t>________</a:t>
                </a:r>
                <a:r>
                  <a:rPr lang="en-US" sz="1350" dirty="0">
                    <a:solidFill>
                      <a:srgbClr val="FFF6E8"/>
                    </a:solidFill>
                    <a:latin typeface="Consolas"/>
                    <a:ea typeface="Consolas"/>
                    <a:cs typeface="Consolas"/>
                  </a:rPr>
                  <a:t>, </a:t>
                </a:r>
                <a:r>
                  <a:rPr lang="en-US" sz="1350" dirty="0">
                    <a:solidFill>
                      <a:srgbClr val="CEFF32"/>
                    </a:solidFill>
                    <a:latin typeface="Consolas"/>
                    <a:ea typeface="Consolas"/>
                    <a:cs typeface="Consolas"/>
                  </a:rPr>
                  <a:t>________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83742" y="4883468"/>
                <a:ext cx="9950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E7BBF"/>
                    </a:solidFill>
                    <a:latin typeface="Consolas"/>
                    <a:ea typeface="Microsoft YaHei"/>
                    <a:cs typeface="Consolas"/>
                  </a:rPr>
                  <a:t>[추가 조건]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83742" y="5150168"/>
                <a:ext cx="49117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Code.gs와 index.html 분리 · 배포 방법 · 오류 해결법 포함</a:t>
                </a:r>
              </a:p>
            </p:txBody>
          </p:sp>
        </p:grpSp>
      </p:grpSp>
      <p:grpSp>
        <p:nvGrpSpPr>
          <p:cNvPr id="22" name="Group 22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19" name="Line 19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29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6517298" cy="894969"/>
            <a:chOff x="669036" y="499110"/>
            <a:chExt cx="6517298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283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5 · 생성형 AI 활용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651729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처음부터 완성형일 필요가 없다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7418" y="1555432"/>
            <a:ext cx="4503649" cy="322707"/>
            <a:chOff x="677418" y="1555432"/>
            <a:chExt cx="4503649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77418" y="1555432"/>
              <a:ext cx="45036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필요할 때 말로 덧붙인다. 기능 추가 요청 예: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5800" y="1981200"/>
            <a:ext cx="9982200" cy="3867150"/>
            <a:chOff x="685800" y="1981200"/>
            <a:chExt cx="9982200" cy="3867150"/>
          </a:xfrm>
        </p:grpSpPr>
        <p:sp>
          <p:nvSpPr>
            <p:cNvPr id="8" name="Rectangle 8"/>
            <p:cNvSpPr/>
            <p:nvPr/>
          </p:nvSpPr>
          <p:spPr>
            <a:xfrm>
              <a:off x="685800" y="1981200"/>
              <a:ext cx="9525000" cy="666750"/>
            </a:xfrm>
            <a:prstGeom prst="roundRect">
              <a:avLst>
                <a:gd name="adj" fmla="val 25714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0318" y="2203132"/>
              <a:ext cx="39150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"학급을 드롭다운으로 선택하게 해줘."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43000" y="2781300"/>
              <a:ext cx="9525000" cy="666750"/>
            </a:xfrm>
            <a:prstGeom prst="roundRect">
              <a:avLst>
                <a:gd name="adj" fmla="val 25714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77518" y="3003232"/>
              <a:ext cx="55143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"제출 전에 빈칸이 있으면 경고 메시지가 나오게 해줘."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3581400"/>
              <a:ext cx="9525000" cy="666750"/>
            </a:xfrm>
            <a:prstGeom prst="roundRect">
              <a:avLst>
                <a:gd name="adj" fmla="val 25714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0318" y="3803332"/>
              <a:ext cx="5758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"학생 답변이 50자 미만이면 더 자세히 쓰라고 안내해줘."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143000" y="4381500"/>
              <a:ext cx="9525000" cy="666750"/>
            </a:xfrm>
            <a:prstGeom prst="roundRect">
              <a:avLst>
                <a:gd name="adj" fmla="val 25714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77518" y="4603432"/>
              <a:ext cx="40482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"제출 완료 후 화면이 초기화되게 해줘."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5800" y="5181600"/>
              <a:ext cx="9525000" cy="666750"/>
            </a:xfrm>
            <a:prstGeom prst="roundRect">
              <a:avLst>
                <a:gd name="adj" fmla="val 25714"/>
              </a:avLst>
            </a:prstGeom>
            <a:solidFill>
              <a:srgbClr val="CEFF3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0318" y="5403532"/>
              <a:ext cx="441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23262C"/>
                  </a:solidFill>
                  <a:latin typeface="Pretendard SemiBold"/>
                  <a:ea typeface="Pretendard SemiBold"/>
                  <a:cs typeface="Pretendard SemiBold"/>
                </a:rPr>
                <a:t>"교사용으로 학급별 통계가 보이게 해줘."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19" name="Line 19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30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6317513" cy="894969"/>
            <a:chOff x="669036" y="499110"/>
            <a:chExt cx="6317513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283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5 · 생성형 AI 활용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63175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오류도 AI에게 다시 물어본다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85800" y="1752600"/>
            <a:ext cx="5905500" cy="4229100"/>
            <a:chOff x="685800" y="1752600"/>
            <a:chExt cx="5905500" cy="4229100"/>
          </a:xfrm>
        </p:grpSpPr>
        <p:sp>
          <p:nvSpPr>
            <p:cNvPr id="6" name="Rectangle 6"/>
            <p:cNvSpPr/>
            <p:nvPr/>
          </p:nvSpPr>
          <p:spPr>
            <a:xfrm>
              <a:off x="685800" y="1752600"/>
              <a:ext cx="5905500" cy="4229100"/>
            </a:xfrm>
            <a:prstGeom prst="roundRect">
              <a:avLst>
                <a:gd name="adj" fmla="val 4505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5266" y="2020252"/>
              <a:ext cx="898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FE7BBF"/>
                  </a:solidFill>
                  <a:latin typeface="Pretendard ExtraBold"/>
                  <a:ea typeface="Pretendard ExtraBold"/>
                  <a:cs typeface="Pretendard ExtraBold"/>
                </a:rPr>
                <a:t>오류 요청문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984123" y="2415064"/>
              <a:ext cx="1926746" cy="2916364"/>
              <a:chOff x="984123" y="2415064"/>
              <a:chExt cx="1926746" cy="2916364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984123" y="2415064"/>
                <a:ext cx="175510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아래 오류가 발생했어.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84123" y="2796064"/>
                <a:ext cx="10170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dirty="0">
                    <a:solidFill>
                      <a:srgbClr val="CEFF32"/>
                    </a:solidFill>
                    <a:latin typeface="Consolas"/>
                    <a:ea typeface="Microsoft YaHei"/>
                    <a:cs typeface="Consolas"/>
                  </a:rPr>
                  <a:t>오류 메시지: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84123" y="3024664"/>
                <a:ext cx="184950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[오류 메시지 붙여넣기]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84123" y="3443764"/>
                <a:ext cx="178350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dirty="0">
                    <a:solidFill>
                      <a:srgbClr val="CEFF32"/>
                    </a:solidFill>
                    <a:latin typeface="Consolas"/>
                    <a:ea typeface="Microsoft YaHei"/>
                    <a:cs typeface="Consolas"/>
                  </a:rPr>
                  <a:t>내가 만든 Sheet 이름: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4123" y="3672364"/>
                <a:ext cx="10804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[Sheet 이름]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4123" y="4091464"/>
                <a:ext cx="141182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dirty="0">
                    <a:solidFill>
                      <a:srgbClr val="CEFF32"/>
                    </a:solidFill>
                    <a:latin typeface="Consolas"/>
                    <a:ea typeface="Microsoft YaHei"/>
                    <a:cs typeface="Consolas"/>
                  </a:rPr>
                  <a:t>내가 원하는 기능: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84123" y="4320064"/>
                <a:ext cx="9398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[기능 설명]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84123" y="4853464"/>
                <a:ext cx="192674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원인을 설명하고, 수정된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84123" y="5082064"/>
                <a:ext cx="16349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dirty="0">
                    <a:solidFill>
                      <a:srgbClr val="FFF6E8"/>
                    </a:solidFill>
                    <a:latin typeface="Consolas"/>
                    <a:ea typeface="Microsoft YaHei"/>
                    <a:cs typeface="Consolas"/>
                  </a:rPr>
                  <a:t>전체 코드를 다시 줘.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7043166" y="1944052"/>
            <a:ext cx="3967734" cy="3523298"/>
            <a:chOff x="7043166" y="1944052"/>
            <a:chExt cx="3967734" cy="3523298"/>
          </a:xfrm>
        </p:grpSpPr>
        <p:sp>
          <p:nvSpPr>
            <p:cNvPr id="19" name="TextBox 19"/>
            <p:cNvSpPr txBox="1"/>
            <p:nvPr/>
          </p:nvSpPr>
          <p:spPr>
            <a:xfrm>
              <a:off x="7043166" y="1944052"/>
              <a:ext cx="11315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오류 해결 루프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048500" y="2266950"/>
              <a:ext cx="3962400" cy="5334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07580" y="2438400"/>
              <a:ext cx="8835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오류 발생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0" y="2933700"/>
              <a:ext cx="3962400" cy="5334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07580" y="3105150"/>
              <a:ext cx="1549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오류 메시지 복사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048500" y="3600450"/>
              <a:ext cx="3962400" cy="5334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07580" y="3771900"/>
              <a:ext cx="11140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AI에게 전달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048500" y="4267200"/>
              <a:ext cx="3962400" cy="5334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07580" y="4438650"/>
              <a:ext cx="2216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수정 코드 받아 붙여넣기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048500" y="4933950"/>
              <a:ext cx="3962400" cy="533400"/>
            </a:xfrm>
            <a:prstGeom prst="roundRect">
              <a:avLst>
                <a:gd name="adj" fmla="val 25000"/>
              </a:avLst>
            </a:prstGeom>
            <a:solidFill>
              <a:srgbClr val="CEFF3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07580" y="5105400"/>
              <a:ext cx="926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23262C"/>
                  </a:solidFill>
                  <a:latin typeface="Pretendard SemiBold"/>
                  <a:ea typeface="Pretendard SemiBold"/>
                  <a:cs typeface="Pretendard SemiBold"/>
                </a:rPr>
                <a:t>다시 실행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8972864" y="2749868"/>
              <a:ext cx="113671" cy="2264283"/>
              <a:chOff x="8972864" y="2749868"/>
              <a:chExt cx="113671" cy="2264283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8972864" y="27498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E7BBF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972864" y="34166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E7BBF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972864" y="40833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E7BBF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972864" y="47501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E7BBF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36" name="Line 36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31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14373" y="27527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FBEAD6"/>
                </a:solidFill>
                <a:latin typeface="Pretendard ExtraBold"/>
                <a:ea typeface="Pretendard ExtraBold"/>
                <a:cs typeface="Pretendard ExtraBold"/>
              </a:rPr>
              <a:t>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1583832" cy="632651"/>
            <a:chOff x="678942" y="1428750"/>
            <a:chExt cx="1583832" cy="6326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609600" cy="76200"/>
            </a:xfrm>
            <a:prstGeom prst="rect">
              <a:avLst/>
            </a:prstGeom>
            <a:solidFill>
              <a:srgbClr val="EC2B7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97368"/>
              <a:ext cx="1583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spc="225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6 · 실습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540318"/>
            <a:ext cx="5940918" cy="1533525"/>
            <a:chOff x="647700" y="2540318"/>
            <a:chExt cx="5940918" cy="1533525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540318"/>
              <a:ext cx="188273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3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나만의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226118"/>
              <a:ext cx="594091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3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학생기록 웹앱 만들기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307205"/>
            <a:ext cx="7640155" cy="410718"/>
            <a:chOff x="675132" y="4307205"/>
            <a:chExt cx="7640155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307205"/>
              <a:ext cx="76401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오늘 각 선생님은 자신의 교과에 맞는 웹앱을 하나 설계한다.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7418" y="4965382"/>
            <a:ext cx="3637369" cy="322707"/>
            <a:chOff x="677418" y="4965382"/>
            <a:chExt cx="3637369" cy="322707"/>
          </a:xfrm>
        </p:grpSpPr>
        <p:sp>
          <p:nvSpPr>
            <p:cNvPr id="11" name="TextBox 11"/>
            <p:cNvSpPr txBox="1"/>
            <p:nvPr/>
          </p:nvSpPr>
          <p:spPr>
            <a:xfrm>
              <a:off x="677418" y="4965382"/>
              <a:ext cx="36373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예시 4개를 참고해 설계지를 채운다.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4511528" cy="894969"/>
            <a:chOff x="669036" y="499110"/>
            <a:chExt cx="4511528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13367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6 · 실습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45115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하나를 골라 설계한다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85800" y="1676400"/>
            <a:ext cx="10820400" cy="1179195"/>
            <a:chOff x="685800" y="1676400"/>
            <a:chExt cx="10820400" cy="1179195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1143000"/>
            </a:xfrm>
            <a:prstGeom prst="roundRect">
              <a:avLst>
                <a:gd name="adj" fmla="val 16667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5266" y="1925002"/>
              <a:ext cx="729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CEFF32"/>
                  </a:solidFill>
                  <a:latin typeface="Pretendard ExtraBold"/>
                  <a:ea typeface="Pretendard ExtraBold"/>
                  <a:cs typeface="Pretendard ExtraBold"/>
                </a:rPr>
                <a:t>필수 조건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982980" y="2276475"/>
              <a:ext cx="7444186" cy="579120"/>
              <a:chOff x="982980" y="2276475"/>
              <a:chExt cx="7444186" cy="579120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982980" y="2276475"/>
                <a:ext cx="150990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FFF6E8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FFF6E8"/>
                    </a:solidFill>
                    <a:latin typeface="Pretendard"/>
                    <a:ea typeface="Pretendard"/>
                    <a:cs typeface="Pretendard"/>
                  </a:rPr>
                  <a:t>학생 입력 화면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802380" y="2276475"/>
                <a:ext cx="104546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FFF6E8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FFF6E8"/>
                    </a:solidFill>
                    <a:latin typeface="Pretendard"/>
                    <a:ea typeface="Pretendard"/>
                    <a:cs typeface="Pretendard"/>
                  </a:rPr>
                  <a:t>제출 버튼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088380" y="2276475"/>
                <a:ext cx="23387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FFF6E8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FFF6E8"/>
                    </a:solidFill>
                    <a:latin typeface="Pretendard"/>
                    <a:ea typeface="Pretendard"/>
                    <a:cs typeface="Pretendard"/>
                  </a:rPr>
                  <a:t>Spreadsheet 자동 저장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82980" y="2562225"/>
                <a:ext cx="171183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FFF6E8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FFF6E8"/>
                    </a:solidFill>
                    <a:latin typeface="Pretendard"/>
                    <a:ea typeface="Pretendard"/>
                    <a:cs typeface="Pretendard"/>
                  </a:rPr>
                  <a:t>교사가 기록 확인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685800" y="3009900"/>
            <a:ext cx="10820400" cy="2971800"/>
            <a:chOff x="685800" y="3009900"/>
            <a:chExt cx="10820400" cy="2971800"/>
          </a:xfrm>
        </p:grpSpPr>
        <p:sp>
          <p:nvSpPr>
            <p:cNvPr id="14" name="Rectangle 14"/>
            <p:cNvSpPr/>
            <p:nvPr/>
          </p:nvSpPr>
          <p:spPr>
            <a:xfrm>
              <a:off x="685800" y="3009900"/>
              <a:ext cx="10820400" cy="2971800"/>
            </a:xfrm>
            <a:prstGeom prst="roundRect">
              <a:avLst>
                <a:gd name="adj" fmla="val 6410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5266" y="3258502"/>
              <a:ext cx="898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활동 선택지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982599" y="3639979"/>
              <a:ext cx="6722526" cy="1984439"/>
              <a:chOff x="982599" y="3639979"/>
              <a:chExt cx="6722526" cy="198443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82599" y="3639979"/>
                <a:ext cx="133472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☐ Exit Ticket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82599" y="4059079"/>
                <a:ext cx="131996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☐ 학습지 제출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82599" y="4478179"/>
                <a:ext cx="110793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☐ 독서 기록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82599" y="4897279"/>
                <a:ext cx="2019652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☐ 수행평가 진행 기록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82599" y="5316379"/>
                <a:ext cx="153199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☐ 모둠활동 기록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897499" y="3639979"/>
                <a:ext cx="110793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☐ 상담 신청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897499" y="4059079"/>
                <a:ext cx="104433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☐ 자기평가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897499" y="4478179"/>
                <a:ext cx="104433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☐ 동료평가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897499" y="4897279"/>
                <a:ext cx="142737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☐ AI 활용 기록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897499" y="5316379"/>
                <a:ext cx="180762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☐ 수업 이해도 점검</a:t>
                </a: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8" name="Line 28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33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2505757" cy="894969"/>
            <a:chOff x="669036" y="499110"/>
            <a:chExt cx="2505757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13367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6 · 실습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250575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실습 설계지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85800" y="1676400"/>
            <a:ext cx="10820400" cy="4305300"/>
            <a:chOff x="685800" y="1676400"/>
            <a:chExt cx="10820400" cy="43053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4305300"/>
            </a:xfrm>
            <a:prstGeom prst="roundRect">
              <a:avLst>
                <a:gd name="adj" fmla="val 4425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982218" y="1974532"/>
              <a:ext cx="10066782" cy="3885057"/>
              <a:chOff x="982218" y="1974532"/>
              <a:chExt cx="10066782" cy="3885057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982218" y="1974532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활동명</a:t>
                </a:r>
              </a:p>
            </p:txBody>
          </p:sp>
          <p:sp>
            <p:nvSpPr>
              <p:cNvPr id="8" name="Line 8"/>
              <p:cNvSpPr/>
              <p:nvPr/>
            </p:nvSpPr>
            <p:spPr>
              <a:xfrm>
                <a:off x="2286000" y="2190750"/>
                <a:ext cx="876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763000" h="9525">
                    <a:moveTo>
                      <a:pt x="0" y="0"/>
                    </a:moveTo>
                    <a:lnTo>
                      <a:pt x="8763000" y="0"/>
                    </a:lnTo>
                  </a:path>
                </a:pathLst>
              </a:custGeom>
              <a:noFill/>
              <a:ln w="14288">
                <a:solidFill>
                  <a:srgbClr val="E9D9C4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82218" y="2507932"/>
                <a:ext cx="199365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이 활동을 하는 이유</a:t>
                </a:r>
              </a:p>
            </p:txBody>
          </p:sp>
          <p:sp>
            <p:nvSpPr>
              <p:cNvPr id="10" name="Line 10"/>
              <p:cNvSpPr/>
              <p:nvPr/>
            </p:nvSpPr>
            <p:spPr>
              <a:xfrm>
                <a:off x="3429000" y="2724150"/>
                <a:ext cx="762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9525">
                    <a:moveTo>
                      <a:pt x="0" y="0"/>
                    </a:moveTo>
                    <a:lnTo>
                      <a:pt x="7620000" y="0"/>
                    </a:lnTo>
                  </a:path>
                </a:pathLst>
              </a:custGeom>
              <a:noFill/>
              <a:ln w="14288">
                <a:solidFill>
                  <a:srgbClr val="E9D9C4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82218" y="3041332"/>
                <a:ext cx="26044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학생이 입력할 항목 (1~4)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990600" y="3562350"/>
                <a:ext cx="1005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58400" h="9525">
                    <a:moveTo>
                      <a:pt x="0" y="0"/>
                    </a:moveTo>
                    <a:lnTo>
                      <a:pt x="10058400" y="0"/>
                    </a:lnTo>
                  </a:path>
                </a:pathLst>
              </a:custGeom>
              <a:noFill/>
              <a:ln w="14288">
                <a:solidFill>
                  <a:srgbClr val="E9D9C4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990600" y="3905250"/>
                <a:ext cx="1005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58400" h="9525">
                    <a:moveTo>
                      <a:pt x="0" y="0"/>
                    </a:moveTo>
                    <a:lnTo>
                      <a:pt x="10058400" y="0"/>
                    </a:lnTo>
                  </a:path>
                </a:pathLst>
              </a:custGeom>
              <a:noFill/>
              <a:ln w="14288">
                <a:solidFill>
                  <a:srgbClr val="E9D9C4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982218" y="4222432"/>
                <a:ext cx="329877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Spreadsheet에 저장할 열 (1~4)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990600" y="4743450"/>
                <a:ext cx="1005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58400" h="9525">
                    <a:moveTo>
                      <a:pt x="0" y="0"/>
                    </a:moveTo>
                    <a:lnTo>
                      <a:pt x="10058400" y="0"/>
                    </a:lnTo>
                  </a:path>
                </a:pathLst>
              </a:custGeom>
              <a:noFill/>
              <a:ln w="14288">
                <a:solidFill>
                  <a:srgbClr val="E9D9C4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82218" y="5060632"/>
                <a:ext cx="294878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제출 후 학생에게 보여줄 문구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4572000" y="5276850"/>
                <a:ext cx="647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477000" h="9525">
                    <a:moveTo>
                      <a:pt x="0" y="0"/>
                    </a:moveTo>
                    <a:lnTo>
                      <a:pt x="6477000" y="0"/>
                    </a:lnTo>
                  </a:path>
                </a:pathLst>
              </a:custGeom>
              <a:noFill/>
              <a:ln w="14288">
                <a:solidFill>
                  <a:srgbClr val="E9D9C4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82218" y="5536882"/>
                <a:ext cx="243790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교사가 확인하고 싶은 것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3810000" y="575310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14288">
                <a:solidFill>
                  <a:srgbClr val="E9D9C4"/>
                </a:solidFill>
              </a:ln>
            </p:spPr>
          </p:sp>
        </p:grpSp>
      </p:grpSp>
      <p:grpSp>
        <p:nvGrpSpPr>
          <p:cNvPr id="25" name="Group 25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2" name="Line 22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34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4651465" cy="894969"/>
            <a:chOff x="669036" y="499110"/>
            <a:chExt cx="4651465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202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6 · 실습 · 예시 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465146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영어 독해 근거 기록장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85800" y="1676400"/>
            <a:ext cx="10820400" cy="4305300"/>
            <a:chOff x="685800" y="1676400"/>
            <a:chExt cx="10820400" cy="43053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4305300"/>
            </a:xfrm>
            <a:prstGeom prst="roundRect">
              <a:avLst>
                <a:gd name="adj" fmla="val 4425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5266" y="2001202"/>
              <a:ext cx="4963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활동명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90600" y="2247900"/>
              <a:ext cx="3429000" cy="457200"/>
            </a:xfrm>
            <a:prstGeom prst="roundRect">
              <a:avLst>
                <a:gd name="adj" fmla="val 25000"/>
              </a:avLst>
            </a:prstGeom>
            <a:solidFill>
              <a:srgbClr val="FBEAD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3861" y="2389346"/>
              <a:ext cx="19509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23262C"/>
                  </a:solidFill>
                  <a:latin typeface="Consolas"/>
                  <a:ea typeface="Consolas"/>
                  <a:cs typeface="Consolas"/>
                </a:rPr>
                <a:t>Reading Evidence Log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5266" y="3048952"/>
              <a:ext cx="11315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학생 입력 항목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982599" y="3354229"/>
              <a:ext cx="6628486" cy="993839"/>
              <a:chOff x="982599" y="3354229"/>
              <a:chExt cx="6628486" cy="99383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982599" y="3354229"/>
                <a:ext cx="61007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이름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599" y="3697129"/>
                <a:ext cx="39805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반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2599" y="4040029"/>
                <a:ext cx="88571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내 주장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325999" y="3354229"/>
                <a:ext cx="15853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본문 근거 문장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325999" y="3697129"/>
                <a:ext cx="228508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왜 이 근거를 골랐는지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25999" y="4040029"/>
                <a:ext cx="1373372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수정 후 답변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985266" y="4744402"/>
              <a:ext cx="1350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Spreadsheet 열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90600" y="5010150"/>
              <a:ext cx="9525000" cy="552450"/>
            </a:xfrm>
            <a:prstGeom prst="roundRect">
              <a:avLst>
                <a:gd name="adj" fmla="val 24138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11961" y="5199221"/>
              <a:ext cx="55584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CEFF32"/>
                  </a:solidFill>
                  <a:latin typeface="Consolas"/>
                  <a:ea typeface="Consolas"/>
                  <a:cs typeface="Consolas"/>
                </a:rPr>
                <a:t>timestamp, name, class, claim, evidence, reason, revision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2" name="Line 22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35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5444444" cy="894969"/>
            <a:chOff x="669036" y="499110"/>
            <a:chExt cx="5444444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202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6 · 실습 · 예시 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544444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수행평가 프로젝트 기록장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85800" y="1676400"/>
            <a:ext cx="10820400" cy="4305300"/>
            <a:chOff x="685800" y="1676400"/>
            <a:chExt cx="10820400" cy="43053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4305300"/>
            </a:xfrm>
            <a:prstGeom prst="roundRect">
              <a:avLst>
                <a:gd name="adj" fmla="val 4425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5266" y="2001202"/>
              <a:ext cx="4963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활동명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90600" y="2247900"/>
              <a:ext cx="3619500" cy="457200"/>
            </a:xfrm>
            <a:prstGeom prst="roundRect">
              <a:avLst>
                <a:gd name="adj" fmla="val 25000"/>
              </a:avLst>
            </a:prstGeom>
            <a:solidFill>
              <a:srgbClr val="FBEAD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3861" y="2389346"/>
              <a:ext cx="24212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23262C"/>
                  </a:solidFill>
                  <a:latin typeface="Consolas"/>
                  <a:ea typeface="Consolas"/>
                  <a:cs typeface="Consolas"/>
                </a:rPr>
                <a:t>Project Progress Tracker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5266" y="3048952"/>
              <a:ext cx="11315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학생 입력 항목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982599" y="3354229"/>
              <a:ext cx="5928798" cy="993839"/>
              <a:chOff x="982599" y="3354229"/>
              <a:chExt cx="5928798" cy="99383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982599" y="3354229"/>
                <a:ext cx="61007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팀명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599" y="3697129"/>
                <a:ext cx="61007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역할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2599" y="4040029"/>
                <a:ext cx="116134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오늘 한 일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325999" y="3354229"/>
                <a:ext cx="130976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사용한 자료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325999" y="3697129"/>
                <a:ext cx="130976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어려웠던 점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25999" y="4040029"/>
                <a:ext cx="15853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다음 시간 계획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985266" y="4744402"/>
              <a:ext cx="1350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Spreadsheet 열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90600" y="5010150"/>
              <a:ext cx="9525000" cy="552450"/>
            </a:xfrm>
            <a:prstGeom prst="roundRect">
              <a:avLst>
                <a:gd name="adj" fmla="val 24138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11961" y="5199221"/>
              <a:ext cx="57694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CEFF32"/>
                  </a:solidFill>
                  <a:latin typeface="Consolas"/>
                  <a:ea typeface="Consolas"/>
                  <a:cs typeface="Consolas"/>
                </a:rPr>
                <a:t>timestamp, team, role, task_done, source, issue, next_plan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2" name="Line 22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36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3578611" cy="894969"/>
            <a:chOff x="669036" y="499110"/>
            <a:chExt cx="3578611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202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6 · 실습 · 예시 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35786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상담 신청 기록장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85800" y="1676400"/>
            <a:ext cx="10820400" cy="3429000"/>
            <a:chOff x="685800" y="1676400"/>
            <a:chExt cx="10820400" cy="34290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34290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5266" y="2001202"/>
              <a:ext cx="11315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학생 입력 항목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982599" y="2325529"/>
              <a:ext cx="5653164" cy="993839"/>
              <a:chOff x="982599" y="2325529"/>
              <a:chExt cx="5653164" cy="993839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982599" y="2325529"/>
                <a:ext cx="61007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이름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82599" y="2668429"/>
                <a:ext cx="39805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반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82599" y="3011329"/>
                <a:ext cx="15853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상담 희망 주제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325999" y="2325529"/>
                <a:ext cx="109773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희망 시간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325999" y="2668429"/>
                <a:ext cx="130976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간단한 메모</a:t>
                </a: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985266" y="3677602"/>
              <a:ext cx="1350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Spreadsheet 열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90600" y="3943350"/>
              <a:ext cx="9525000" cy="552450"/>
            </a:xfrm>
            <a:prstGeom prst="roundRect">
              <a:avLst>
                <a:gd name="adj" fmla="val 24138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11961" y="4132421"/>
              <a:ext cx="5193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CEFF32"/>
                  </a:solidFill>
                  <a:latin typeface="Consolas"/>
                  <a:ea typeface="Consolas"/>
                  <a:cs typeface="Consolas"/>
                </a:rPr>
                <a:t>timestamp, name, class, topic, preferred_time, memo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5800" y="5334000"/>
            <a:ext cx="10820400" cy="685800"/>
            <a:chOff x="685800" y="5334000"/>
            <a:chExt cx="10820400" cy="685800"/>
          </a:xfrm>
        </p:grpSpPr>
        <p:sp>
          <p:nvSpPr>
            <p:cNvPr id="18" name="Rectangle 18"/>
            <p:cNvSpPr/>
            <p:nvPr/>
          </p:nvSpPr>
          <p:spPr>
            <a:xfrm>
              <a:off x="685800" y="5334000"/>
              <a:ext cx="10820400" cy="685800"/>
            </a:xfrm>
            <a:prstGeom prst="roundRect">
              <a:avLst>
                <a:gd name="adj" fmla="val 25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5266" y="5525452"/>
              <a:ext cx="327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FFF6E8"/>
                  </a:solidFill>
                  <a:latin typeface="Pretendard ExtraBold"/>
                  <a:ea typeface="Pretendard ExtraBold"/>
                  <a:cs typeface="Pretendard ExtraBold"/>
                </a:rPr>
                <a:t>주의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2599" y="5697379"/>
              <a:ext cx="56596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민감한 개인정보나 매우 사적인 내용은 수집하지 않는다.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2" name="Line 22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37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3212485" cy="894969"/>
            <a:chOff x="669036" y="499110"/>
            <a:chExt cx="3212485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202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6 · 실습 · 예시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321248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AI 활용 기록장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85800" y="1676400"/>
            <a:ext cx="10820400" cy="4305300"/>
            <a:chOff x="685800" y="1676400"/>
            <a:chExt cx="10820400" cy="43053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4305300"/>
            </a:xfrm>
            <a:prstGeom prst="roundRect">
              <a:avLst>
                <a:gd name="adj" fmla="val 4425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5266" y="2001202"/>
              <a:ext cx="4963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활동명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90600" y="2247900"/>
              <a:ext cx="2476500" cy="457200"/>
            </a:xfrm>
            <a:prstGeom prst="roundRect">
              <a:avLst>
                <a:gd name="adj" fmla="val 25000"/>
              </a:avLst>
            </a:prstGeom>
            <a:solidFill>
              <a:srgbClr val="FBEAD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3861" y="2389346"/>
              <a:ext cx="14294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23262C"/>
                  </a:solidFill>
                  <a:latin typeface="Consolas"/>
                  <a:ea typeface="Consolas"/>
                  <a:cs typeface="Consolas"/>
                </a:rPr>
                <a:t>AI Learning Log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5266" y="3048952"/>
              <a:ext cx="11315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학생 입력 항목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82599" y="3354229"/>
              <a:ext cx="6712325" cy="993839"/>
              <a:chOff x="982599" y="3354229"/>
              <a:chExt cx="6712325" cy="99383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982599" y="3354229"/>
                <a:ext cx="214626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내가 AI에게 한 질문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599" y="3697129"/>
                <a:ext cx="266153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AI 답변에서 도움이 된 점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2599" y="4040029"/>
                <a:ext cx="15853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확인해야 할 점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897499" y="3354229"/>
                <a:ext cx="179742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내가 수정한 내용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897499" y="3697129"/>
                <a:ext cx="1373372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021" indent="-170021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최종 내 표현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985266" y="4744402"/>
              <a:ext cx="1350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Spreadsheet 열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90600" y="5010150"/>
              <a:ext cx="9525000" cy="552450"/>
            </a:xfrm>
            <a:prstGeom prst="roundRect">
              <a:avLst>
                <a:gd name="adj" fmla="val 24138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13104" y="5213985"/>
              <a:ext cx="70635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EFF32"/>
                  </a:solidFill>
                  <a:latin typeface="Consolas"/>
                  <a:ea typeface="Consolas"/>
                  <a:cs typeface="Consolas"/>
                </a:rPr>
                <a:t>timestamp, name, class, prompt, helpful_point, verification, revision, final_expression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1" name="Line 21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38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14373" y="27527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FBEAD6"/>
                </a:solidFill>
                <a:latin typeface="Pretendard ExtraBold"/>
                <a:ea typeface="Pretendard ExtraBold"/>
                <a:cs typeface="Pretendard ExtraBold"/>
              </a:rPr>
              <a:t>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632651"/>
            <a:chOff x="678942" y="1428750"/>
            <a:chExt cx="788693" cy="6326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609600" cy="76200"/>
            </a:xfrm>
            <a:prstGeom prst="rect">
              <a:avLst/>
            </a:prstGeom>
            <a:solidFill>
              <a:srgbClr val="EC2B7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973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7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540318"/>
            <a:ext cx="3911824" cy="1533525"/>
            <a:chOff x="647700" y="2540318"/>
            <a:chExt cx="3911824" cy="1533525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540318"/>
              <a:ext cx="2682070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3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수업 설계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226118"/>
              <a:ext cx="391182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3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관점에서 보기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307205"/>
            <a:ext cx="8855773" cy="410718"/>
            <a:chOff x="675132" y="4307205"/>
            <a:chExt cx="8855773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307205"/>
              <a:ext cx="88557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좋은 웹앱은 예쁜 화면보다 학생 사고가 드러나는 구조를 먼저 갖춘다.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7418" y="4965382"/>
            <a:ext cx="7302398" cy="322707"/>
            <a:chOff x="677418" y="4965382"/>
            <a:chExt cx="7302398" cy="322707"/>
          </a:xfrm>
        </p:grpSpPr>
        <p:sp>
          <p:nvSpPr>
            <p:cNvPr id="11" name="TextBox 11"/>
            <p:cNvSpPr txBox="1"/>
            <p:nvPr/>
          </p:nvSpPr>
          <p:spPr>
            <a:xfrm>
              <a:off x="677418" y="4965382"/>
              <a:ext cx="73023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자동화는 학생 생각을 대신하는 것이 아니라, 남기고 수정되도록 돕는 것.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8663007" cy="894969"/>
            <a:chOff x="669036" y="499110"/>
            <a:chExt cx="8663007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289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7 · 수업 설계 관점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86630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좋은 웹앱은 화면보다 먼저 이것을 갖춘다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85800" y="1676400"/>
            <a:ext cx="10820400" cy="4305300"/>
            <a:chOff x="685800" y="1676400"/>
            <a:chExt cx="10820400" cy="43053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4305300"/>
            </a:xfrm>
            <a:prstGeom prst="roundRect">
              <a:avLst>
                <a:gd name="adj" fmla="val 4425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057656" y="2072640"/>
              <a:ext cx="10067544" cy="3438144"/>
              <a:chOff x="1057656" y="2072640"/>
              <a:chExt cx="10067544" cy="3438144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057656" y="20726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476756" y="2072640"/>
                <a:ext cx="234452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학생 사고가 드러난다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1066800" y="2533650"/>
                <a:ext cx="1005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58400" h="9525">
                    <a:moveTo>
                      <a:pt x="0" y="0"/>
                    </a:moveTo>
                    <a:lnTo>
                      <a:pt x="10058400" y="0"/>
                    </a:lnTo>
                  </a:path>
                </a:pathLst>
              </a:custGeom>
              <a:noFill/>
              <a:ln w="9525">
                <a:solidFill>
                  <a:srgbClr val="E9D9C4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57656" y="29108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2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476756" y="2910840"/>
                <a:ext cx="17871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과정이 기록된다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1066800" y="3371850"/>
                <a:ext cx="1005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58400" h="9525">
                    <a:moveTo>
                      <a:pt x="0" y="0"/>
                    </a:moveTo>
                    <a:lnTo>
                      <a:pt x="10058400" y="0"/>
                    </a:lnTo>
                  </a:path>
                </a:pathLst>
              </a:custGeom>
              <a:noFill/>
              <a:ln w="9525">
                <a:solidFill>
                  <a:srgbClr val="E9D9C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57656" y="37490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76756" y="3749040"/>
                <a:ext cx="24172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교사가 확인할 수 있다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1066800" y="4210050"/>
                <a:ext cx="1005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58400" h="9525">
                    <a:moveTo>
                      <a:pt x="0" y="0"/>
                    </a:moveTo>
                    <a:lnTo>
                      <a:pt x="10058400" y="0"/>
                    </a:lnTo>
                  </a:path>
                </a:pathLst>
              </a:custGeom>
              <a:noFill/>
              <a:ln w="9525">
                <a:solidFill>
                  <a:srgbClr val="E9D9C4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57656" y="45872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4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476756" y="4587240"/>
                <a:ext cx="297454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학생이 다시 수정할 수 있다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1066800" y="5048250"/>
                <a:ext cx="1005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58400" h="9525">
                    <a:moveTo>
                      <a:pt x="0" y="0"/>
                    </a:moveTo>
                    <a:lnTo>
                      <a:pt x="10058400" y="0"/>
                    </a:lnTo>
                  </a:path>
                </a:pathLst>
              </a:custGeom>
              <a:noFill/>
              <a:ln w="9525">
                <a:solidFill>
                  <a:srgbClr val="E9D9C4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57656" y="51587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5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76756" y="5158740"/>
                <a:ext cx="17871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기록이 누적된다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086856" y="51587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EC2B7A"/>
                    </a:solidFill>
                    <a:latin typeface="Pretendard ExtraBold"/>
                    <a:ea typeface="Pretendard ExtraBold"/>
                    <a:cs typeface="Pretendard ExtraBold"/>
                  </a:rPr>
                  <a:t>6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505956" y="5158740"/>
                <a:ext cx="307147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개인정보 수집이 최소화된다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5" name="Line 25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40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5117923" cy="894969"/>
            <a:chOff x="669036" y="499110"/>
            <a:chExt cx="5117923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289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7 · 수업 설계 관점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511792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제출을 넘어 학습이 되게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85800" y="1752600"/>
            <a:ext cx="10820400" cy="1524000"/>
            <a:chOff x="685800" y="1752600"/>
            <a:chExt cx="10820400" cy="1524000"/>
          </a:xfrm>
        </p:grpSpPr>
        <p:sp>
          <p:nvSpPr>
            <p:cNvPr id="6" name="Rectangle 6"/>
            <p:cNvSpPr/>
            <p:nvPr/>
          </p:nvSpPr>
          <p:spPr>
            <a:xfrm>
              <a:off x="685800" y="1752600"/>
              <a:ext cx="1082040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3742" y="2025968"/>
              <a:ext cx="102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6B5B52"/>
                  </a:solidFill>
                  <a:latin typeface="Pretendard SemiBold"/>
                  <a:ea typeface="Pretendard SemiBold"/>
                  <a:cs typeface="Pretendard SemiBold"/>
                </a:rPr>
                <a:t>단순 제출형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849499" y="2001679"/>
              <a:ext cx="271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학생 입력 → 제출 → 저장 → 끝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5800" y="2590800"/>
              <a:ext cx="10820400" cy="685800"/>
            </a:xfrm>
            <a:prstGeom prst="roundRect">
              <a:avLst>
                <a:gd name="adj" fmla="val 22222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742" y="28641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CEFF32"/>
                  </a:solidFill>
                  <a:latin typeface="Pretendard SemiBold"/>
                  <a:ea typeface="Pretendard SemiBold"/>
                  <a:cs typeface="Pretendard SemiBold"/>
                </a:rPr>
                <a:t>학습형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49499" y="2839879"/>
              <a:ext cx="447916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FFF6E8"/>
                  </a:solidFill>
                  <a:latin typeface="Pretendard"/>
                  <a:ea typeface="Pretendard"/>
                  <a:cs typeface="Pretendard"/>
                </a:rPr>
                <a:t>학생 입력 → 저장 → 피드백 → 수정 → 성찰 → 누적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5800" y="3657600"/>
            <a:ext cx="10820400" cy="571500"/>
            <a:chOff x="685800" y="3657600"/>
            <a:chExt cx="10820400" cy="571500"/>
          </a:xfrm>
        </p:grpSpPr>
        <p:sp>
          <p:nvSpPr>
            <p:cNvPr id="13" name="Rectangle 13"/>
            <p:cNvSpPr/>
            <p:nvPr/>
          </p:nvSpPr>
          <p:spPr>
            <a:xfrm>
              <a:off x="685800" y="3657600"/>
              <a:ext cx="1600200" cy="571500"/>
            </a:xfrm>
            <a:prstGeom prst="roundRect">
              <a:avLst>
                <a:gd name="adj" fmla="val 21667"/>
              </a:avLst>
            </a:prstGeom>
            <a:solidFill>
              <a:srgbClr val="FFFFFF"/>
            </a:solidFill>
            <a:ln w="14288">
              <a:solidFill>
                <a:srgbClr val="23262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98830" y="3862864"/>
              <a:ext cx="9741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8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학생 첫 생각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533650" y="3657600"/>
              <a:ext cx="1600200" cy="571500"/>
            </a:xfrm>
            <a:prstGeom prst="roundRect">
              <a:avLst>
                <a:gd name="adj" fmla="val 21667"/>
              </a:avLst>
            </a:prstGeom>
            <a:solidFill>
              <a:srgbClr val="FFFFFF"/>
            </a:solidFill>
            <a:ln w="14288">
              <a:solidFill>
                <a:srgbClr val="23262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58246" y="3862864"/>
              <a:ext cx="75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8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자동 저장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381500" y="3657600"/>
              <a:ext cx="1600200" cy="571500"/>
            </a:xfrm>
            <a:prstGeom prst="roundRect">
              <a:avLst>
                <a:gd name="adj" fmla="val 21667"/>
              </a:avLst>
            </a:prstGeom>
            <a:solidFill>
              <a:srgbClr val="FFFFFF"/>
            </a:solidFill>
            <a:ln w="14288">
              <a:solidFill>
                <a:srgbClr val="23262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98821" y="3862864"/>
              <a:ext cx="9655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8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피드백·안내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29350" y="3657600"/>
              <a:ext cx="1600200" cy="571500"/>
            </a:xfrm>
            <a:prstGeom prst="roundRect">
              <a:avLst>
                <a:gd name="adj" fmla="val 21667"/>
              </a:avLst>
            </a:prstGeom>
            <a:solidFill>
              <a:srgbClr val="FFFFFF"/>
            </a:solidFill>
            <a:ln w="14288">
              <a:solidFill>
                <a:srgbClr val="23262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53946" y="3862864"/>
              <a:ext cx="75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8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학생 수정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77200" y="3657600"/>
              <a:ext cx="1600200" cy="571500"/>
            </a:xfrm>
            <a:prstGeom prst="roundRect">
              <a:avLst>
                <a:gd name="adj" fmla="val 21667"/>
              </a:avLst>
            </a:prstGeom>
            <a:solidFill>
              <a:srgbClr val="FFFFFF"/>
            </a:solidFill>
            <a:ln w="14288">
              <a:solidFill>
                <a:srgbClr val="23262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01796" y="3862864"/>
              <a:ext cx="75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8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최종 제출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925050" y="3657600"/>
              <a:ext cx="1581150" cy="571500"/>
            </a:xfrm>
            <a:prstGeom prst="roundRect">
              <a:avLst>
                <a:gd name="adj" fmla="val 21667"/>
              </a:avLst>
            </a:prstGeom>
            <a:solidFill>
              <a:srgbClr val="CEFF3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21670" y="3862864"/>
              <a:ext cx="7879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80" b="1" dirty="0">
                  <a:solidFill>
                    <a:srgbClr val="23262C"/>
                  </a:solidFill>
                  <a:latin typeface="Pretendard SemiBold"/>
                  <a:ea typeface="Pretendard SemiBold"/>
                  <a:cs typeface="Pretendard SemiBold"/>
                </a:rPr>
                <a:t>성찰 기록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2286000" y="3943350"/>
              <a:ext cx="7600950" cy="9525"/>
              <a:chOff x="2286000" y="3943350"/>
              <a:chExt cx="7600950" cy="95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2286000" y="3943350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23812">
                <a:solidFill>
                  <a:srgbClr val="FE7BB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133850" y="3943350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23812">
                <a:solidFill>
                  <a:srgbClr val="FE7BB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981700" y="3943350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23812">
                <a:solidFill>
                  <a:srgbClr val="FE7BB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29550" y="3943350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23812">
                <a:solidFill>
                  <a:srgbClr val="FE7BB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677400" y="3943350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23812">
                <a:solidFill>
                  <a:srgbClr val="FE7BBF"/>
                </a:solidFill>
              </a:ln>
            </p:spPr>
          </p:sp>
        </p:grpSp>
      </p:grpSp>
      <p:grpSp>
        <p:nvGrpSpPr>
          <p:cNvPr id="35" name="Group 35"/>
          <p:cNvGrpSpPr/>
          <p:nvPr/>
        </p:nvGrpSpPr>
        <p:grpSpPr>
          <a:xfrm>
            <a:off x="685800" y="4610100"/>
            <a:ext cx="10820400" cy="1219200"/>
            <a:chOff x="685800" y="4610100"/>
            <a:chExt cx="10820400" cy="1219200"/>
          </a:xfrm>
        </p:grpSpPr>
        <p:sp>
          <p:nvSpPr>
            <p:cNvPr id="32" name="Rectangle 32"/>
            <p:cNvSpPr/>
            <p:nvPr/>
          </p:nvSpPr>
          <p:spPr>
            <a:xfrm>
              <a:off x="685800" y="4610100"/>
              <a:ext cx="10820400" cy="12192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19050">
              <a:solidFill>
                <a:srgbClr val="EC2B7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1837" y="4919186"/>
              <a:ext cx="490632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23262C"/>
                  </a:solidFill>
                  <a:latin typeface="Pretendard SemiBold"/>
                  <a:ea typeface="Pretendard SemiBold"/>
                  <a:cs typeface="Pretendard SemiBold"/>
                </a:rPr>
                <a:t>자동화는 학생 생각을 대신하는 것이 아니라,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1837" y="5281136"/>
              <a:ext cx="546713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EC2B7A"/>
                  </a:solidFill>
                  <a:latin typeface="Pretendard SemiBold"/>
                  <a:ea typeface="Pretendard SemiBold"/>
                  <a:cs typeface="Pretendard SemiBold"/>
                </a:rPr>
                <a:t>학생 생각이 남고 수정되도록 돕는 구조여야 한다.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36" name="Line 36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41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7123694" cy="894969"/>
            <a:chOff x="669036" y="499110"/>
            <a:chExt cx="7123694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289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7 · 수업 설계 관점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71236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기록이 쌓이면 교사는 무엇을 보나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85800" y="1676400"/>
            <a:ext cx="10820400" cy="1866900"/>
            <a:chOff x="685800" y="1676400"/>
            <a:chExt cx="10820400" cy="18669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1866900"/>
            </a:xfrm>
            <a:prstGeom prst="roundRect">
              <a:avLst>
                <a:gd name="adj" fmla="val 10204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82980" y="1971675"/>
              <a:ext cx="8462963" cy="1055370"/>
              <a:chOff x="982980" y="1971675"/>
              <a:chExt cx="8462963" cy="1055370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982980" y="1971675"/>
                <a:ext cx="176231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누가 제출했는가?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82980" y="2352675"/>
                <a:ext cx="248926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어떤 학생이 짧게 썼는가?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82980" y="2733675"/>
                <a:ext cx="289312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어떤 개념에서 오해가 많은가?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088380" y="1971675"/>
                <a:ext cx="309505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어떤 학생이 꾸준히 수정하는가?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088380" y="2352675"/>
                <a:ext cx="32969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어떤 반에서 어려움이 반복되는가?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088380" y="2733675"/>
                <a:ext cx="33575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다음 수업에서 무엇을 다시 다룰까?</a:t>
                </a: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984123" y="3177064"/>
              <a:ext cx="32827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하나의 기록장이 수업 개선의 근거가 된다.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5800" y="3619500"/>
            <a:ext cx="10744200" cy="1485900"/>
            <a:chOff x="685800" y="3619500"/>
            <a:chExt cx="10744200" cy="1485900"/>
          </a:xfrm>
        </p:grpSpPr>
        <p:sp>
          <p:nvSpPr>
            <p:cNvPr id="16" name="Rectangle 16"/>
            <p:cNvSpPr/>
            <p:nvPr/>
          </p:nvSpPr>
          <p:spPr>
            <a:xfrm>
              <a:off x="685800" y="3771900"/>
              <a:ext cx="2286000" cy="533400"/>
            </a:xfrm>
            <a:prstGeom prst="roundRect">
              <a:avLst>
                <a:gd name="adj" fmla="val 23214"/>
              </a:avLst>
            </a:prstGeom>
            <a:solidFill>
              <a:srgbClr val="FFFFFF"/>
            </a:solidFill>
            <a:ln w="14288">
              <a:solidFill>
                <a:srgbClr val="23262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53296" y="3958114"/>
              <a:ext cx="75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8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학생 입력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429000" y="3771900"/>
              <a:ext cx="2667000" cy="533400"/>
            </a:xfrm>
            <a:prstGeom prst="roundRect">
              <a:avLst>
                <a:gd name="adj" fmla="val 23214"/>
              </a:avLst>
            </a:prstGeom>
            <a:solidFill>
              <a:srgbClr val="CEFF3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99722" y="3958114"/>
              <a:ext cx="1525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80" b="1" dirty="0">
                  <a:solidFill>
                    <a:srgbClr val="23262C"/>
                  </a:solidFill>
                  <a:latin typeface="Pretendard SemiBold"/>
                  <a:ea typeface="Pretendard SemiBold"/>
                  <a:cs typeface="Pretendard SemiBold"/>
                </a:rPr>
                <a:t>Spreadsheet 저장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6705600" y="3619500"/>
              <a:ext cx="4724400" cy="1485900"/>
              <a:chOff x="6705600" y="3619500"/>
              <a:chExt cx="4724400" cy="14859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705600" y="3619500"/>
                <a:ext cx="2286000" cy="4191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4288">
                <a:solidFill>
                  <a:srgbClr val="E9D9C4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889623" y="3748564"/>
                <a:ext cx="7510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교사 확인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9144000" y="3619500"/>
                <a:ext cx="2286000" cy="4191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4288">
                <a:solidFill>
                  <a:srgbClr val="E9D9C4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328023" y="3748564"/>
                <a:ext cx="92264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자동 피드백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6705600" y="4152900"/>
                <a:ext cx="2286000" cy="4191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4288">
                <a:solidFill>
                  <a:srgbClr val="E9D9C4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889623" y="4281964"/>
                <a:ext cx="7510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학급 통계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9144000" y="4152900"/>
                <a:ext cx="2286000" cy="4191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4288">
                <a:solidFill>
                  <a:srgbClr val="E9D9C4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328023" y="4281964"/>
                <a:ext cx="11457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개별 성장 기록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6705600" y="4686300"/>
                <a:ext cx="2286000" cy="4191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4288">
                <a:solidFill>
                  <a:srgbClr val="E9D9C4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889623" y="4815364"/>
                <a:ext cx="109428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수행평가 근거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9144000" y="4686300"/>
                <a:ext cx="2286000" cy="4191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4288">
                <a:solidFill>
                  <a:srgbClr val="E9D9C4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328023" y="4815364"/>
                <a:ext cx="7655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AI 피드백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2971800" y="3829050"/>
              <a:ext cx="3733800" cy="1076325"/>
              <a:chOff x="2971800" y="3829050"/>
              <a:chExt cx="3733800" cy="10763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2971800" y="4038600"/>
                <a:ext cx="438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9525">
                    <a:moveTo>
                      <a:pt x="0" y="0"/>
                    </a:moveTo>
                    <a:lnTo>
                      <a:pt x="438150" y="0"/>
                    </a:lnTo>
                  </a:path>
                </a:pathLst>
              </a:custGeom>
              <a:noFill/>
              <a:ln w="23812">
                <a:solidFill>
                  <a:srgbClr val="FE7BB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314700" y="39909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FE7BBF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96000" y="40386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23812">
                <a:solidFill>
                  <a:srgbClr val="FE7BB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324600" y="3829050"/>
                <a:ext cx="9525" cy="876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6300">
                    <a:moveTo>
                      <a:pt x="0" y="0"/>
                    </a:moveTo>
                    <a:lnTo>
                      <a:pt x="0" y="876300"/>
                    </a:lnTo>
                  </a:path>
                </a:pathLst>
              </a:custGeom>
              <a:noFill/>
              <a:ln w="23812">
                <a:solidFill>
                  <a:srgbClr val="FE7BB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324600" y="38290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23812">
                <a:solidFill>
                  <a:srgbClr val="FE7BB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324600" y="43624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23812">
                <a:solidFill>
                  <a:srgbClr val="FE7BB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324600" y="48958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23812">
                <a:solidFill>
                  <a:srgbClr val="FE7BBF"/>
                </a:solidFill>
              </a:ln>
            </p:spPr>
          </p:sp>
        </p:grpSp>
      </p:grpSp>
      <p:grpSp>
        <p:nvGrpSpPr>
          <p:cNvPr id="45" name="Group 45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42" name="Line 42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42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14373" y="27527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FBEAD6"/>
                </a:solidFill>
                <a:latin typeface="Pretendard ExtraBold"/>
                <a:ea typeface="Pretendard ExtraBold"/>
                <a:cs typeface="Pretendard ExtraBold"/>
              </a:rPr>
              <a:t>8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632651"/>
            <a:chOff x="678942" y="1428750"/>
            <a:chExt cx="788693" cy="6326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609600" cy="76200"/>
            </a:xfrm>
            <a:prstGeom prst="rect">
              <a:avLst/>
            </a:prstGeom>
            <a:solidFill>
              <a:srgbClr val="EC2B7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973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8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540318"/>
            <a:ext cx="2497607" cy="1533525"/>
            <a:chOff x="647700" y="2540318"/>
            <a:chExt cx="2497607" cy="1533525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540318"/>
              <a:ext cx="188273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3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보안과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22611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3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개인정보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307205"/>
            <a:ext cx="8431720" cy="410718"/>
            <a:chOff x="675132" y="4307205"/>
            <a:chExt cx="8431720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307205"/>
              <a:ext cx="84317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23262C"/>
                  </a:solidFill>
                  <a:latin typeface="Pretendard"/>
                  <a:ea typeface="Pretendard"/>
                  <a:cs typeface="Pretendard"/>
                </a:rPr>
                <a:t>수집해야 하는 정보만, 최소한으로, 설명 가능한 범위에서 받는다.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7418" y="4965382"/>
            <a:ext cx="7391248" cy="322707"/>
            <a:chOff x="677418" y="4965382"/>
            <a:chExt cx="7391248" cy="322707"/>
          </a:xfrm>
        </p:grpSpPr>
        <p:sp>
          <p:nvSpPr>
            <p:cNvPr id="11" name="TextBox 11"/>
            <p:cNvSpPr txBox="1"/>
            <p:nvPr/>
          </p:nvSpPr>
          <p:spPr>
            <a:xfrm>
              <a:off x="677418" y="4965382"/>
              <a:ext cx="73912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민감정보는 수집하지 않는다. 교사용 기록장은 학생에게 공개하지 않는다.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4185007" cy="894969"/>
            <a:chOff x="669036" y="499110"/>
            <a:chExt cx="4185007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24146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8 · 보안과 개인정보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41850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반드시 지켜야 할 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85800" y="1676400"/>
            <a:ext cx="10820400" cy="2362200"/>
            <a:chOff x="685800" y="1676400"/>
            <a:chExt cx="10820400" cy="23622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236220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9050">
              <a:solidFill>
                <a:srgbClr val="C2410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5266" y="1944052"/>
              <a:ext cx="8961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C2410C"/>
                  </a:solidFill>
                  <a:latin typeface="Pretendard ExtraBold"/>
                  <a:ea typeface="Pretendard ExtraBold"/>
                  <a:cs typeface="Pretendard ExtraBold"/>
                </a:rPr>
                <a:t>금지 · 주의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982980" y="2276475"/>
              <a:ext cx="9148191" cy="979170"/>
              <a:chOff x="982980" y="2276475"/>
              <a:chExt cx="9148191" cy="979170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982980" y="2276475"/>
                <a:ext cx="46802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주민등록번호·주소·연락처 등 민감정보 수집 금지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82980" y="2619375"/>
                <a:ext cx="37109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상담 내용은 세부적으로 쓰게 하지 않기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82980" y="2962275"/>
                <a:ext cx="356958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이름 대신 학번 또는 닉네임 사용 가능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278880" y="2276475"/>
                <a:ext cx="28056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Spreadsheet 공유 권한 확인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278880" y="2619375"/>
                <a:ext cx="385229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교사용 기록장은 학생에게 공개하지 않기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278880" y="2962275"/>
                <a:ext cx="322611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61925" indent="-161925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API Key를 학생 화면에 넣지 않기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984123" y="3519964"/>
              <a:ext cx="35573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이 여섯 가지는 활동 설계 전에 먼저 점검한다.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0466" y="4325302"/>
            <a:ext cx="10825734" cy="818198"/>
            <a:chOff x="680466" y="4325302"/>
            <a:chExt cx="10825734" cy="818198"/>
          </a:xfrm>
        </p:grpSpPr>
        <p:sp>
          <p:nvSpPr>
            <p:cNvPr id="17" name="TextBox 17"/>
            <p:cNvSpPr txBox="1"/>
            <p:nvPr/>
          </p:nvSpPr>
          <p:spPr>
            <a:xfrm>
              <a:off x="680466" y="4325302"/>
              <a:ext cx="13001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안전한 수집 원칙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4572000"/>
              <a:ext cx="2533650" cy="571500"/>
            </a:xfrm>
            <a:prstGeom prst="roundRect">
              <a:avLst>
                <a:gd name="adj" fmla="val 23333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85614" y="4752975"/>
              <a:ext cx="934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FFF6E8"/>
                  </a:solidFill>
                  <a:latin typeface="Pretendard"/>
                  <a:ea typeface="Pretendard"/>
                  <a:cs typeface="Pretendard"/>
                </a:rPr>
                <a:t>필요한가?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48050" y="4572000"/>
              <a:ext cx="2533650" cy="571500"/>
            </a:xfrm>
            <a:prstGeom prst="roundRect">
              <a:avLst>
                <a:gd name="adj" fmla="val 23333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53551" y="4701064"/>
              <a:ext cx="9226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80" dirty="0">
                  <a:solidFill>
                    <a:srgbClr val="FFF6E8"/>
                  </a:solidFill>
                  <a:latin typeface="Pretendard"/>
                  <a:ea typeface="Pretendard"/>
                  <a:cs typeface="Pretendard"/>
                </a:rPr>
                <a:t>수업 목적과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08963" y="4891564"/>
              <a:ext cx="14118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80" dirty="0">
                  <a:solidFill>
                    <a:srgbClr val="FFF6E8"/>
                  </a:solidFill>
                  <a:latin typeface="Pretendard"/>
                  <a:ea typeface="Pretendard"/>
                  <a:cs typeface="Pretendard"/>
                </a:rPr>
                <a:t>직접 관련 있는가?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10300" y="4572000"/>
              <a:ext cx="2533650" cy="571500"/>
            </a:xfrm>
            <a:prstGeom prst="roundRect">
              <a:avLst>
                <a:gd name="adj" fmla="val 23333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43745" y="47529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FFF6E8"/>
                  </a:solidFill>
                  <a:latin typeface="Pretendard"/>
                  <a:ea typeface="Pretendard"/>
                  <a:cs typeface="Pretendard"/>
                </a:rPr>
                <a:t>학생에게 설명 가능한가?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972550" y="4572000"/>
              <a:ext cx="2533650" cy="571500"/>
            </a:xfrm>
            <a:prstGeom prst="roundRect">
              <a:avLst>
                <a:gd name="adj" fmla="val 23333"/>
              </a:avLst>
            </a:prstGeom>
            <a:solidFill>
              <a:srgbClr val="CEFF3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643381" y="4752975"/>
              <a:ext cx="11919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23262C"/>
                  </a:solidFill>
                  <a:latin typeface="Pretendard SemiBold"/>
                  <a:ea typeface="Pretendard SemiBold"/>
                  <a:cs typeface="Pretendard SemiBold"/>
                </a:rPr>
                <a:t>최소한인가?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3219450" y="4857750"/>
              <a:ext cx="5734050" cy="9525"/>
              <a:chOff x="3219450" y="4857750"/>
              <a:chExt cx="5734050" cy="95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3219450" y="4857750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23812">
                <a:solidFill>
                  <a:srgbClr val="FE7BB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981700" y="4857750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23812">
                <a:solidFill>
                  <a:srgbClr val="FE7BB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43950" y="4857750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23812">
                <a:solidFill>
                  <a:srgbClr val="FE7BBF"/>
                </a:solidFill>
              </a:ln>
            </p:spPr>
          </p:sp>
        </p:grpSp>
      </p:grpSp>
      <p:grpSp>
        <p:nvGrpSpPr>
          <p:cNvPr id="35" name="Group 35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32" name="Line 32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44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036" y="499110"/>
            <a:ext cx="7730090" cy="894969"/>
            <a:chOff x="669036" y="499110"/>
            <a:chExt cx="7730090" cy="894969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99110"/>
              <a:ext cx="15372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PART 9 · 마무리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036" y="748665"/>
              <a:ext cx="773009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오늘 배운 것은 문법이 아니라 구조다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257300"/>
              <a:ext cx="571500" cy="66675"/>
            </a:xfrm>
            <a:prstGeom prst="rect">
              <a:avLst/>
            </a:prstGeom>
            <a:solidFill>
              <a:srgbClr val="CEFF3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80466" y="1791652"/>
            <a:ext cx="10825734" cy="837248"/>
            <a:chOff x="680466" y="1791652"/>
            <a:chExt cx="10825734" cy="837248"/>
          </a:xfrm>
        </p:grpSpPr>
        <p:sp>
          <p:nvSpPr>
            <p:cNvPr id="6" name="TextBox 6"/>
            <p:cNvSpPr txBox="1"/>
            <p:nvPr/>
          </p:nvSpPr>
          <p:spPr>
            <a:xfrm>
              <a:off x="680466" y="1791652"/>
              <a:ext cx="729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핵심 구조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2057400"/>
              <a:ext cx="10820400" cy="571500"/>
            </a:xfrm>
            <a:prstGeom prst="roundRect">
              <a:avLst>
                <a:gd name="adj" fmla="val 23333"/>
              </a:avLst>
            </a:prstGeom>
            <a:solidFill>
              <a:srgbClr val="23262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980" y="2247900"/>
              <a:ext cx="89763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FFF6E8"/>
                  </a:solidFill>
                  <a:latin typeface="Pretendard"/>
                  <a:ea typeface="Pretendard"/>
                  <a:cs typeface="Pretendard"/>
                </a:rPr>
                <a:t>학생이 입력한다 → 웹앱이 받는다 → Spreadsheet가 기록한다 → 교사가 확인한다 → 수업을 개선한다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5800" y="2971800"/>
            <a:ext cx="10820400" cy="2857500"/>
            <a:chOff x="685800" y="2971800"/>
            <a:chExt cx="10820400" cy="2857500"/>
          </a:xfrm>
        </p:grpSpPr>
        <p:sp>
          <p:nvSpPr>
            <p:cNvPr id="10" name="Rectangle 10"/>
            <p:cNvSpPr/>
            <p:nvPr/>
          </p:nvSpPr>
          <p:spPr>
            <a:xfrm>
              <a:off x="685800" y="2971800"/>
              <a:ext cx="5181600" cy="2857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2218" y="3212782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6B5B52"/>
                  </a:solidFill>
                  <a:latin typeface="Pretendard ExtraBold"/>
                  <a:ea typeface="Pretendard ExtraBold"/>
                  <a:cs typeface="Pretendard ExtraBold"/>
                </a:rPr>
                <a:t>Before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982980" y="3667125"/>
              <a:ext cx="1085469" cy="1817370"/>
              <a:chOff x="982980" y="3667125"/>
              <a:chExt cx="1085469" cy="181737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982980" y="3667125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양식 만들기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2980" y="4048125"/>
                <a:ext cx="8835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응답 복사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82980" y="4429125"/>
                <a:ext cx="8835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파일 정리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82980" y="4810125"/>
                <a:ext cx="8835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제출 확인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82980" y="5191125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피드백 반복</a:t>
                </a:r>
              </a:p>
            </p:txBody>
          </p:sp>
        </p:grpSp>
        <p:sp>
          <p:nvSpPr>
            <p:cNvPr id="18" name="Rectangle 18"/>
            <p:cNvSpPr/>
            <p:nvPr/>
          </p:nvSpPr>
          <p:spPr>
            <a:xfrm>
              <a:off x="6324600" y="2971800"/>
              <a:ext cx="5181600" cy="2857500"/>
            </a:xfrm>
            <a:prstGeom prst="roundRect">
              <a:avLst>
                <a:gd name="adj" fmla="val 6667"/>
              </a:avLst>
            </a:prstGeom>
            <a:solidFill>
              <a:srgbClr val="CEFF3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21018" y="3212782"/>
              <a:ext cx="6654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After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621780" y="3667125"/>
              <a:ext cx="1684249" cy="1817370"/>
              <a:chOff x="6621780" y="3667125"/>
              <a:chExt cx="1684249" cy="18173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6621780" y="3667125"/>
                <a:ext cx="92695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활동 설계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21780" y="4048125"/>
                <a:ext cx="168424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AI에게 제작 요청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21780" y="4429125"/>
                <a:ext cx="92695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웹앱 배포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21780" y="4810125"/>
                <a:ext cx="14146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학생 기록 확인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621780" y="5191125"/>
                <a:ext cx="92695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23262C"/>
                    </a:solidFill>
                    <a:latin typeface="Pretendard SemiBold"/>
                    <a:ea typeface="Pretendard SemiBold"/>
                    <a:cs typeface="Pretendard SemiBold"/>
                  </a:rPr>
                  <a:t>수업 판단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679704" y="6362700"/>
            <a:ext cx="10832592" cy="352806"/>
            <a:chOff x="679704" y="6362700"/>
            <a:chExt cx="10832592" cy="352806"/>
          </a:xfrm>
        </p:grpSpPr>
        <p:sp>
          <p:nvSpPr>
            <p:cNvPr id="27" name="Line 27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9704" y="64808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45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8942" y="800100"/>
            <a:ext cx="646767" cy="613601"/>
            <a:chOff x="678942" y="800100"/>
            <a:chExt cx="646767" cy="613601"/>
          </a:xfrm>
        </p:grpSpPr>
        <p:sp>
          <p:nvSpPr>
            <p:cNvPr id="2" name="Rectangle 2"/>
            <p:cNvSpPr/>
            <p:nvPr/>
          </p:nvSpPr>
          <p:spPr>
            <a:xfrm>
              <a:off x="685800" y="800100"/>
              <a:ext cx="609600" cy="76200"/>
            </a:xfrm>
            <a:prstGeom prst="rect">
              <a:avLst/>
            </a:prstGeom>
            <a:solidFill>
              <a:srgbClr val="EC2B7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1149668"/>
              <a:ext cx="6467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spc="225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마무리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28650" y="1600200"/>
            <a:ext cx="7115213" cy="2335339"/>
            <a:chOff x="628650" y="1600200"/>
            <a:chExt cx="7115213" cy="2335339"/>
          </a:xfrm>
        </p:grpSpPr>
        <p:sp>
          <p:nvSpPr>
            <p:cNvPr id="5" name="Rectangle 5"/>
            <p:cNvSpPr/>
            <p:nvPr/>
          </p:nvSpPr>
          <p:spPr>
            <a:xfrm>
              <a:off x="628650" y="1600200"/>
              <a:ext cx="6858000" cy="838200"/>
            </a:xfrm>
            <a:prstGeom prst="roundRect">
              <a:avLst>
                <a:gd name="adj" fmla="val 11364"/>
              </a:avLst>
            </a:prstGeom>
            <a:solidFill>
              <a:srgbClr val="CEFF3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0" y="1769745"/>
              <a:ext cx="406236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9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선생님은 코드를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6750" y="2474595"/>
              <a:ext cx="508221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900" b="1" dirty="0">
                  <a:solidFill>
                    <a:srgbClr val="23262C"/>
                  </a:solidFill>
                  <a:latin typeface="Pretendard ExtraBold"/>
                  <a:ea typeface="Pretendard ExtraBold"/>
                  <a:cs typeface="Pretendard ExtraBold"/>
                </a:rPr>
                <a:t>쓰지 않아도 됩니다.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7418" y="3308032"/>
              <a:ext cx="53100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코드는 생성형 AI가, 기록은 Google Spreadsheet가,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7418" y="3612832"/>
              <a:ext cx="70664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6B5B52"/>
                  </a:solidFill>
                  <a:latin typeface="Pretendard"/>
                  <a:ea typeface="Pretendard"/>
                  <a:cs typeface="Pretendard"/>
                </a:rPr>
                <a:t>참여는 Interactive HTML 웹앱이 맡는다. 선생님은 활동을 설계한다.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4191000"/>
            <a:ext cx="10820400" cy="1676400"/>
            <a:chOff x="685800" y="4191000"/>
            <a:chExt cx="10820400" cy="1676400"/>
          </a:xfrm>
        </p:grpSpPr>
        <p:sp>
          <p:nvSpPr>
            <p:cNvPr id="11" name="Rectangle 11"/>
            <p:cNvSpPr/>
            <p:nvPr/>
          </p:nvSpPr>
          <p:spPr>
            <a:xfrm>
              <a:off x="685800" y="4191000"/>
              <a:ext cx="10820400" cy="16764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4288">
              <a:solidFill>
                <a:srgbClr val="E9D9C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5266" y="4439602"/>
              <a:ext cx="1468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50" dirty="0">
                  <a:solidFill>
                    <a:srgbClr val="EC2B7A"/>
                  </a:solidFill>
                  <a:latin typeface="Pretendard ExtraBold"/>
                  <a:ea typeface="Pretendard ExtraBold"/>
                  <a:cs typeface="Pretendard ExtraBold"/>
                </a:rPr>
                <a:t>오늘 가져갈 산출물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983742" y="4788218"/>
              <a:ext cx="9028824" cy="873633"/>
              <a:chOff x="983742" y="4788218"/>
              <a:chExt cx="9028824" cy="873633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983742" y="4788218"/>
                <a:ext cx="27401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45732" indent="-145732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35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내 교과 학생기록 웹앱 아이디어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83742" y="5093018"/>
                <a:ext cx="17769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45732" indent="-145732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35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학생 입력 항목 목록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83742" y="5397818"/>
                <a:ext cx="234238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45732" indent="-145732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35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Spreadsheet 열 이름 목록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565142" y="4788218"/>
                <a:ext cx="22237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45732" indent="-145732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35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생성형 AI 요청 프롬프트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565142" y="5093018"/>
                <a:ext cx="16998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45732" indent="-145732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35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AI가 만든 Code.gs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565142" y="5397818"/>
                <a:ext cx="19312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45732" indent="-145732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35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AI가 만든 index.html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108442" y="4788218"/>
                <a:ext cx="12372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45732" indent="-145732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en-US" sz="135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Web App URL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08442" y="5093018"/>
                <a:ext cx="190412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45732" indent="-145732" algn="l">
                  <a:buClr>
                    <a:srgbClr val="23262C"/>
                  </a:buClr>
                  <a:buSzTx/>
                  <a:buFontTx/>
                  <a:buChar char="•"/>
                </a:pPr>
                <a:r>
                  <a:rPr lang="ko-KR" sz="135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테스트 응답이 저장된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08442" y="5397818"/>
                <a:ext cx="11188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23262C"/>
                    </a:solidFill>
                    <a:latin typeface="Pretendard"/>
                    <a:ea typeface="Pretendard"/>
                    <a:cs typeface="Pretendard"/>
                  </a:rPr>
                  <a:t>Spreadsheet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679704" y="6305550"/>
            <a:ext cx="10832592" cy="409956"/>
            <a:chOff x="679704" y="6305550"/>
            <a:chExt cx="10832592" cy="409956"/>
          </a:xfrm>
        </p:grpSpPr>
        <p:sp>
          <p:nvSpPr>
            <p:cNvPr id="24" name="Line 24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D9C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9704" y="6480810"/>
              <a:ext cx="6480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코딩 없이 만드는 학생기록 웹앱 · Interactive HTML × Google Spreadsheet × 생성형 AI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A99C90"/>
                  </a:solidFill>
                  <a:latin typeface="Pretendard"/>
                  <a:ea typeface="Pretendard"/>
                  <a:cs typeface="Pretendard"/>
                </a:rPr>
                <a:t>46 / 46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2643</Words>
  <Application>Microsoft Office PowerPoint</Application>
  <PresentationFormat>와이드스크린</PresentationFormat>
  <Paragraphs>680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3" baseType="lpstr">
      <vt:lpstr>Pretendard</vt:lpstr>
      <vt:lpstr>Pretendard ExtraBold</vt:lpstr>
      <vt:lpstr>Pretendard SemiBold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3</cp:revision>
  <dcterms:created xsi:type="dcterms:W3CDTF">2026-09-07T01:05:34Z</dcterms:created>
  <dcterms:modified xsi:type="dcterms:W3CDTF">2026-09-07T01:12:30Z</dcterms:modified>
  <cp:category/>
  <cp:contentStatus/>
  <dc:language/>
</cp:coreProperties>
</file>