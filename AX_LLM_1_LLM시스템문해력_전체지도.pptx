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914400"/>
            <a:ext cx="4042966" cy="632651"/>
            <a:chOff x="678942" y="914400"/>
            <a:chExt cx="4042966" cy="632651"/>
          </a:xfrm>
        </p:grpSpPr>
        <p:sp>
          <p:nvSpPr>
            <p:cNvPr id="2" name="Rectangle 2"/>
            <p:cNvSpPr/>
            <p:nvPr/>
          </p:nvSpPr>
          <p:spPr>
            <a:xfrm>
              <a:off x="685800" y="9144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283018"/>
              <a:ext cx="4042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AIEDAP 전문성 강화 영어교과 심화 연수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177415"/>
            <a:ext cx="7988854" cy="2171700"/>
            <a:chOff x="647700" y="2177415"/>
            <a:chExt cx="7988854" cy="2171700"/>
          </a:xfrm>
        </p:grpSpPr>
        <p:sp>
          <p:nvSpPr>
            <p:cNvPr id="5" name="TextBox 5"/>
            <p:cNvSpPr txBox="1"/>
            <p:nvPr/>
          </p:nvSpPr>
          <p:spPr>
            <a:xfrm>
              <a:off x="647700" y="2177415"/>
              <a:ext cx="7283166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AX 실무자를 위한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7700" y="3129915"/>
              <a:ext cx="7988854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LLM </a:t>
              </a:r>
              <a:r>
                <a:rPr lang="ko-KR" sz="63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시스템</a:t>
              </a:r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 문해력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3608" y="4236720"/>
            <a:ext cx="9119108" cy="469392"/>
            <a:chOff x="673608" y="4236720"/>
            <a:chExt cx="9119108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673608" y="4236720"/>
              <a:ext cx="91191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4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학습·추론에서 RAG · LangChain · LangGraph · Agent까지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656" y="4911090"/>
            <a:ext cx="7390638" cy="694944"/>
            <a:chOff x="676656" y="4911090"/>
            <a:chExt cx="7390638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911090"/>
              <a:ext cx="739063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원리를 알면 프롬프트·RAG·파인튜닝은 물론이고,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LangChain·LangGraph·Agent·MCP까지 언제 쓸지 스스로 고를 수 있다.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6019800"/>
            <a:ext cx="10834116" cy="499301"/>
            <a:chOff x="678942" y="6019800"/>
            <a:chExt cx="10834116" cy="499301"/>
          </a:xfrm>
        </p:grpSpPr>
        <p:sp>
          <p:nvSpPr>
            <p:cNvPr id="12" name="Line 12"/>
            <p:cNvSpPr/>
            <p:nvPr/>
          </p:nvSpPr>
          <p:spPr>
            <a:xfrm>
              <a:off x="685800" y="601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6255068"/>
              <a:ext cx="3603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블랙박스가 아니라, 원리로 이해되는 시스템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99521" y="6255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708660"/>
            <a:ext cx="9037015" cy="1086041"/>
            <a:chOff x="669798" y="708660"/>
            <a:chExt cx="9037015" cy="1086041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708660"/>
              <a:ext cx="8223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강의 지도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993458"/>
              <a:ext cx="5709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이 강의가 다루는 7개의 챕터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1530668"/>
              <a:ext cx="90278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학습·추론·검색·도구사용·오케스트레이션의 원리로 훑고 나면, 어떤 기술을 언제 쓸지 스스로 판단할 수 있다.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5132" y="1866900"/>
            <a:ext cx="10837926" cy="708851"/>
            <a:chOff x="675132" y="1866900"/>
            <a:chExt cx="10837926" cy="708851"/>
          </a:xfrm>
        </p:grpSpPr>
        <p:sp>
          <p:nvSpPr>
            <p:cNvPr id="6" name="Line 6"/>
            <p:cNvSpPr/>
            <p:nvPr/>
          </p:nvSpPr>
          <p:spPr>
            <a:xfrm>
              <a:off x="685800" y="186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5132" y="20021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2832" y="2002155"/>
              <a:ext cx="36595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LLM의 원리 — 학습과 추론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81481" y="208311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섹션 0–2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2311718"/>
              <a:ext cx="607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코퍼스에서 다음 토큰 예측까지, 그리고 자기회귀·Attention·디코딩 제어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5132" y="2647950"/>
            <a:ext cx="10837926" cy="708851"/>
            <a:chOff x="675132" y="2647950"/>
            <a:chExt cx="10837926" cy="708851"/>
          </a:xfrm>
        </p:grpSpPr>
        <p:sp>
          <p:nvSpPr>
            <p:cNvPr id="12" name="Line 12"/>
            <p:cNvSpPr/>
            <p:nvPr/>
          </p:nvSpPr>
          <p:spPr>
            <a:xfrm>
              <a:off x="685800" y="264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5132" y="2783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2832" y="2783205"/>
              <a:ext cx="64509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무엇을 언제 쓰는가 — 프롬프트·RAG·파인튜닝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781481" y="28641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섹션 3–4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6642" y="3092768"/>
              <a:ext cx="5812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세 개입 지점의 비교와 판단 순서, 그리고 RAG가 내부에서 도는 방식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5132" y="3429000"/>
            <a:ext cx="10837926" cy="708851"/>
            <a:chOff x="675132" y="3429000"/>
            <a:chExt cx="10837926" cy="708851"/>
          </a:xfrm>
        </p:grpSpPr>
        <p:sp>
          <p:nvSpPr>
            <p:cNvPr id="18" name="Line 18"/>
            <p:cNvSpPr/>
            <p:nvPr/>
          </p:nvSpPr>
          <p:spPr>
            <a:xfrm>
              <a:off x="685800" y="3429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" y="35642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2832" y="3564255"/>
              <a:ext cx="71887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복잡한 작업을 잇는 법 — Chain·Workflow·LangChain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81481" y="364521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섹션 5–6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6642" y="3873818"/>
              <a:ext cx="49131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Chain·Pipeline·Workflow·State와 LangChain의 구성 요소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5132" y="4210050"/>
            <a:ext cx="10837926" cy="708851"/>
            <a:chOff x="675132" y="4210050"/>
            <a:chExt cx="10837926" cy="708851"/>
          </a:xfrm>
        </p:grpSpPr>
        <p:sp>
          <p:nvSpPr>
            <p:cNvPr id="24" name="Line 24"/>
            <p:cNvSpPr/>
            <p:nvPr/>
          </p:nvSpPr>
          <p:spPr>
            <a:xfrm>
              <a:off x="685800" y="4210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132" y="43453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2832" y="4345305"/>
              <a:ext cx="64104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스스로 판단하는 시스템 — AI Agent·LangGraph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81481" y="4426268"/>
              <a:ext cx="7315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섹션 7–8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6642" y="4654868"/>
              <a:ext cx="4971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Loop·ReAct·Reflection과 Node·Edge·State 그래프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5132" y="4991100"/>
            <a:ext cx="10837926" cy="708851"/>
            <a:chOff x="675132" y="4991100"/>
            <a:chExt cx="10837926" cy="708851"/>
          </a:xfrm>
        </p:grpSpPr>
        <p:sp>
          <p:nvSpPr>
            <p:cNvPr id="30" name="Line 30"/>
            <p:cNvSpPr/>
            <p:nvPr/>
          </p:nvSpPr>
          <p:spPr>
            <a:xfrm>
              <a:off x="685800" y="4991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132" y="51263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2832" y="5126355"/>
              <a:ext cx="7710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바깥 세계와 잇고 기억하기 — MCP·Memory·Multi-Agent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81526" y="5207318"/>
              <a:ext cx="8315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섹션 9–11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26642" y="5435918"/>
              <a:ext cx="5445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표준화된 연결, 단기·장기 기억, Context Engineering, 역할 분담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5132" y="5772150"/>
            <a:ext cx="10837926" cy="545973"/>
            <a:chOff x="675132" y="5772150"/>
            <a:chExt cx="10837926" cy="545973"/>
          </a:xfrm>
        </p:grpSpPr>
        <p:sp>
          <p:nvSpPr>
            <p:cNvPr id="36" name="Line 36"/>
            <p:cNvSpPr/>
            <p:nvPr/>
          </p:nvSpPr>
          <p:spPr>
            <a:xfrm>
              <a:off x="685800" y="5772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132" y="59074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2832" y="5907405"/>
              <a:ext cx="75252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잘 작동하는가 — Evaluation·Observability·Guardrails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81570" y="598836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섹션 12–13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5132" y="6343650"/>
            <a:ext cx="10837926" cy="507873"/>
            <a:chOff x="675132" y="6343650"/>
            <a:chExt cx="10837926" cy="507873"/>
          </a:xfrm>
        </p:grpSpPr>
        <p:sp>
          <p:nvSpPr>
            <p:cNvPr id="41" name="Line 41"/>
            <p:cNvSpPr/>
            <p:nvPr/>
          </p:nvSpPr>
          <p:spPr>
            <a:xfrm>
              <a:off x="685800" y="6343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5132" y="6440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22832" y="6440805"/>
              <a:ext cx="61342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전체 지도 — LLM에서 Agentic AI System까지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881436" y="6521768"/>
              <a:ext cx="631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ko-KR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섹션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3499333" cy="1562100"/>
            <a:chOff x="647700" y="2409825"/>
            <a:chExt cx="3499333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349933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LLM의 원리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340932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학습과 추론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6662166" cy="810768"/>
            <a:chOff x="675132" y="4211955"/>
            <a:chExt cx="666216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666216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「환각」·「컨텍스트 한계」·「최신 정보 부재」는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버그가 아니라, 학습과 추론의 구조에서 나오는 결과다.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6623914" cy="694944"/>
            <a:chOff x="676656" y="5292090"/>
            <a:chExt cx="6623914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54340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우리가 매일 만지는 것은 학습이 아니라 추론이다.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66239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이 구분이 되면 프롬프트·RAG·파인튜닝의 자리도 보인다.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967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0-1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7240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LLM 문해력은 네 가지 판단 능력이다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315581" cy="791718"/>
            <a:chOff x="675132" y="1640205"/>
            <a:chExt cx="7315581" cy="791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315581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AX는 도구를 도입하는 것이 아니라 일하는 방식을 바꾸는 것 —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도구 사용법이 아니라 원리에 기반한 판단이 필요하다.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5132" y="2724150"/>
            <a:ext cx="10831068" cy="843534"/>
            <a:chOff x="675132" y="2724150"/>
            <a:chExt cx="10831068" cy="843534"/>
          </a:xfrm>
        </p:grpSpPr>
        <p:sp>
          <p:nvSpPr>
            <p:cNvPr id="8" name="Line 8"/>
            <p:cNvSpPr/>
            <p:nvPr/>
          </p:nvSpPr>
          <p:spPr>
            <a:xfrm>
              <a:off x="685800" y="2724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132" y="28594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28594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예측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9606" y="3215640"/>
              <a:ext cx="3701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무엇을 잘하고 못하는지 미리 안다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5132" y="3638550"/>
            <a:ext cx="10831068" cy="843534"/>
            <a:chOff x="675132" y="3638550"/>
            <a:chExt cx="10831068" cy="843534"/>
          </a:xfrm>
        </p:grpSpPr>
        <p:sp>
          <p:nvSpPr>
            <p:cNvPr id="13" name="Line 13"/>
            <p:cNvSpPr/>
            <p:nvPr/>
          </p:nvSpPr>
          <p:spPr>
            <a:xfrm>
              <a:off x="685800" y="3638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132" y="3773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8082" y="37738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진단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19606" y="4130040"/>
              <a:ext cx="2901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실패했을 때 원인을 짚는다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5132" y="4552950"/>
            <a:ext cx="10831068" cy="843534"/>
            <a:chOff x="675132" y="4552950"/>
            <a:chExt cx="10831068" cy="843534"/>
          </a:xfrm>
        </p:grpSpPr>
        <p:sp>
          <p:nvSpPr>
            <p:cNvPr id="18" name="Line 18"/>
            <p:cNvSpPr/>
            <p:nvPr/>
          </p:nvSpPr>
          <p:spPr>
            <a:xfrm>
              <a:off x="685800" y="4552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" y="46882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8082" y="46882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선택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19606" y="5044440"/>
              <a:ext cx="5113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프롬프트 / RAG / 파인튜닝 / Agent 중 고른다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5132" y="5467350"/>
            <a:ext cx="10831068" cy="843534"/>
            <a:chOff x="675132" y="5467350"/>
            <a:chExt cx="10831068" cy="843534"/>
          </a:xfrm>
        </p:grpSpPr>
        <p:sp>
          <p:nvSpPr>
            <p:cNvPr id="23" name="Line 23"/>
            <p:cNvSpPr/>
            <p:nvPr/>
          </p:nvSpPr>
          <p:spPr>
            <a:xfrm>
              <a:off x="685800" y="5467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132" y="56026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8082" y="56026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트레이드오프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19606" y="5958840"/>
              <a:ext cx="4440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비용·지연·보안·통제를 함께 저울질한다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8" name="Line 2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04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967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0-2 · 도입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904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우리가 매일 만지는 것은 「추론」이다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128891" cy="791718"/>
            <a:chOff x="675132" y="1640205"/>
            <a:chExt cx="7128891" cy="791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128891" cy="791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학습은 파라미터를 만드는 느리고 비싼 과정,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추론은 그 파라미터로 토큰을 생성하는 매 요청의 과정이다.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5800" y="2609850"/>
            <a:ext cx="10820400" cy="3248025"/>
            <a:chOff x="685800" y="2609850"/>
            <a:chExt cx="10820400" cy="3248025"/>
          </a:xfrm>
        </p:grpSpPr>
        <p:sp>
          <p:nvSpPr>
            <p:cNvPr id="8" name="Rectangle 8"/>
            <p:cNvSpPr/>
            <p:nvPr/>
          </p:nvSpPr>
          <p:spPr>
            <a:xfrm>
              <a:off x="685800" y="2609850"/>
              <a:ext cx="10820400" cy="5143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7156" y="27393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72156" y="2739390"/>
              <a:ext cx="1875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학습 (training)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29856" y="2739390"/>
              <a:ext cx="2079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추론 (inference)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048500" y="26098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85800" y="3124200"/>
              <a:ext cx="10820400" cy="614934"/>
              <a:chOff x="685800" y="3124200"/>
              <a:chExt cx="10820400" cy="614934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685800" y="31242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69442" y="34356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무엇을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772156" y="3387090"/>
                <a:ext cx="38711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대규모 코퍼스로 파라미터를 만든다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229856" y="3387090"/>
                <a:ext cx="41134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만들어진 파라미터로 토큰을 생성한다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5800" y="3810000"/>
              <a:ext cx="10820400" cy="614934"/>
              <a:chOff x="685800" y="3810000"/>
              <a:chExt cx="10820400" cy="614934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685800" y="38100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69442" y="41214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언제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72156" y="4072890"/>
                <a:ext cx="262318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느리고 비쌈 · 가끔 한다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229856" y="4072890"/>
                <a:ext cx="23445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매 요청마다 일어난다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85800" y="4495800"/>
              <a:ext cx="10820400" cy="614934"/>
              <a:chOff x="685800" y="4495800"/>
              <a:chExt cx="10820400" cy="614934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685800" y="44958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69442" y="4807268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개입 수단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772156" y="47586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C2410C"/>
                    </a:solidFill>
                    <a:latin typeface="Pretendard SemiBold"/>
                    <a:ea typeface="Pretendard SemiBold"/>
                    <a:cs typeface="Pretendard SemiBold"/>
                  </a:rPr>
                  <a:t>파인튜닝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229856" y="4758690"/>
                <a:ext cx="34706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프롬프트 · RAG · Tool Calling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85800" y="5181600"/>
              <a:ext cx="10820400" cy="614934"/>
              <a:chOff x="685800" y="5181600"/>
              <a:chExt cx="10820400" cy="614934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685800" y="5181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69442" y="54930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비유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772156" y="5444490"/>
                <a:ext cx="24172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학교에 다시 다니는 것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229856" y="5444490"/>
                <a:ext cx="29745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그 자리에서 시험을 보는 것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685800" y="5848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78942" y="6083618"/>
            <a:ext cx="8789899" cy="264033"/>
            <a:chOff x="678942" y="6083618"/>
            <a:chExt cx="8789899" cy="264033"/>
          </a:xfrm>
        </p:grpSpPr>
        <p:sp>
          <p:nvSpPr>
            <p:cNvPr id="35" name="TextBox 35"/>
            <p:cNvSpPr txBox="1"/>
            <p:nvPr/>
          </p:nvSpPr>
          <p:spPr>
            <a:xfrm>
              <a:off x="678942" y="6083618"/>
              <a:ext cx="87898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이 구분이 안 되면 「프롬프트로 지식을 넣는다」, 「Agent가 모델을 다시 학습한다」 같은 오해가 생긴다.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7" name="Line 37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05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971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1-1 · LLM은 어떻게 학습하는가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1969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코퍼스에서 시작하는 학습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7230237" cy="410718"/>
            <a:chOff x="675132" y="1678305"/>
            <a:chExt cx="723023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7230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학습의 목표는 단 하나 — 「다음에 올 토큰을 맞히기」다.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8274" y="2552700"/>
            <a:ext cx="2322576" cy="2005584"/>
            <a:chOff x="668274" y="2552700"/>
            <a:chExt cx="2322576" cy="2005584"/>
          </a:xfrm>
        </p:grpSpPr>
        <p:sp>
          <p:nvSpPr>
            <p:cNvPr id="8" name="Line 8"/>
            <p:cNvSpPr/>
            <p:nvPr/>
          </p:nvSpPr>
          <p:spPr>
            <a:xfrm>
              <a:off x="685800" y="25527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8274" y="2770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132" y="3449955"/>
              <a:ext cx="15945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코퍼스 수집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3882390"/>
              <a:ext cx="206425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웹·책·코드·위키 등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수조 단위 토큰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60395" y="3490912"/>
            <a:ext cx="189452" cy="440055"/>
            <a:chOff x="3160395" y="3490912"/>
            <a:chExt cx="189452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3160395" y="34909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30524" y="2552700"/>
            <a:ext cx="2541270" cy="2329434"/>
            <a:chOff x="3430524" y="2552700"/>
            <a:chExt cx="2541270" cy="2329434"/>
          </a:xfrm>
        </p:grpSpPr>
        <p:sp>
          <p:nvSpPr>
            <p:cNvPr id="15" name="Line 15"/>
            <p:cNvSpPr/>
            <p:nvPr/>
          </p:nvSpPr>
          <p:spPr>
            <a:xfrm>
              <a:off x="3448050" y="25527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30524" y="2770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37382" y="3449955"/>
              <a:ext cx="16687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전처리·정제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38906" y="3882390"/>
              <a:ext cx="2532888" cy="999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중복 제거 · 유해·저품질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필터링 · 개인정보 제거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도메인 균형 조정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22645" y="3490912"/>
            <a:ext cx="189452" cy="440055"/>
            <a:chOff x="5922645" y="3490912"/>
            <a:chExt cx="189452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5922645" y="34909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92774" y="2552700"/>
            <a:ext cx="2322576" cy="2005584"/>
            <a:chOff x="6192774" y="2552700"/>
            <a:chExt cx="2322576" cy="2005584"/>
          </a:xfrm>
        </p:grpSpPr>
        <p:sp>
          <p:nvSpPr>
            <p:cNvPr id="22" name="Line 22"/>
            <p:cNvSpPr/>
            <p:nvPr/>
          </p:nvSpPr>
          <p:spPr>
            <a:xfrm>
              <a:off x="6210300" y="25527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92774" y="2770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99632" y="344995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토큰화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01156" y="3882390"/>
              <a:ext cx="149275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문장을 토큰 ID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시퀀스로 변환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84895" y="3490912"/>
            <a:ext cx="189452" cy="440055"/>
            <a:chOff x="8684895" y="3490912"/>
            <a:chExt cx="189452" cy="440055"/>
          </a:xfrm>
        </p:grpSpPr>
        <p:sp>
          <p:nvSpPr>
            <p:cNvPr id="27" name="TextBox 27"/>
            <p:cNvSpPr txBox="1"/>
            <p:nvPr/>
          </p:nvSpPr>
          <p:spPr>
            <a:xfrm>
              <a:off x="8684895" y="34909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55024" y="2552700"/>
            <a:ext cx="2322576" cy="2005584"/>
            <a:chOff x="8955024" y="2552700"/>
            <a:chExt cx="2322576" cy="2005584"/>
          </a:xfrm>
        </p:grpSpPr>
        <p:sp>
          <p:nvSpPr>
            <p:cNvPr id="29" name="Line 29"/>
            <p:cNvSpPr/>
            <p:nvPr/>
          </p:nvSpPr>
          <p:spPr>
            <a:xfrm>
              <a:off x="8972550" y="25527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55024" y="2770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61882" y="34499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학습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63406" y="3882390"/>
              <a:ext cx="221284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「다음 토큰 맞히기」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6656" y="5334000"/>
            <a:ext cx="10829544" cy="804101"/>
            <a:chOff x="676656" y="5334000"/>
            <a:chExt cx="10829544" cy="804101"/>
          </a:xfrm>
        </p:grpSpPr>
        <p:sp>
          <p:nvSpPr>
            <p:cNvPr id="34" name="Line 34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6656" y="5520690"/>
              <a:ext cx="5768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데이터 품질·다양성·편향이 곧 모델의 성격이 된다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8942" y="587406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garbage in, garbage out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8" name="Line 3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06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873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1-2 · Tokenization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659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문장을 토큰으로, 토큰을 벡터로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6592824" cy="410718"/>
            <a:chOff x="675132" y="1678305"/>
            <a:chExt cx="659282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65928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컴퓨터는 글자가 아니라 숫자(토큰 ID)를 다룬다.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5132" y="2590800"/>
            <a:ext cx="3249168" cy="2367534"/>
            <a:chOff x="675132" y="2590800"/>
            <a:chExt cx="3249168" cy="2367534"/>
          </a:xfrm>
        </p:grpSpPr>
        <p:sp>
          <p:nvSpPr>
            <p:cNvPr id="8" name="Line 8"/>
            <p:cNvSpPr/>
            <p:nvPr/>
          </p:nvSpPr>
          <p:spPr>
            <a:xfrm>
              <a:off x="685800" y="25908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132" y="28213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문장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6656" y="3291840"/>
              <a:ext cx="265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사람이 읽는 원문 텍스트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704" y="43853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산출물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4606290"/>
              <a:ext cx="1366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원문 텍스트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065270" y="2900362"/>
            <a:ext cx="189452" cy="440055"/>
            <a:chOff x="4065270" y="2900362"/>
            <a:chExt cx="189452" cy="440055"/>
          </a:xfrm>
        </p:grpSpPr>
        <p:sp>
          <p:nvSpPr>
            <p:cNvPr id="14" name="TextBox 14"/>
            <p:cNvSpPr txBox="1"/>
            <p:nvPr/>
          </p:nvSpPr>
          <p:spPr>
            <a:xfrm>
              <a:off x="4065270" y="29003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66082" y="2590800"/>
            <a:ext cx="3249168" cy="2367534"/>
            <a:chOff x="4466082" y="2590800"/>
            <a:chExt cx="3249168" cy="2367534"/>
          </a:xfrm>
        </p:grpSpPr>
        <p:sp>
          <p:nvSpPr>
            <p:cNvPr id="16" name="Line 16"/>
            <p:cNvSpPr/>
            <p:nvPr/>
          </p:nvSpPr>
          <p:spPr>
            <a:xfrm>
              <a:off x="4476750" y="25908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66082" y="2821305"/>
              <a:ext cx="204430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토큰 ID 시퀀스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67606" y="3291840"/>
              <a:ext cx="313867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자주 붙어 나오는 문자 쌍을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 병합(BPE)해 어휘집 생성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70654" y="43853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산출물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67606" y="4606290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정수 ID 배열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56220" y="2900362"/>
            <a:ext cx="189452" cy="440055"/>
            <a:chOff x="7856220" y="2900362"/>
            <a:chExt cx="189452" cy="440055"/>
          </a:xfrm>
        </p:grpSpPr>
        <p:sp>
          <p:nvSpPr>
            <p:cNvPr id="22" name="TextBox 22"/>
            <p:cNvSpPr txBox="1"/>
            <p:nvPr/>
          </p:nvSpPr>
          <p:spPr>
            <a:xfrm>
              <a:off x="7856220" y="29003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257032" y="2590800"/>
            <a:ext cx="3249168" cy="2367534"/>
            <a:chOff x="8257032" y="2590800"/>
            <a:chExt cx="3249168" cy="2367534"/>
          </a:xfrm>
        </p:grpSpPr>
        <p:sp>
          <p:nvSpPr>
            <p:cNvPr id="24" name="Line 24"/>
            <p:cNvSpPr/>
            <p:nvPr/>
          </p:nvSpPr>
          <p:spPr>
            <a:xfrm>
              <a:off x="8267700" y="25908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257032" y="2821305"/>
              <a:ext cx="15945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임베딩 벡터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58556" y="3291840"/>
              <a:ext cx="254431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각 토큰 ID를 여러 차원의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숫자 벡터로 변환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61604" y="43853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산출물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58556" y="4606290"/>
              <a:ext cx="1366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벡터 시퀀스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6656" y="5486400"/>
            <a:ext cx="10829544" cy="538734"/>
            <a:chOff x="676656" y="5486400"/>
            <a:chExt cx="10829544" cy="538734"/>
          </a:xfrm>
        </p:grpSpPr>
        <p:sp>
          <p:nvSpPr>
            <p:cNvPr id="30" name="Line 30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6656" y="5673090"/>
              <a:ext cx="74089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언어별 토큰화 효율 차이는 비용·컨텍스트 길이에 직접 영향을 준다.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3" name="Line 3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07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86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1-3 · 다음 토큰 예측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451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출력은 「다음 토큰의 확률 분포」다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6656" y="1672590"/>
            <a:ext cx="7860240" cy="352044"/>
            <a:chOff x="676656" y="1672590"/>
            <a:chExt cx="7860240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676656" y="1672590"/>
              <a:ext cx="7860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입력: </a:t>
              </a:r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「대한민국의 수도는 ___」</a:t>
              </a:r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→ 전체 어휘에 대한 확률 분포를 출력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18056" y="2108835"/>
            <a:ext cx="9435694" cy="3623310"/>
            <a:chOff x="1518056" y="2108835"/>
            <a:chExt cx="9435694" cy="3623310"/>
          </a:xfrm>
        </p:grpSpPr>
        <p:grpSp>
          <p:nvGrpSpPr>
            <p:cNvPr id="27" name="Group 27"/>
            <p:cNvGrpSpPr/>
            <p:nvPr/>
          </p:nvGrpSpPr>
          <p:grpSpPr>
            <a:xfrm>
              <a:off x="1518056" y="2108835"/>
              <a:ext cx="9435694" cy="3623310"/>
              <a:chOff x="1518056" y="2108835"/>
              <a:chExt cx="9435694" cy="3623310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905000" y="5334000"/>
                <a:ext cx="904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50" h="9525">
                    <a:moveTo>
                      <a:pt x="0" y="0"/>
                    </a:moveTo>
                    <a:lnTo>
                      <a:pt x="9048750" y="0"/>
                    </a:lnTo>
                  </a:path>
                </a:pathLst>
              </a:custGeom>
              <a:noFill/>
              <a:ln w="14288">
                <a:solidFill>
                  <a:srgbClr val="14181F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905000" y="2190750"/>
                <a:ext cx="9525" cy="3143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43250">
                    <a:moveTo>
                      <a:pt x="0" y="0"/>
                    </a:moveTo>
                    <a:lnTo>
                      <a:pt x="0" y="314325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905000" y="3762375"/>
                <a:ext cx="904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50" h="9525">
                    <a:moveTo>
                      <a:pt x="0" y="0"/>
                    </a:moveTo>
                    <a:lnTo>
                      <a:pt x="9048750" y="0"/>
                    </a:lnTo>
                  </a:path>
                </a:pathLst>
              </a:custGeom>
              <a:noFill/>
              <a:ln w="9525">
                <a:solidFill>
                  <a:srgbClr val="EDF0F3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905000" y="2971800"/>
                <a:ext cx="904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750" h="9525">
                    <a:moveTo>
                      <a:pt x="0" y="0"/>
                    </a:moveTo>
                    <a:lnTo>
                      <a:pt x="9048750" y="0"/>
                    </a:lnTo>
                  </a:path>
                </a:pathLst>
              </a:custGeom>
              <a:noFill/>
              <a:ln w="9525">
                <a:solidFill>
                  <a:srgbClr val="EDF0F3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518056" y="525208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0.0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18056" y="3680460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0.5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18056" y="2108835"/>
                <a:ext cx="2787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1.0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3162300" y="2438400"/>
                <a:ext cx="1333500" cy="28956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4895850" y="5305425"/>
                <a:ext cx="1333500" cy="28575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629400" y="5305425"/>
                <a:ext cx="1333500" cy="28575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362950" y="5143500"/>
                <a:ext cx="1333500" cy="1905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588201" y="21431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0.92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332857" y="5029200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0.01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66407" y="5029200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0.01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799957" y="486727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0.06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19500" y="54387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서울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353050" y="54387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부산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86600" y="54387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대구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789860" y="5438775"/>
                <a:ext cx="47967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5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그 외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676656" y="5768340"/>
            <a:ext cx="6864858" cy="675894"/>
            <a:chOff x="676656" y="5768340"/>
            <a:chExt cx="6864858" cy="675894"/>
          </a:xfrm>
        </p:grpSpPr>
        <p:sp>
          <p:nvSpPr>
            <p:cNvPr id="29" name="TextBox 29"/>
            <p:cNvSpPr txBox="1"/>
            <p:nvPr/>
          </p:nvSpPr>
          <p:spPr>
            <a:xfrm>
              <a:off x="676656" y="5768340"/>
              <a:ext cx="686485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이 예측을 정답과 비교해 틀린 만큼 벌점(loss)을 준다.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수조 번 반복하면 「그럴듯한 다음 말」을 생성하는 능력이 생긴다.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1" name="Line 3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08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256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1-4 · Backpropagation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659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역전파와 경사하강, 학습의 루프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6141834" cy="410718"/>
            <a:chOff x="675132" y="1678305"/>
            <a:chExt cx="614183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61418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학습은 이 루프를 매우 많이 반복한 누적 결과다.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8274" y="2514600"/>
            <a:ext cx="2322576" cy="1948434"/>
            <a:chOff x="668274" y="2514600"/>
            <a:chExt cx="2322576" cy="1948434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8274" y="26946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132" y="33547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순전파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3787140"/>
              <a:ext cx="23042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입력 → 여러 층의 행렬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곱·비선형 변환 → 예측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60395" y="3414712"/>
            <a:ext cx="189452" cy="440055"/>
            <a:chOff x="3160395" y="3414712"/>
            <a:chExt cx="189452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3160395" y="34147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30524" y="2514600"/>
            <a:ext cx="2449830" cy="1948434"/>
            <a:chOff x="3430524" y="2514600"/>
            <a:chExt cx="2449830" cy="1948434"/>
          </a:xfrm>
        </p:grpSpPr>
        <p:sp>
          <p:nvSpPr>
            <p:cNvPr id="15" name="Line 15"/>
            <p:cNvSpPr/>
            <p:nvPr/>
          </p:nvSpPr>
          <p:spPr>
            <a:xfrm>
              <a:off x="344805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430524" y="26946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37382" y="3354705"/>
              <a:ext cx="12828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loss 계산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38906" y="3787140"/>
              <a:ext cx="244144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예측이 정답에서 얼마나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벗어났는가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22645" y="3414712"/>
            <a:ext cx="189452" cy="440055"/>
            <a:chOff x="5922645" y="3414712"/>
            <a:chExt cx="189452" cy="440055"/>
          </a:xfrm>
        </p:grpSpPr>
        <p:sp>
          <p:nvSpPr>
            <p:cNvPr id="20" name="TextBox 20"/>
            <p:cNvSpPr txBox="1"/>
            <p:nvPr/>
          </p:nvSpPr>
          <p:spPr>
            <a:xfrm>
              <a:off x="5922645" y="34147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192774" y="2514600"/>
            <a:ext cx="2506980" cy="1948434"/>
            <a:chOff x="6192774" y="2514600"/>
            <a:chExt cx="2506980" cy="1948434"/>
          </a:xfrm>
        </p:grpSpPr>
        <p:sp>
          <p:nvSpPr>
            <p:cNvPr id="22" name="Line 22"/>
            <p:cNvSpPr/>
            <p:nvPr/>
          </p:nvSpPr>
          <p:spPr>
            <a:xfrm>
              <a:off x="621030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92774" y="26946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99632" y="33547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역전파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01156" y="3787140"/>
              <a:ext cx="249859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loss를 각 가중치로 미분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→ 줄어드는 방향 계산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84895" y="3414712"/>
            <a:ext cx="189452" cy="440055"/>
            <a:chOff x="8684895" y="3414712"/>
            <a:chExt cx="189452" cy="440055"/>
          </a:xfrm>
        </p:grpSpPr>
        <p:sp>
          <p:nvSpPr>
            <p:cNvPr id="27" name="TextBox 27"/>
            <p:cNvSpPr txBox="1"/>
            <p:nvPr/>
          </p:nvSpPr>
          <p:spPr>
            <a:xfrm>
              <a:off x="8684895" y="34147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55024" y="2514600"/>
            <a:ext cx="2322576" cy="1948434"/>
            <a:chOff x="8955024" y="2514600"/>
            <a:chExt cx="2322576" cy="1948434"/>
          </a:xfrm>
        </p:grpSpPr>
        <p:sp>
          <p:nvSpPr>
            <p:cNvPr id="29" name="Line 29"/>
            <p:cNvSpPr/>
            <p:nvPr/>
          </p:nvSpPr>
          <p:spPr>
            <a:xfrm>
              <a:off x="897255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55024" y="26946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61882" y="33547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경사하강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63406" y="3787140"/>
              <a:ext cx="198424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그 방향으로 조금씩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가중치 이동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5350" y="4629150"/>
            <a:ext cx="10344150" cy="521970"/>
            <a:chOff x="895350" y="4629150"/>
            <a:chExt cx="10344150" cy="521970"/>
          </a:xfrm>
        </p:grpSpPr>
        <p:sp>
          <p:nvSpPr>
            <p:cNvPr id="34" name="Freeform 34"/>
            <p:cNvSpPr/>
            <p:nvPr/>
          </p:nvSpPr>
          <p:spPr>
            <a:xfrm>
              <a:off x="952500" y="4629150"/>
              <a:ext cx="10287000" cy="323850"/>
            </a:xfrm>
            <a:custGeom>
              <a:avLst/>
              <a:gdLst/>
              <a:ahLst/>
              <a:cxnLst/>
              <a:rect l="l" t="t" r="r" b="b"/>
              <a:pathLst>
                <a:path w="10287000" h="323850">
                  <a:moveTo>
                    <a:pt x="10287000" y="0"/>
                  </a:moveTo>
                  <a:lnTo>
                    <a:pt x="10287000" y="323850"/>
                  </a:lnTo>
                  <a:lnTo>
                    <a:pt x="0" y="323850"/>
                  </a:ln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95350" y="46291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0" y="13335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0" y="4819650"/>
              <a:ext cx="1524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72078" y="4857750"/>
              <a:ext cx="16478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5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반복 (수백만 번)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6656" y="5486400"/>
            <a:ext cx="10829544" cy="538734"/>
            <a:chOff x="676656" y="5486400"/>
            <a:chExt cx="10829544" cy="538734"/>
          </a:xfrm>
        </p:grpSpPr>
        <p:sp>
          <p:nvSpPr>
            <p:cNvPr id="39" name="Line 39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6656" y="5673090"/>
              <a:ext cx="79783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파라미터(가중치) = 모델이 학습으로 조정하는 수십억~수천억 개의 숫자.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2" name="Line 4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09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76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1-5 · Fine-tuning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6422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파인튜닝은 무엇을 바꾸는가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908722" cy="410718"/>
            <a:chOff x="675132" y="1640205"/>
            <a:chExt cx="790872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9087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파인튜닝은 행동을 바꾸지, 지식을 안정적으로 넣지는 못한다.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8942" y="2102168"/>
            <a:ext cx="7563388" cy="264033"/>
            <a:chOff x="678942" y="2102168"/>
            <a:chExt cx="7563388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678942" y="2102168"/>
              <a:ext cx="7563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사전학습된 가중치(또는 LoRA 같은 소수의 추가 가중치)를 목적 데이터로 추가 조정한다.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0" y="2762250"/>
            <a:ext cx="9525" cy="2533650"/>
            <a:chOff x="6096000" y="2762250"/>
            <a:chExt cx="9525" cy="2533650"/>
          </a:xfrm>
        </p:grpSpPr>
        <p:sp>
          <p:nvSpPr>
            <p:cNvPr id="10" name="Line 10"/>
            <p:cNvSpPr/>
            <p:nvPr/>
          </p:nvSpPr>
          <p:spPr>
            <a:xfrm>
              <a:off x="6096000" y="2762250"/>
              <a:ext cx="9525" cy="2533650"/>
            </a:xfrm>
            <a:custGeom>
              <a:avLst/>
              <a:gdLst/>
              <a:ahLst/>
              <a:cxnLst/>
              <a:rect l="l" t="t" r="r" b="b"/>
              <a:pathLst>
                <a:path w="9525" h="2533650">
                  <a:moveTo>
                    <a:pt x="0" y="0"/>
                  </a:moveTo>
                  <a:lnTo>
                    <a:pt x="0" y="25336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75132" y="2821305"/>
            <a:ext cx="4925568" cy="2060829"/>
            <a:chOff x="675132" y="2821305"/>
            <a:chExt cx="4925568" cy="2060829"/>
          </a:xfrm>
        </p:grpSpPr>
        <p:sp>
          <p:nvSpPr>
            <p:cNvPr id="12" name="TextBox 12"/>
            <p:cNvSpPr txBox="1"/>
            <p:nvPr/>
          </p:nvSpPr>
          <p:spPr>
            <a:xfrm>
              <a:off x="675132" y="2821305"/>
              <a:ext cx="16836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1E7F4F"/>
                  </a:solidFill>
                  <a:latin typeface="Pretendard SemiBold"/>
                  <a:ea typeface="Pretendard SemiBold"/>
                  <a:cs typeface="Pretendard SemiBold"/>
                </a:rPr>
                <a:t>잘 바꾸는 것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85800" y="32385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6656" y="3539490"/>
              <a:ext cx="1787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말투 · 형식 · 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4034790"/>
              <a:ext cx="2901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특정 작업을 수행하는 방식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6656" y="4530090"/>
              <a:ext cx="2162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일관된 스타일·행동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66332" y="2821305"/>
            <a:ext cx="5039868" cy="1565529"/>
            <a:chOff x="6466332" y="2821305"/>
            <a:chExt cx="5039868" cy="1565529"/>
          </a:xfrm>
        </p:grpSpPr>
        <p:sp>
          <p:nvSpPr>
            <p:cNvPr id="18" name="TextBox 18"/>
            <p:cNvSpPr txBox="1"/>
            <p:nvPr/>
          </p:nvSpPr>
          <p:spPr>
            <a:xfrm>
              <a:off x="6466332" y="2821305"/>
              <a:ext cx="206951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잘 못 바꾸는 것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477000" y="32385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7856" y="3539490"/>
              <a:ext cx="4428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새로운 사실 지식을 안정적으로 주입하기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7856" y="4034790"/>
              <a:ext cx="4537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→ 잘못하면 자신감 있는 환각이 늘 수 있다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6656" y="5600700"/>
            <a:ext cx="11358481" cy="538734"/>
            <a:chOff x="676656" y="5600700"/>
            <a:chExt cx="11358481" cy="538734"/>
          </a:xfrm>
        </p:grpSpPr>
        <p:sp>
          <p:nvSpPr>
            <p:cNvPr id="23" name="Line 23"/>
            <p:cNvSpPr/>
            <p:nvPr/>
          </p:nvSpPr>
          <p:spPr>
            <a:xfrm>
              <a:off x="685800" y="5600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6656" y="5787390"/>
              <a:ext cx="113584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지시 튜닝(instruction tuning), RLHF도 「질문에 답하는 조수」로 행동을 정렬하는 학습의 한 형태다.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6" name="Line 2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10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058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1-6 · 학습 과정 총정리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6422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코퍼스에서 정렬된 모델까지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841638" cy="410718"/>
            <a:chOff x="675132" y="1640205"/>
            <a:chExt cx="884163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8416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사전학습이 끝나면, 일반 대화만으로 가중치가 바로 바뀌지는 않는다.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2286000"/>
            <a:ext cx="2400300" cy="1143000"/>
            <a:chOff x="685800" y="2286000"/>
            <a:chExt cx="2400300" cy="1143000"/>
          </a:xfrm>
        </p:grpSpPr>
        <p:sp>
          <p:nvSpPr>
            <p:cNvPr id="8" name="Rectangle 8"/>
            <p:cNvSpPr/>
            <p:nvPr/>
          </p:nvSpPr>
          <p:spPr>
            <a:xfrm>
              <a:off x="685800" y="2286000"/>
              <a:ext cx="2400300" cy="114300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392" y="2502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868" y="2793682"/>
              <a:ext cx="1847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코퍼스 수집·정제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152394" y="2723198"/>
            <a:ext cx="164192" cy="381381"/>
            <a:chOff x="3152394" y="2723198"/>
            <a:chExt cx="164192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3152394" y="2723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86150" y="2286000"/>
            <a:ext cx="2400300" cy="1143000"/>
            <a:chOff x="3486150" y="2286000"/>
            <a:chExt cx="2400300" cy="1143000"/>
          </a:xfrm>
        </p:grpSpPr>
        <p:sp>
          <p:nvSpPr>
            <p:cNvPr id="14" name="Rectangle 14"/>
            <p:cNvSpPr/>
            <p:nvPr/>
          </p:nvSpPr>
          <p:spPr>
            <a:xfrm>
              <a:off x="3486150" y="2286000"/>
              <a:ext cx="2400300" cy="1143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50742" y="2502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49218" y="279368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토큰화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52744" y="2723198"/>
            <a:ext cx="164192" cy="381381"/>
            <a:chOff x="5952744" y="2723198"/>
            <a:chExt cx="164192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5952744" y="2723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0" y="2286000"/>
            <a:ext cx="2400300" cy="1143000"/>
            <a:chOff x="6286500" y="2286000"/>
            <a:chExt cx="2400300" cy="1143000"/>
          </a:xfrm>
        </p:grpSpPr>
        <p:sp>
          <p:nvSpPr>
            <p:cNvPr id="20" name="Rectangle 20"/>
            <p:cNvSpPr/>
            <p:nvPr/>
          </p:nvSpPr>
          <p:spPr>
            <a:xfrm>
              <a:off x="6286500" y="2286000"/>
              <a:ext cx="2400300" cy="1143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1092" y="2502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49568" y="2793682"/>
              <a:ext cx="15560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학습 루프 반복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1092" y="3092768"/>
              <a:ext cx="19401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예측→loss→역전파→갱신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753094" y="2723198"/>
            <a:ext cx="164192" cy="381381"/>
            <a:chOff x="8753094" y="2723198"/>
            <a:chExt cx="164192" cy="381381"/>
          </a:xfrm>
        </p:grpSpPr>
        <p:sp>
          <p:nvSpPr>
            <p:cNvPr id="25" name="TextBox 25"/>
            <p:cNvSpPr txBox="1"/>
            <p:nvPr/>
          </p:nvSpPr>
          <p:spPr>
            <a:xfrm>
              <a:off x="8753094" y="2723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86850" y="2286000"/>
            <a:ext cx="2400300" cy="1143000"/>
            <a:chOff x="9086850" y="2286000"/>
            <a:chExt cx="2400300" cy="1143000"/>
          </a:xfrm>
        </p:grpSpPr>
        <p:sp>
          <p:nvSpPr>
            <p:cNvPr id="27" name="Rectangle 27"/>
            <p:cNvSpPr/>
            <p:nvPr/>
          </p:nvSpPr>
          <p:spPr>
            <a:xfrm>
              <a:off x="9086850" y="2286000"/>
              <a:ext cx="2400300" cy="1143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51442" y="2502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49918" y="2793682"/>
              <a:ext cx="14861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사전학습 모델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87150" y="2857500"/>
            <a:ext cx="323850" cy="1581150"/>
            <a:chOff x="11487150" y="2857500"/>
            <a:chExt cx="323850" cy="1581150"/>
          </a:xfrm>
        </p:grpSpPr>
        <p:sp>
          <p:nvSpPr>
            <p:cNvPr id="31" name="Freeform 31"/>
            <p:cNvSpPr/>
            <p:nvPr/>
          </p:nvSpPr>
          <p:spPr>
            <a:xfrm>
              <a:off x="11487150" y="2857500"/>
              <a:ext cx="323850" cy="1524000"/>
            </a:xfrm>
            <a:custGeom>
              <a:avLst/>
              <a:gdLst/>
              <a:ahLst/>
              <a:cxnLst/>
              <a:rect l="l" t="t" r="r" b="b"/>
              <a:pathLst>
                <a:path w="323850" h="1524000">
                  <a:moveTo>
                    <a:pt x="0" y="0"/>
                  </a:moveTo>
                  <a:lnTo>
                    <a:pt x="323850" y="0"/>
                  </a:lnTo>
                  <a:lnTo>
                    <a:pt x="323850" y="1524000"/>
                  </a:lnTo>
                  <a:lnTo>
                    <a:pt x="0" y="15240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1487150" y="4324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57150"/>
                  </a:moveTo>
                  <a:lnTo>
                    <a:pt x="76200" y="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086850" y="3810000"/>
            <a:ext cx="2400300" cy="1143000"/>
            <a:chOff x="9086850" y="3810000"/>
            <a:chExt cx="2400300" cy="1143000"/>
          </a:xfrm>
        </p:grpSpPr>
        <p:sp>
          <p:nvSpPr>
            <p:cNvPr id="34" name="Rectangle 34"/>
            <p:cNvSpPr/>
            <p:nvPr/>
          </p:nvSpPr>
          <p:spPr>
            <a:xfrm>
              <a:off x="9086850" y="3810000"/>
              <a:ext cx="2400300" cy="1143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51442" y="4026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49918" y="4317682"/>
              <a:ext cx="1901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지시 튜닝 / RLHF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753094" y="4247198"/>
            <a:ext cx="164192" cy="381381"/>
            <a:chOff x="8753094" y="4247198"/>
            <a:chExt cx="164192" cy="381381"/>
          </a:xfrm>
        </p:grpSpPr>
        <p:sp>
          <p:nvSpPr>
            <p:cNvPr id="38" name="TextBox 38"/>
            <p:cNvSpPr txBox="1"/>
            <p:nvPr/>
          </p:nvSpPr>
          <p:spPr>
            <a:xfrm>
              <a:off x="8753094" y="4247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3810000"/>
            <a:ext cx="2400300" cy="1143000"/>
            <a:chOff x="6286500" y="3810000"/>
            <a:chExt cx="2400300" cy="1143000"/>
          </a:xfrm>
        </p:grpSpPr>
        <p:sp>
          <p:nvSpPr>
            <p:cNvPr id="40" name="Rectangle 40"/>
            <p:cNvSpPr/>
            <p:nvPr/>
          </p:nvSpPr>
          <p:spPr>
            <a:xfrm>
              <a:off x="6286500" y="3810000"/>
              <a:ext cx="2400300" cy="1143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51092" y="4026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9568" y="4317682"/>
              <a:ext cx="12528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정렬된 모델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51092" y="461676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aligned model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952744" y="4247198"/>
            <a:ext cx="164192" cy="381381"/>
            <a:chOff x="5952744" y="4247198"/>
            <a:chExt cx="164192" cy="381381"/>
          </a:xfrm>
        </p:grpSpPr>
        <p:sp>
          <p:nvSpPr>
            <p:cNvPr id="45" name="TextBox 45"/>
            <p:cNvSpPr txBox="1"/>
            <p:nvPr/>
          </p:nvSpPr>
          <p:spPr>
            <a:xfrm>
              <a:off x="5952744" y="42471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486150" y="3810000"/>
            <a:ext cx="2400300" cy="1143000"/>
            <a:chOff x="3486150" y="3810000"/>
            <a:chExt cx="2400300" cy="1143000"/>
          </a:xfrm>
        </p:grpSpPr>
        <p:sp>
          <p:nvSpPr>
            <p:cNvPr id="47" name="Rectangle 47"/>
            <p:cNvSpPr/>
            <p:nvPr/>
          </p:nvSpPr>
          <p:spPr>
            <a:xfrm>
              <a:off x="3486150" y="3810000"/>
              <a:ext cx="2400300" cy="114300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50742" y="4026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49218" y="4317682"/>
              <a:ext cx="17193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도메인 파인튜닝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50742" y="46167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필요 시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76656" y="5486400"/>
            <a:ext cx="10829544" cy="538734"/>
            <a:chOff x="676656" y="5486400"/>
            <a:chExt cx="10829544" cy="538734"/>
          </a:xfrm>
        </p:grpSpPr>
        <p:sp>
          <p:nvSpPr>
            <p:cNvPr id="52" name="Line 52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6656" y="5673090"/>
              <a:ext cx="92384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학습된 지식은 파라미터에 압축되어 있고, 최신성·출처는 자동으로 보장되지 않는다.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55" name="Line 5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11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086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2-1 · Autoregressive Decoding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2210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한 토큰씩 순차적으로 생성한다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643747" cy="410718"/>
            <a:chOff x="675132" y="1640205"/>
            <a:chExt cx="864374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6437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고정된 가중치와 입력만으로, 다음 토큰을 하나씩 골라 이어 붙인다.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000" y="2286000"/>
            <a:ext cx="3619500" cy="838200"/>
            <a:chOff x="1143000" y="2286000"/>
            <a:chExt cx="3619500" cy="838200"/>
          </a:xfrm>
        </p:grpSpPr>
        <p:sp>
          <p:nvSpPr>
            <p:cNvPr id="8" name="Rectangle 8"/>
            <p:cNvSpPr/>
            <p:nvPr/>
          </p:nvSpPr>
          <p:spPr>
            <a:xfrm>
              <a:off x="1143000" y="2286000"/>
              <a:ext cx="3619500" cy="83820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4742" y="2502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2456" y="2663190"/>
              <a:ext cx="2282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다음 토큰 확률 분포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75404" y="3180398"/>
            <a:ext cx="164192" cy="381381"/>
            <a:chOff x="2775404" y="3180398"/>
            <a:chExt cx="164192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2775404" y="31803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3000" y="3505200"/>
            <a:ext cx="3619500" cy="838200"/>
            <a:chOff x="1143000" y="3505200"/>
            <a:chExt cx="3619500" cy="838200"/>
          </a:xfrm>
        </p:grpSpPr>
        <p:sp>
          <p:nvSpPr>
            <p:cNvPr id="14" name="Rectangle 14"/>
            <p:cNvSpPr/>
            <p:nvPr/>
          </p:nvSpPr>
          <p:spPr>
            <a:xfrm>
              <a:off x="1143000" y="3505200"/>
              <a:ext cx="3619500" cy="8382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64742" y="37214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2456" y="3882390"/>
              <a:ext cx="1583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토큰 1개 선택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775404" y="4399598"/>
            <a:ext cx="164192" cy="381381"/>
            <a:chOff x="2775404" y="4399598"/>
            <a:chExt cx="164192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2775404" y="43995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" y="4724400"/>
            <a:ext cx="3619500" cy="838200"/>
            <a:chOff x="1143000" y="4724400"/>
            <a:chExt cx="3619500" cy="838200"/>
          </a:xfrm>
        </p:grpSpPr>
        <p:sp>
          <p:nvSpPr>
            <p:cNvPr id="20" name="Rectangle 20"/>
            <p:cNvSpPr/>
            <p:nvPr/>
          </p:nvSpPr>
          <p:spPr>
            <a:xfrm>
              <a:off x="1143000" y="4724400"/>
              <a:ext cx="3619500" cy="8382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64742" y="49406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62456" y="5101590"/>
              <a:ext cx="16975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입력 끝에 추가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2502" y="2647950"/>
            <a:ext cx="630498" cy="2495550"/>
            <a:chOff x="512502" y="2647950"/>
            <a:chExt cx="630498" cy="2495550"/>
          </a:xfrm>
        </p:grpSpPr>
        <p:sp>
          <p:nvSpPr>
            <p:cNvPr id="24" name="Freeform 24"/>
            <p:cNvSpPr/>
            <p:nvPr/>
          </p:nvSpPr>
          <p:spPr>
            <a:xfrm>
              <a:off x="838200" y="2705100"/>
              <a:ext cx="304800" cy="2438400"/>
            </a:xfrm>
            <a:custGeom>
              <a:avLst/>
              <a:gdLst/>
              <a:ahLst/>
              <a:cxnLst/>
              <a:rect l="l" t="t" r="r" b="b"/>
              <a:pathLst>
                <a:path w="304800" h="2438400">
                  <a:moveTo>
                    <a:pt x="304800" y="2438400"/>
                  </a:moveTo>
                  <a:lnTo>
                    <a:pt x="0" y="2438400"/>
                  </a:lnTo>
                  <a:lnTo>
                    <a:pt x="0" y="0"/>
                  </a:lnTo>
                  <a:lnTo>
                    <a:pt x="3048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66800" y="26479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 rot="-5400000">
              <a:off x="512502" y="3792284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반복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0" y="2190750"/>
            <a:ext cx="9525" cy="3486150"/>
            <a:chOff x="5715000" y="2190750"/>
            <a:chExt cx="9525" cy="3486150"/>
          </a:xfrm>
        </p:grpSpPr>
        <p:sp>
          <p:nvSpPr>
            <p:cNvPr id="28" name="Line 28"/>
            <p:cNvSpPr/>
            <p:nvPr/>
          </p:nvSpPr>
          <p:spPr>
            <a:xfrm>
              <a:off x="5715000" y="2190750"/>
              <a:ext cx="9525" cy="3486150"/>
            </a:xfrm>
            <a:custGeom>
              <a:avLst/>
              <a:gdLst/>
              <a:ahLst/>
              <a:cxnLst/>
              <a:rect l="l" t="t" r="r" b="b"/>
              <a:pathLst>
                <a:path w="9525" h="3486150">
                  <a:moveTo>
                    <a:pt x="0" y="0"/>
                  </a:moveTo>
                  <a:lnTo>
                    <a:pt x="0" y="34861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277356" y="2266950"/>
            <a:ext cx="5228844" cy="900684"/>
            <a:chOff x="6277356" y="2266950"/>
            <a:chExt cx="5228844" cy="900684"/>
          </a:xfrm>
        </p:grpSpPr>
        <p:sp>
          <p:nvSpPr>
            <p:cNvPr id="30" name="Line 30"/>
            <p:cNvSpPr/>
            <p:nvPr/>
          </p:nvSpPr>
          <p:spPr>
            <a:xfrm>
              <a:off x="6286500" y="22669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77356" y="2491740"/>
              <a:ext cx="408736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긴 답변은 더 많은 생성 단계를 거치므로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시간이 오래 걸린다.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77356" y="3448050"/>
            <a:ext cx="5228844" cy="900684"/>
            <a:chOff x="6277356" y="3448050"/>
            <a:chExt cx="5228844" cy="900684"/>
          </a:xfrm>
        </p:grpSpPr>
        <p:sp>
          <p:nvSpPr>
            <p:cNvPr id="33" name="Line 33"/>
            <p:cNvSpPr/>
            <p:nvPr/>
          </p:nvSpPr>
          <p:spPr>
            <a:xfrm>
              <a:off x="6286500" y="34480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7356" y="3672840"/>
              <a:ext cx="398449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앞에서 잘못 생성한 정보는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뒤의 토큰 생성에도 영향을 줄 수 있다.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7356" y="4629150"/>
            <a:ext cx="5228844" cy="900684"/>
            <a:chOff x="6277356" y="4629150"/>
            <a:chExt cx="5228844" cy="900684"/>
          </a:xfrm>
        </p:grpSpPr>
        <p:sp>
          <p:nvSpPr>
            <p:cNvPr id="36" name="Line 36"/>
            <p:cNvSpPr/>
            <p:nvPr/>
          </p:nvSpPr>
          <p:spPr>
            <a:xfrm>
              <a:off x="6286500" y="46291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77356" y="4853940"/>
              <a:ext cx="428167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컨텍스트 윈도우 = 한 번에 참고할 수 있는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토큰 범위의 상한.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9" name="Line 3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12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576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2-2 · Attention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8239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각 토큰이 다른 토큰을 얼마나 참고할지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824820" cy="410718"/>
            <a:chOff x="675132" y="1640205"/>
            <a:chExt cx="1082482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8248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Attention은 Transformer의 핵심 — 긴 컨텍스트일수록 계산·메모리 비용이 커진다.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62125" y="2000250"/>
            <a:ext cx="7620000" cy="647700"/>
            <a:chOff x="1762125" y="2000250"/>
            <a:chExt cx="7620000" cy="647700"/>
          </a:xfrm>
        </p:grpSpPr>
        <p:sp>
          <p:nvSpPr>
            <p:cNvPr id="8" name="Freeform 8"/>
            <p:cNvSpPr/>
            <p:nvPr/>
          </p:nvSpPr>
          <p:spPr>
            <a:xfrm>
              <a:off x="1762125" y="2000250"/>
              <a:ext cx="5715000" cy="647700"/>
            </a:xfrm>
            <a:custGeom>
              <a:avLst/>
              <a:gdLst/>
              <a:ahLst/>
              <a:cxnLst/>
              <a:rect l="l" t="t" r="r" b="b"/>
              <a:pathLst>
                <a:path w="5715000" h="647700">
                  <a:moveTo>
                    <a:pt x="5715000" y="647700"/>
                  </a:moveTo>
                  <a:cubicBezTo>
                    <a:pt x="4905375" y="0"/>
                    <a:pt x="1095375" y="0"/>
                    <a:pt x="0" y="647700"/>
                  </a:cubicBezTo>
                </a:path>
              </a:pathLst>
            </a:custGeom>
            <a:noFill/>
            <a:ln w="19050">
              <a:solidFill>
                <a:srgbClr val="2563EB">
                  <a:alpha val="5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667125" y="2095500"/>
              <a:ext cx="3810000" cy="552450"/>
            </a:xfrm>
            <a:custGeom>
              <a:avLst/>
              <a:gdLst/>
              <a:ahLst/>
              <a:cxnLst/>
              <a:rect l="l" t="t" r="r" b="b"/>
              <a:pathLst>
                <a:path w="3810000" h="552450">
                  <a:moveTo>
                    <a:pt x="3810000" y="552450"/>
                  </a:moveTo>
                  <a:cubicBezTo>
                    <a:pt x="3381375" y="0"/>
                    <a:pt x="428625" y="0"/>
                    <a:pt x="0" y="552450"/>
                  </a:cubicBezTo>
                </a:path>
              </a:pathLst>
            </a:custGeom>
            <a:noFill/>
            <a:ln w="47625">
              <a:solidFill>
                <a:srgbClr val="2563EB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572125" y="2238375"/>
              <a:ext cx="1905000" cy="409575"/>
            </a:xfrm>
            <a:custGeom>
              <a:avLst/>
              <a:gdLst/>
              <a:ahLst/>
              <a:cxnLst/>
              <a:rect l="l" t="t" r="r" b="b"/>
              <a:pathLst>
                <a:path w="1905000" h="409575">
                  <a:moveTo>
                    <a:pt x="1905000" y="409575"/>
                  </a:moveTo>
                  <a:cubicBezTo>
                    <a:pt x="1762125" y="0"/>
                    <a:pt x="142875" y="0"/>
                    <a:pt x="0" y="409575"/>
                  </a:cubicBezTo>
                </a:path>
              </a:pathLst>
            </a:custGeom>
            <a:noFill/>
            <a:ln w="19050">
              <a:solidFill>
                <a:srgbClr val="2563EB">
                  <a:alpha val="40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477125" y="2238375"/>
              <a:ext cx="1905000" cy="409575"/>
            </a:xfrm>
            <a:custGeom>
              <a:avLst/>
              <a:gdLst/>
              <a:ahLst/>
              <a:cxnLst/>
              <a:rect l="l" t="t" r="r" b="b"/>
              <a:pathLst>
                <a:path w="1905000" h="409575">
                  <a:moveTo>
                    <a:pt x="0" y="409575"/>
                  </a:moveTo>
                  <a:cubicBezTo>
                    <a:pt x="333375" y="0"/>
                    <a:pt x="1571625" y="0"/>
                    <a:pt x="1905000" y="409575"/>
                  </a:cubicBezTo>
                </a:path>
              </a:pathLst>
            </a:custGeom>
            <a:noFill/>
            <a:ln w="28575">
              <a:solidFill>
                <a:srgbClr val="2563EB">
                  <a:alpha val="70000"/>
                </a:srgbClr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1143000" y="2647950"/>
            <a:ext cx="8858250" cy="1000506"/>
            <a:chOff x="1143000" y="2647950"/>
            <a:chExt cx="8858250" cy="1000506"/>
          </a:xfrm>
        </p:grpSpPr>
        <p:sp>
          <p:nvSpPr>
            <p:cNvPr id="13" name="Rectangle 13"/>
            <p:cNvSpPr/>
            <p:nvPr/>
          </p:nvSpPr>
          <p:spPr>
            <a:xfrm>
              <a:off x="1143000" y="2647950"/>
              <a:ext cx="1238250" cy="6096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631575" y="285083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048000" y="2647950"/>
              <a:ext cx="1238250" cy="6096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36575" y="285083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953000" y="2647950"/>
              <a:ext cx="1238250" cy="6096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41575" y="285083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t₃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0" y="2647950"/>
              <a:ext cx="1238250" cy="6096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40467" y="28508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t₄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0" y="2647950"/>
              <a:ext cx="1238250" cy="6096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51575" y="2850832"/>
              <a:ext cx="2610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716" y="3413760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query 토큰 — 선 굵기 = 참고 가중치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6656" y="3996690"/>
            <a:ext cx="5038344" cy="1596199"/>
            <a:chOff x="676656" y="3996690"/>
            <a:chExt cx="5038344" cy="1596199"/>
          </a:xfrm>
        </p:grpSpPr>
        <p:sp>
          <p:nvSpPr>
            <p:cNvPr id="25" name="TextBox 25"/>
            <p:cNvSpPr txBox="1"/>
            <p:nvPr/>
          </p:nvSpPr>
          <p:spPr>
            <a:xfrm>
              <a:off x="676656" y="3996690"/>
              <a:ext cx="1133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Q · K · V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5800" y="43434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418" y="4546282"/>
              <a:ext cx="28696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Query — 내가 무엇을 찾는가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418" y="4908232"/>
              <a:ext cx="3569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Key — 각 토큰이 무엇을 제공하는가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7418" y="5270182"/>
              <a:ext cx="29932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Value — 실제로 가져오는 내용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67856" y="3996690"/>
            <a:ext cx="5038344" cy="1234249"/>
            <a:chOff x="6467856" y="3996690"/>
            <a:chExt cx="5038344" cy="1234249"/>
          </a:xfrm>
        </p:grpSpPr>
        <p:sp>
          <p:nvSpPr>
            <p:cNvPr id="31" name="TextBox 31"/>
            <p:cNvSpPr txBox="1"/>
            <p:nvPr/>
          </p:nvSpPr>
          <p:spPr>
            <a:xfrm>
              <a:off x="6467856" y="3996690"/>
              <a:ext cx="14431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두 가지 변형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477000" y="43434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68618" y="4546282"/>
              <a:ext cx="4803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self-attention — 같은 시퀀스 내부의 토큰 관계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8618" y="4908232"/>
              <a:ext cx="4803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multi-head — 여러 관점에서 관계를 동시에 포착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6" name="Line 3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13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2955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2-3 · 2-4 · 디코딩 제어와 추론 속도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900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생성을 조절하는 손잡이, 그리고 속도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332717" cy="410718"/>
            <a:chOff x="675132" y="1640205"/>
            <a:chExt cx="1033271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3327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다양성·일관성은 Temperature·Top-K·Top-P로, 속도는 KV Cache로 조절한다.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2324100"/>
            <a:ext cx="7239000" cy="3705225"/>
            <a:chOff x="685800" y="2324100"/>
            <a:chExt cx="7239000" cy="3705225"/>
          </a:xfrm>
        </p:grpSpPr>
        <p:sp>
          <p:nvSpPr>
            <p:cNvPr id="8" name="Rectangle 8"/>
            <p:cNvSpPr/>
            <p:nvPr/>
          </p:nvSpPr>
          <p:spPr>
            <a:xfrm>
              <a:off x="685800" y="2324100"/>
              <a:ext cx="7239000" cy="4572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8680" y="24669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항목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73680" y="24669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역할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85800" y="2781300"/>
              <a:ext cx="7239000" cy="538734"/>
              <a:chOff x="685800" y="2781300"/>
              <a:chExt cx="7239000" cy="538734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685800" y="27813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67918" y="2984182"/>
                <a:ext cx="57835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4181F"/>
                    </a:solidFill>
                    <a:latin typeface="Consolas"/>
                    <a:ea typeface="Consolas"/>
                    <a:cs typeface="Consolas"/>
                  </a:rPr>
                  <a:t>Logit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772156" y="2967990"/>
                <a:ext cx="18598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정규화 전 원점수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85800" y="3429000"/>
              <a:ext cx="7239000" cy="538734"/>
              <a:chOff x="685800" y="3429000"/>
              <a:chExt cx="7239000" cy="538734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685800" y="34290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67918" y="3631882"/>
                <a:ext cx="92363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4181F"/>
                    </a:solidFill>
                    <a:latin typeface="Consolas"/>
                    <a:ea typeface="Consolas"/>
                    <a:cs typeface="Consolas"/>
                  </a:rPr>
                  <a:t>Softmax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772156" y="3615690"/>
                <a:ext cx="29018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원점수를 확률 분포로 변환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85800" y="4076700"/>
              <a:ext cx="7239000" cy="538734"/>
              <a:chOff x="685800" y="4076700"/>
              <a:chExt cx="7239000" cy="538734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85800" y="40767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67918" y="4279582"/>
                <a:ext cx="14121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4181F"/>
                    </a:solidFill>
                    <a:latin typeface="Consolas"/>
                    <a:ea typeface="Consolas"/>
                    <a:cs typeface="Consolas"/>
                  </a:rPr>
                  <a:t>Temperature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772156" y="4263390"/>
                <a:ext cx="30351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분포를 날카롭게 / 평평하게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85800" y="4724400"/>
              <a:ext cx="7239000" cy="538734"/>
              <a:chOff x="685800" y="4724400"/>
              <a:chExt cx="7239000" cy="538734"/>
            </a:xfrm>
          </p:grpSpPr>
          <p:sp>
            <p:nvSpPr>
              <p:cNvPr id="23" name="Line 23"/>
              <p:cNvSpPr/>
              <p:nvPr/>
            </p:nvSpPr>
            <p:spPr>
              <a:xfrm>
                <a:off x="685800" y="47244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67918" y="4927282"/>
                <a:ext cx="6448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4181F"/>
                    </a:solidFill>
                    <a:latin typeface="Consolas"/>
                    <a:ea typeface="Consolas"/>
                    <a:cs typeface="Consolas"/>
                  </a:rPr>
                  <a:t>Top-K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772156" y="4911090"/>
                <a:ext cx="353872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확률 상위 K개만 남기고 샘플링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85800" y="5372100"/>
              <a:ext cx="7239000" cy="538734"/>
              <a:chOff x="685800" y="5372100"/>
              <a:chExt cx="7239000" cy="538734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685800" y="5372100"/>
                <a:ext cx="723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9525">
                    <a:moveTo>
                      <a:pt x="0" y="0"/>
                    </a:moveTo>
                    <a:lnTo>
                      <a:pt x="72390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67918" y="5574982"/>
                <a:ext cx="6448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14181F"/>
                    </a:solidFill>
                    <a:latin typeface="Consolas"/>
                    <a:ea typeface="Consolas"/>
                    <a:cs typeface="Consolas"/>
                  </a:rPr>
                  <a:t>Top-P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772156" y="5558790"/>
                <a:ext cx="37014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누적 확률 임계까지 남기고 샘플링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5800" y="60198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8382000" y="2324100"/>
            <a:ext cx="9525" cy="3695700"/>
            <a:chOff x="8382000" y="2324100"/>
            <a:chExt cx="9525" cy="3695700"/>
          </a:xfrm>
        </p:grpSpPr>
        <p:sp>
          <p:nvSpPr>
            <p:cNvPr id="33" name="Line 33"/>
            <p:cNvSpPr/>
            <p:nvPr/>
          </p:nvSpPr>
          <p:spPr>
            <a:xfrm>
              <a:off x="8382000" y="2324100"/>
              <a:ext cx="9525" cy="3695700"/>
            </a:xfrm>
            <a:custGeom>
              <a:avLst/>
              <a:gdLst/>
              <a:ahLst/>
              <a:cxnLst/>
              <a:rect l="l" t="t" r="r" b="b"/>
              <a:pathLst>
                <a:path w="9525" h="3695700">
                  <a:moveTo>
                    <a:pt x="0" y="0"/>
                  </a:moveTo>
                  <a:lnTo>
                    <a:pt x="0" y="36957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8676132" y="2440305"/>
            <a:ext cx="2166938" cy="3304984"/>
            <a:chOff x="8676132" y="2440305"/>
            <a:chExt cx="2166938" cy="3304984"/>
          </a:xfrm>
        </p:grpSpPr>
        <p:sp>
          <p:nvSpPr>
            <p:cNvPr id="35" name="TextBox 35"/>
            <p:cNvSpPr txBox="1"/>
            <p:nvPr/>
          </p:nvSpPr>
          <p:spPr>
            <a:xfrm>
              <a:off x="8676132" y="2440305"/>
              <a:ext cx="12830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KV Cache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79942" y="2864168"/>
              <a:ext cx="195110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이미 계산한 Key·Value를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저장하고 재사용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79180" y="37433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E7F4F"/>
                  </a:solidFill>
                  <a:latin typeface="Pretendard SemiBold"/>
                  <a:ea typeface="Pretendard SemiBold"/>
                  <a:cs typeface="Pretendard SemiBold"/>
                </a:rPr>
                <a:t>효과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78418" y="4050982"/>
              <a:ext cx="20284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반복 계산이 줄어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생성 속도가 빨라진다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79180" y="48291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대가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78418" y="5136832"/>
              <a:ext cx="21646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컨텍스트가 길수록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GPU 메모리가 늘어난다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2" name="Line 4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14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8069504" cy="1562100"/>
            <a:chOff x="647700" y="2409825"/>
            <a:chExt cx="8069504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550838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무엇을 언제 쓰는가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806950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프롬프트 · RAG · 파인튜닝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7008876" cy="810768"/>
            <a:chOff x="675132" y="4211955"/>
            <a:chExt cx="700887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700887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프롬프트로 되는가? 안 되면 지식 문제인가 행동 문제인가?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이 질문이 개입 지점을 정한다.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7571232" cy="694944"/>
            <a:chOff x="676656" y="5292090"/>
            <a:chExt cx="7571232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6294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셋은 배타적이지 않다. 실제 시스템에서는 함께 조합한다.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757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RAG가 필요하다면, RAG가 내부에서 어떻게 도는지도 알아야 한다.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130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3-1 · 세 가지 개입 지점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8239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개입 단계가 다르면 바꾸는 것도 다르다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2059107" cy="410718"/>
            <a:chOff x="675132" y="1640205"/>
            <a:chExt cx="1205910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20591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프롬프트는 추론 입력을, RAG는 추론 입력 보강을, 파인튜닝은 학습의 가중치를 건드린다.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2209800"/>
            <a:ext cx="10820400" cy="3819525"/>
            <a:chOff x="685800" y="2209800"/>
            <a:chExt cx="10820400" cy="3819525"/>
          </a:xfrm>
        </p:grpSpPr>
        <p:sp>
          <p:nvSpPr>
            <p:cNvPr id="8" name="Rectangle 8"/>
            <p:cNvSpPr/>
            <p:nvPr/>
          </p:nvSpPr>
          <p:spPr>
            <a:xfrm>
              <a:off x="685800" y="2209800"/>
              <a:ext cx="10820400" cy="4953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42" y="23879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87930" y="2371725"/>
              <a:ext cx="1987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프롬프트 엔지니어링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54980" y="23717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RAG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22030" y="2371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파인튜닝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495550" y="22098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562600" y="22098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629650" y="220980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85800" y="2705100"/>
              <a:ext cx="10820400" cy="697039"/>
              <a:chOff x="685800" y="2705100"/>
              <a:chExt cx="10820400" cy="697039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685800" y="27051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69442" y="3111818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개입 단계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77668" y="3079432"/>
                <a:ext cx="121622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추론 (입력)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744718" y="3079432"/>
                <a:ext cx="17271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추론 (입력 보강)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811768" y="3079432"/>
                <a:ext cx="14383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학습 (가중치)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85800" y="3543300"/>
              <a:ext cx="10820400" cy="697039"/>
              <a:chOff x="685800" y="3543300"/>
              <a:chExt cx="10820400" cy="697039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685800" y="35433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69442" y="3950018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바꾸는 것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77668" y="3917632"/>
                <a:ext cx="159383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지시·예시·맥락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744718" y="3917632"/>
                <a:ext cx="17048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검색된 외부 문서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811768" y="3917632"/>
                <a:ext cx="23268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말투·형식·태스크 방식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85800" y="4381500"/>
              <a:ext cx="10820400" cy="697039"/>
              <a:chOff x="685800" y="4381500"/>
              <a:chExt cx="10820400" cy="697039"/>
            </a:xfrm>
          </p:grpSpPr>
          <p:sp>
            <p:nvSpPr>
              <p:cNvPr id="28" name="Line 28"/>
              <p:cNvSpPr/>
              <p:nvPr/>
            </p:nvSpPr>
            <p:spPr>
              <a:xfrm>
                <a:off x="685800" y="43815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69442" y="47882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강점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677668" y="4755832"/>
                <a:ext cx="159383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즉시·유연·쉬움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744718" y="4755832"/>
                <a:ext cx="23268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최신성·출처·갱신 용이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811768" y="4755832"/>
                <a:ext cx="19825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일관된 스타일·행동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85800" y="5219700"/>
              <a:ext cx="10820400" cy="697039"/>
              <a:chOff x="685800" y="5219700"/>
              <a:chExt cx="10820400" cy="697039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85800" y="52197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69442" y="562641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한계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677668" y="5594032"/>
                <a:ext cx="198255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컨텍스트 한계·반복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744718" y="5594032"/>
                <a:ext cx="170489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검색 품질에 의존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811768" y="5594032"/>
                <a:ext cx="23268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데이터·비용·시간 부담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685800" y="601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2" name="Line 4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16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418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3-1 · 판단 순서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43064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무엇을 먼저 시도할까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6577889" cy="410718"/>
            <a:chOff x="675132" y="1678305"/>
            <a:chExt cx="657788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65778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프롬프트 → 지식이냐 행동이냐 → RAG / 파인튜닝.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667000" y="2495550"/>
            <a:ext cx="3238500" cy="1143000"/>
            <a:chOff x="2667000" y="2495550"/>
            <a:chExt cx="3238500" cy="1143000"/>
          </a:xfrm>
        </p:grpSpPr>
        <p:sp>
          <p:nvSpPr>
            <p:cNvPr id="8" name="Freeform 8"/>
            <p:cNvSpPr/>
            <p:nvPr/>
          </p:nvSpPr>
          <p:spPr>
            <a:xfrm>
              <a:off x="2667000" y="2495550"/>
              <a:ext cx="3238500" cy="1143000"/>
            </a:xfrm>
            <a:custGeom>
              <a:avLst/>
              <a:gdLst/>
              <a:ahLst/>
              <a:cxnLst/>
              <a:rect l="l" t="t" r="r" b="b"/>
              <a:pathLst>
                <a:path w="3238500" h="1143000">
                  <a:moveTo>
                    <a:pt x="571500" y="0"/>
                  </a:moveTo>
                  <a:lnTo>
                    <a:pt x="2667000" y="0"/>
                  </a:lnTo>
                  <a:lnTo>
                    <a:pt x="3238500" y="571500"/>
                  </a:lnTo>
                  <a:lnTo>
                    <a:pt x="2667000" y="1143000"/>
                  </a:lnTo>
                  <a:lnTo>
                    <a:pt x="571500" y="1143000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14288">
              <a:solidFill>
                <a:srgbClr val="14181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51245" y="2948940"/>
              <a:ext cx="22700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프롬프트로 되는가?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0" y="2781300"/>
            <a:ext cx="4838700" cy="571500"/>
            <a:chOff x="5905500" y="2781300"/>
            <a:chExt cx="4838700" cy="571500"/>
          </a:xfrm>
        </p:grpSpPr>
        <p:sp>
          <p:nvSpPr>
            <p:cNvPr id="11" name="Freeform 11"/>
            <p:cNvSpPr/>
            <p:nvPr/>
          </p:nvSpPr>
          <p:spPr>
            <a:xfrm>
              <a:off x="5905500" y="30670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715250" y="30099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69774" y="28260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86700" y="2781300"/>
              <a:ext cx="2857500" cy="57150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39167" y="2955608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프롬프트에서 종료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29100" y="3638550"/>
            <a:ext cx="799719" cy="666750"/>
            <a:chOff x="4229100" y="3638550"/>
            <a:chExt cx="799719" cy="666750"/>
          </a:xfrm>
        </p:grpSpPr>
        <p:sp>
          <p:nvSpPr>
            <p:cNvPr id="17" name="Freeform 17"/>
            <p:cNvSpPr/>
            <p:nvPr/>
          </p:nvSpPr>
          <p:spPr>
            <a:xfrm>
              <a:off x="4286250" y="363855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29100" y="42100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69892" y="38738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아니오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67000" y="4305300"/>
            <a:ext cx="3238500" cy="1143000"/>
            <a:chOff x="2667000" y="4305300"/>
            <a:chExt cx="3238500" cy="1143000"/>
          </a:xfrm>
        </p:grpSpPr>
        <p:sp>
          <p:nvSpPr>
            <p:cNvPr id="21" name="Freeform 21"/>
            <p:cNvSpPr/>
            <p:nvPr/>
          </p:nvSpPr>
          <p:spPr>
            <a:xfrm>
              <a:off x="2667000" y="4305300"/>
              <a:ext cx="3238500" cy="1143000"/>
            </a:xfrm>
            <a:custGeom>
              <a:avLst/>
              <a:gdLst/>
              <a:ahLst/>
              <a:cxnLst/>
              <a:rect l="l" t="t" r="r" b="b"/>
              <a:pathLst>
                <a:path w="3238500" h="1143000">
                  <a:moveTo>
                    <a:pt x="571500" y="0"/>
                  </a:moveTo>
                  <a:lnTo>
                    <a:pt x="2667000" y="0"/>
                  </a:lnTo>
                  <a:lnTo>
                    <a:pt x="3238500" y="571500"/>
                  </a:lnTo>
                  <a:lnTo>
                    <a:pt x="2667000" y="1143000"/>
                  </a:lnTo>
                  <a:lnTo>
                    <a:pt x="571500" y="1143000"/>
                  </a:lnTo>
                  <a:lnTo>
                    <a:pt x="0" y="571500"/>
                  </a:lnTo>
                  <a:close/>
                </a:path>
              </a:pathLst>
            </a:custGeom>
            <a:noFill/>
            <a:ln w="14288">
              <a:solidFill>
                <a:srgbClr val="14181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79058" y="46415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지식 문제인가,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79058" y="49082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행동 문제인가?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0" y="4076700"/>
            <a:ext cx="4838700" cy="590550"/>
            <a:chOff x="5905500" y="4076700"/>
            <a:chExt cx="4838700" cy="590550"/>
          </a:xfrm>
        </p:grpSpPr>
        <p:sp>
          <p:nvSpPr>
            <p:cNvPr id="25" name="Freeform 25"/>
            <p:cNvSpPr/>
            <p:nvPr/>
          </p:nvSpPr>
          <p:spPr>
            <a:xfrm>
              <a:off x="5905500" y="4381500"/>
              <a:ext cx="1905000" cy="285750"/>
            </a:xfrm>
            <a:custGeom>
              <a:avLst/>
              <a:gdLst/>
              <a:ahLst/>
              <a:cxnLst/>
              <a:rect l="l" t="t" r="r" b="b"/>
              <a:pathLst>
                <a:path w="1905000" h="285750">
                  <a:moveTo>
                    <a:pt x="0" y="285750"/>
                  </a:moveTo>
                  <a:lnTo>
                    <a:pt x="19050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705725" y="4362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19050"/>
                  </a:moveTo>
                  <a:lnTo>
                    <a:pt x="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93205" y="4254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지식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86700" y="4076700"/>
              <a:ext cx="2857500" cy="571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03763" y="4251008"/>
              <a:ext cx="423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RAG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05500" y="5086350"/>
            <a:ext cx="4838700" cy="590550"/>
            <a:chOff x="5905500" y="5086350"/>
            <a:chExt cx="4838700" cy="590550"/>
          </a:xfrm>
        </p:grpSpPr>
        <p:sp>
          <p:nvSpPr>
            <p:cNvPr id="31" name="Freeform 31"/>
            <p:cNvSpPr/>
            <p:nvPr/>
          </p:nvSpPr>
          <p:spPr>
            <a:xfrm>
              <a:off x="5905500" y="5086350"/>
              <a:ext cx="1905000" cy="304800"/>
            </a:xfrm>
            <a:custGeom>
              <a:avLst/>
              <a:gdLst/>
              <a:ahLst/>
              <a:cxnLst/>
              <a:rect l="l" t="t" r="r" b="b"/>
              <a:pathLst>
                <a:path w="1905000" h="304800">
                  <a:moveTo>
                    <a:pt x="0" y="0"/>
                  </a:moveTo>
                  <a:lnTo>
                    <a:pt x="1905000" y="3048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705725" y="52959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95250"/>
                  </a:moveTo>
                  <a:lnTo>
                    <a:pt x="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61490" y="5340668"/>
              <a:ext cx="840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행동·형식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886700" y="5105400"/>
              <a:ext cx="2857500" cy="571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40610" y="52797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파인튜닝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7418" y="5905500"/>
            <a:ext cx="10828782" cy="487489"/>
            <a:chOff x="677418" y="5905500"/>
            <a:chExt cx="10828782" cy="487489"/>
          </a:xfrm>
        </p:grpSpPr>
        <p:sp>
          <p:nvSpPr>
            <p:cNvPr id="37" name="Line 37"/>
            <p:cNvSpPr/>
            <p:nvPr/>
          </p:nvSpPr>
          <p:spPr>
            <a:xfrm>
              <a:off x="685800" y="5905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418" y="6070282"/>
              <a:ext cx="67877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실무 정석: 파인튜닝된 모델 + RAG + 좋은 프롬프트를 함께 쓴다.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0" name="Line 4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17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9804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3-2 · RAG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4658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RAG는 네 단계로 작동한다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7060616" cy="410718"/>
            <a:chOff x="675132" y="1678305"/>
            <a:chExt cx="706061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70606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 가중치는 그대로, 지식은 외부에서 매번 제공된다.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5894" y="2514600"/>
            <a:ext cx="2314956" cy="2487739"/>
            <a:chOff x="675894" y="2514600"/>
            <a:chExt cx="2314956" cy="2487739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942" y="2864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5894" y="3142298"/>
              <a:ext cx="17408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색인 Indexing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7418" y="3555682"/>
              <a:ext cx="20284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문서를 청크로 나누고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임베딩해 저장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9704" y="4461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산출물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7418" y="4679632"/>
              <a:ext cx="10196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벡터 색인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160395" y="3490912"/>
            <a:ext cx="189452" cy="440055"/>
            <a:chOff x="3160395" y="3490912"/>
            <a:chExt cx="189452" cy="440055"/>
          </a:xfrm>
        </p:grpSpPr>
        <p:sp>
          <p:nvSpPr>
            <p:cNvPr id="15" name="TextBox 15"/>
            <p:cNvSpPr txBox="1"/>
            <p:nvPr/>
          </p:nvSpPr>
          <p:spPr>
            <a:xfrm>
              <a:off x="3160395" y="34909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438144" y="2514600"/>
            <a:ext cx="2314956" cy="2487739"/>
            <a:chOff x="3438144" y="2514600"/>
            <a:chExt cx="2314956" cy="2487739"/>
          </a:xfrm>
        </p:grpSpPr>
        <p:sp>
          <p:nvSpPr>
            <p:cNvPr id="17" name="Line 17"/>
            <p:cNvSpPr/>
            <p:nvPr/>
          </p:nvSpPr>
          <p:spPr>
            <a:xfrm>
              <a:off x="344805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41192" y="2864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38144" y="3142298"/>
              <a:ext cx="1892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검색 Retrieval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39668" y="3555682"/>
              <a:ext cx="18188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질문과 관련된 문서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청크를 찾음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41954" y="4461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산출물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39668" y="4679632"/>
              <a:ext cx="1730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관련 청크 top-k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922645" y="3490912"/>
            <a:ext cx="189452" cy="440055"/>
            <a:chOff x="5922645" y="3490912"/>
            <a:chExt cx="189452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5922645" y="34909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00394" y="2514600"/>
            <a:ext cx="2470683" cy="2487739"/>
            <a:chOff x="6200394" y="2514600"/>
            <a:chExt cx="2470683" cy="2487739"/>
          </a:xfrm>
        </p:grpSpPr>
        <p:sp>
          <p:nvSpPr>
            <p:cNvPr id="26" name="Line 26"/>
            <p:cNvSpPr/>
            <p:nvPr/>
          </p:nvSpPr>
          <p:spPr>
            <a:xfrm>
              <a:off x="621030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03442" y="2864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0394" y="3142298"/>
              <a:ext cx="24706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증강 Augmentation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01918" y="3555682"/>
              <a:ext cx="154647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검색된 자료를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프롬프트에 삽입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04204" y="4461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산출물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01918" y="4679632"/>
              <a:ext cx="22557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근거가 붙은 프롬프트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684895" y="3490912"/>
            <a:ext cx="189452" cy="440055"/>
            <a:chOff x="8684895" y="3490912"/>
            <a:chExt cx="189452" cy="440055"/>
          </a:xfrm>
        </p:grpSpPr>
        <p:sp>
          <p:nvSpPr>
            <p:cNvPr id="33" name="TextBox 33"/>
            <p:cNvSpPr txBox="1"/>
            <p:nvPr/>
          </p:nvSpPr>
          <p:spPr>
            <a:xfrm>
              <a:off x="8684895" y="34909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962644" y="2514600"/>
            <a:ext cx="2314956" cy="2487739"/>
            <a:chOff x="8962644" y="2514600"/>
            <a:chExt cx="2314956" cy="2487739"/>
          </a:xfrm>
        </p:grpSpPr>
        <p:sp>
          <p:nvSpPr>
            <p:cNvPr id="35" name="Line 35"/>
            <p:cNvSpPr/>
            <p:nvPr/>
          </p:nvSpPr>
          <p:spPr>
            <a:xfrm>
              <a:off x="8972550" y="251460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65692" y="2864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62644" y="3142298"/>
              <a:ext cx="21126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생성 Generation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64168" y="3555682"/>
              <a:ext cx="130549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LLM이 자료를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근거로 답변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66454" y="4461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산출물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64168" y="4679632"/>
              <a:ext cx="15560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출처 있는 답변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7418" y="5410200"/>
            <a:ext cx="10828782" cy="525589"/>
            <a:chOff x="677418" y="5410200"/>
            <a:chExt cx="10828782" cy="525589"/>
          </a:xfrm>
        </p:grpSpPr>
        <p:sp>
          <p:nvSpPr>
            <p:cNvPr id="42" name="Line 42"/>
            <p:cNvSpPr/>
            <p:nvPr/>
          </p:nvSpPr>
          <p:spPr>
            <a:xfrm>
              <a:off x="685800" y="5410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418" y="5613082"/>
              <a:ext cx="70691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필요한 이유 — ① 최신 정보 ② 사내·비공개 문서 ③ 출처·근거 ④ 환각 감소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5" name="Line 4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18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1263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3-3 · RAG vs 파인튜닝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8444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무엇을 아는가 vs 어떻게 말하는가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341559" cy="410718"/>
            <a:chOff x="675132" y="1640205"/>
            <a:chExt cx="1034155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3415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지식 문제는 RAG로, 행동·스타일 문제는 파인튜닝으로 — 실제로는 함께 쓴다.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2247900"/>
            <a:ext cx="10820400" cy="3781425"/>
            <a:chOff x="685800" y="2247900"/>
            <a:chExt cx="10820400" cy="3781425"/>
          </a:xfrm>
        </p:grpSpPr>
        <p:sp>
          <p:nvSpPr>
            <p:cNvPr id="8" name="Rectangle 8"/>
            <p:cNvSpPr/>
            <p:nvPr/>
          </p:nvSpPr>
          <p:spPr>
            <a:xfrm>
              <a:off x="685800" y="2247900"/>
              <a:ext cx="10820400" cy="4953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42" y="24260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53918" y="2393632"/>
              <a:ext cx="423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RAG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21118" y="2393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파인튜닝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971800" y="224790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239000" y="2247900"/>
              <a:ext cx="9525" cy="3771900"/>
            </a:xfrm>
            <a:custGeom>
              <a:avLst/>
              <a:gdLst/>
              <a:ahLst/>
              <a:cxnLst/>
              <a:rect l="l" t="t" r="r" b="b"/>
              <a:pathLst>
                <a:path w="9525" h="3771900">
                  <a:moveTo>
                    <a:pt x="0" y="0"/>
                  </a:moveTo>
                  <a:lnTo>
                    <a:pt x="0" y="37719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85800" y="2743200"/>
              <a:ext cx="10820400" cy="691134"/>
              <a:chOff x="685800" y="2743200"/>
              <a:chExt cx="10820400" cy="691134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685800" y="27432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69442" y="3130868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다루는 문제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153156" y="3082290"/>
                <a:ext cx="162120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무엇을 아는가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20356" y="3082290"/>
                <a:ext cx="296969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어떻게 말하고 행동하는가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562350"/>
              <a:ext cx="10820400" cy="691134"/>
              <a:chOff x="685800" y="3562350"/>
              <a:chExt cx="10820400" cy="691134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85800" y="35623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69442" y="3950018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지식 갱신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153156" y="3901440"/>
                <a:ext cx="29018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문서만 갱신하면 즉시 반영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420356" y="3901440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재학습이 필요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5800" y="4381500"/>
              <a:ext cx="10820400" cy="691134"/>
              <a:chOff x="685800" y="4381500"/>
              <a:chExt cx="10820400" cy="691134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685800" y="43815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9442" y="4769168"/>
                <a:ext cx="10223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출처·추적성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153156" y="4720590"/>
                <a:ext cx="24172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문장별 근거 제시 가능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420356" y="472059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불가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85800" y="5200650"/>
              <a:ext cx="10820400" cy="691134"/>
              <a:chOff x="685800" y="5200650"/>
              <a:chExt cx="10820400" cy="691134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685800" y="52006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69442" y="5588318"/>
                <a:ext cx="10223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스타일·형식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153156" y="5539740"/>
                <a:ext cx="23445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프롬프트로 매번 지시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420356" y="5539740"/>
                <a:ext cx="22354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학습으로 고정, 우수</a:t>
                </a:r>
              </a:p>
            </p:txBody>
          </p:sp>
        </p:grpSp>
        <p:sp>
          <p:nvSpPr>
            <p:cNvPr id="34" name="Line 34"/>
            <p:cNvSpPr/>
            <p:nvPr/>
          </p:nvSpPr>
          <p:spPr>
            <a:xfrm>
              <a:off x="685800" y="601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6" name="Line 3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19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086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4-1 ~ 4-4 · RAG 내부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43837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RAG 색인 파이프라인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564270" cy="410718"/>
            <a:chOff x="675132" y="1678305"/>
            <a:chExt cx="856427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564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RAG는 외부 자료를 검색 가능한 형태로 만드는 것에서 시작한다.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656" y="2533650"/>
            <a:ext cx="2416873" cy="1363789"/>
            <a:chOff x="676656" y="2533650"/>
            <a:chExt cx="2416873" cy="1363789"/>
          </a:xfrm>
        </p:grpSpPr>
        <p:sp>
          <p:nvSpPr>
            <p:cNvPr id="8" name="Line 8"/>
            <p:cNvSpPr/>
            <p:nvPr/>
          </p:nvSpPr>
          <p:spPr>
            <a:xfrm>
              <a:off x="685800" y="253365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872740"/>
              <a:ext cx="21214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Document Loader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3288982"/>
              <a:ext cx="2416111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PDF·웹·Word·CSV·DB를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텍스트/Document 객체로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160395" y="2862262"/>
            <a:ext cx="189452" cy="440055"/>
            <a:chOff x="3160395" y="2862262"/>
            <a:chExt cx="189452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3160395" y="28622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38906" y="2533650"/>
            <a:ext cx="2678811" cy="1363789"/>
            <a:chOff x="3438906" y="2533650"/>
            <a:chExt cx="2678811" cy="1363789"/>
          </a:xfrm>
        </p:grpSpPr>
        <p:sp>
          <p:nvSpPr>
            <p:cNvPr id="14" name="Line 14"/>
            <p:cNvSpPr/>
            <p:nvPr/>
          </p:nvSpPr>
          <p:spPr>
            <a:xfrm>
              <a:off x="3448050" y="253365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38906" y="2872740"/>
              <a:ext cx="1081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Chunking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39668" y="3288982"/>
              <a:ext cx="267804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긴 문서를 작은 단위로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size·overlap이 품질에 직결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22645" y="2862262"/>
            <a:ext cx="189452" cy="440055"/>
            <a:chOff x="5922645" y="2862262"/>
            <a:chExt cx="189452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5922645" y="28622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01156" y="2533650"/>
            <a:ext cx="2720721" cy="1363789"/>
            <a:chOff x="6201156" y="2533650"/>
            <a:chExt cx="2720721" cy="1363789"/>
          </a:xfrm>
        </p:grpSpPr>
        <p:sp>
          <p:nvSpPr>
            <p:cNvPr id="20" name="Line 20"/>
            <p:cNvSpPr/>
            <p:nvPr/>
          </p:nvSpPr>
          <p:spPr>
            <a:xfrm>
              <a:off x="6210300" y="253365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01156" y="2872740"/>
              <a:ext cx="12728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Embedding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01918" y="3288982"/>
              <a:ext cx="271995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의미를 여러 차원의 벡터로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의미 가까우면 벡터도 가깝다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684895" y="2862262"/>
            <a:ext cx="189452" cy="440055"/>
            <a:chOff x="8684895" y="2862262"/>
            <a:chExt cx="189452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8684895" y="28622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963406" y="2533650"/>
            <a:ext cx="2322576" cy="1363789"/>
            <a:chOff x="8963406" y="2533650"/>
            <a:chExt cx="2322576" cy="1363789"/>
          </a:xfrm>
        </p:grpSpPr>
        <p:sp>
          <p:nvSpPr>
            <p:cNvPr id="26" name="Line 26"/>
            <p:cNvSpPr/>
            <p:nvPr/>
          </p:nvSpPr>
          <p:spPr>
            <a:xfrm>
              <a:off x="8972550" y="2533650"/>
              <a:ext cx="2305050" cy="9525"/>
            </a:xfrm>
            <a:custGeom>
              <a:avLst/>
              <a:gdLst/>
              <a:ahLst/>
              <a:cxnLst/>
              <a:rect l="l" t="t" r="r" b="b"/>
              <a:pathLst>
                <a:path w="2305050" h="9525">
                  <a:moveTo>
                    <a:pt x="0" y="0"/>
                  </a:moveTo>
                  <a:lnTo>
                    <a:pt x="230505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63406" y="2872740"/>
              <a:ext cx="2070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Vector Database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64168" y="3288982"/>
              <a:ext cx="232181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벡터 저장 + 유사 벡터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빠르게 검색 (외부 기억)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7418" y="4572000"/>
            <a:ext cx="10828782" cy="1211389"/>
            <a:chOff x="677418" y="4572000"/>
            <a:chExt cx="10828782" cy="1211389"/>
          </a:xfrm>
        </p:grpSpPr>
        <p:sp>
          <p:nvSpPr>
            <p:cNvPr id="30" name="Line 30"/>
            <p:cNvSpPr/>
            <p:nvPr/>
          </p:nvSpPr>
          <p:spPr>
            <a:xfrm>
              <a:off x="685800" y="4572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7418" y="4812982"/>
              <a:ext cx="15317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Chunking 전략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418" y="5136832"/>
              <a:ext cx="73023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너무 작으면 문맥이 끊기고, 너무 크면 불필요한 정보까지 함께 검색된다.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7418" y="5460682"/>
              <a:ext cx="7071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Fixed-size / Recursive / Semantic Chunking 등 여러 전략이 쓰인다.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5" name="Line 3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01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4-5 · 4-6 · 검색 방식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1115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서로의 약점을 보완하려면 결합한다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793882" cy="410718"/>
            <a:chOff x="675132" y="1678305"/>
            <a:chExt cx="1079388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7938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Keyword는 단어 일치에, Semantic은 의미 근접에 강하고, Hybrid가 둘을 결합한다.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5894" y="2476500"/>
            <a:ext cx="3362706" cy="2226945"/>
            <a:chOff x="675894" y="2476500"/>
            <a:chExt cx="3362706" cy="2226945"/>
          </a:xfrm>
        </p:grpSpPr>
        <p:sp>
          <p:nvSpPr>
            <p:cNvPr id="8" name="Line 8"/>
            <p:cNvSpPr/>
            <p:nvPr/>
          </p:nvSpPr>
          <p:spPr>
            <a:xfrm>
              <a:off x="685800" y="2476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723198"/>
              <a:ext cx="21467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Keyword Search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3174682"/>
              <a:ext cx="18188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동일·유사 단어가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포함된 문서를 찾음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4143375"/>
              <a:ext cx="17487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고유명사·제품번호·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법령번호에 유리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09694" y="2476500"/>
            <a:ext cx="3362706" cy="2226945"/>
            <a:chOff x="4409694" y="2476500"/>
            <a:chExt cx="3362706" cy="2226945"/>
          </a:xfrm>
        </p:grpSpPr>
        <p:sp>
          <p:nvSpPr>
            <p:cNvPr id="13" name="Line 13"/>
            <p:cNvSpPr/>
            <p:nvPr/>
          </p:nvSpPr>
          <p:spPr>
            <a:xfrm>
              <a:off x="4419600" y="2476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09694" y="2723198"/>
              <a:ext cx="2228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Semantic Search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1218" y="3174682"/>
              <a:ext cx="20284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표현이 달라도 의미가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가까운 문서를 찾음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11980" y="4143375"/>
              <a:ext cx="17392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Cosine Similarity로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유사도 계산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43494" y="2476500"/>
            <a:ext cx="3362706" cy="2226945"/>
            <a:chOff x="8143494" y="2476500"/>
            <a:chExt cx="3362706" cy="2226945"/>
          </a:xfrm>
        </p:grpSpPr>
        <p:sp>
          <p:nvSpPr>
            <p:cNvPr id="18" name="Line 18"/>
            <p:cNvSpPr/>
            <p:nvPr/>
          </p:nvSpPr>
          <p:spPr>
            <a:xfrm>
              <a:off x="8153400" y="24765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43494" y="2723198"/>
              <a:ext cx="18700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Hybrid Search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5018" y="3174682"/>
              <a:ext cx="1787461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키워드 기반 + 벡터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기반 검색을 결합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5780" y="4143375"/>
              <a:ext cx="1215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서로의 약점을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보완한다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418" y="5105400"/>
            <a:ext cx="10828782" cy="868489"/>
            <a:chOff x="677418" y="5105400"/>
            <a:chExt cx="10828782" cy="868489"/>
          </a:xfrm>
        </p:grpSpPr>
        <p:sp>
          <p:nvSpPr>
            <p:cNvPr id="23" name="Line 23"/>
            <p:cNvSpPr/>
            <p:nvPr/>
          </p:nvSpPr>
          <p:spPr>
            <a:xfrm>
              <a:off x="685800" y="5105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418" y="5327332"/>
              <a:ext cx="178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Top-K Retrieval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418" y="5651182"/>
              <a:ext cx="955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유사도 상위 K개 청크를 선택 — K가 작으면 근거를 놓치고, 크면 불필요한 문맥이 늘어난다.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7" name="Line 27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21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19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4-7 · 4-8 · Reranking &amp; Grounding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8444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넓게 찾고, 좁히고, 근거에 묶는다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7795641" cy="410718"/>
            <a:chOff x="675132" y="1678305"/>
            <a:chExt cx="779564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77956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처음엔 넓게 검색하고, 이후 더 정교한 모델로 후보를 좁힌다.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2514600"/>
            <a:ext cx="3143250" cy="1428750"/>
            <a:chOff x="685800" y="2514600"/>
            <a:chExt cx="3143250" cy="1428750"/>
          </a:xfrm>
        </p:grpSpPr>
        <p:sp>
          <p:nvSpPr>
            <p:cNvPr id="8" name="Rectangle 8"/>
            <p:cNvSpPr/>
            <p:nvPr/>
          </p:nvSpPr>
          <p:spPr>
            <a:xfrm>
              <a:off x="685800" y="2514600"/>
              <a:ext cx="3143250" cy="1428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5256" y="2739390"/>
              <a:ext cx="16952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1차 Retriever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6018" y="3136582"/>
              <a:ext cx="18188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빠르게 관련 후보를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넓게 찾는다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970020" y="3071812"/>
            <a:ext cx="189452" cy="440055"/>
            <a:chOff x="3970020" y="3071812"/>
            <a:chExt cx="189452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3970020" y="30718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00550" y="2514600"/>
            <a:ext cx="3143250" cy="1428750"/>
            <a:chOff x="4400550" y="2514600"/>
            <a:chExt cx="3143250" cy="1428750"/>
          </a:xfrm>
        </p:grpSpPr>
        <p:sp>
          <p:nvSpPr>
            <p:cNvPr id="14" name="Rectangle 14"/>
            <p:cNvSpPr/>
            <p:nvPr/>
          </p:nvSpPr>
          <p:spPr>
            <a:xfrm>
              <a:off x="4400550" y="2514600"/>
              <a:ext cx="3143250" cy="1428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20006" y="2739390"/>
              <a:ext cx="1145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Reranker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0768" y="3136582"/>
              <a:ext cx="20284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질문과의 관련성 기준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으로 다시 평가·정렬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84770" y="3071812"/>
            <a:ext cx="189452" cy="440055"/>
            <a:chOff x="7684770" y="3071812"/>
            <a:chExt cx="189452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7684770" y="307181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15300" y="2514600"/>
            <a:ext cx="3143250" cy="1428750"/>
            <a:chOff x="8115300" y="2514600"/>
            <a:chExt cx="3143250" cy="1428750"/>
          </a:xfrm>
        </p:grpSpPr>
        <p:sp>
          <p:nvSpPr>
            <p:cNvPr id="20" name="Rectangle 20"/>
            <p:cNvSpPr/>
            <p:nvPr/>
          </p:nvSpPr>
          <p:spPr>
            <a:xfrm>
              <a:off x="8115300" y="2514600"/>
              <a:ext cx="3143250" cy="142875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34756" y="273939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Grounding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5518" y="3136582"/>
              <a:ext cx="18188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답변을 실제 근거에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묶고 출처를 표기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7418" y="4438650"/>
            <a:ext cx="10828782" cy="906589"/>
            <a:chOff x="677418" y="4438650"/>
            <a:chExt cx="10828782" cy="906589"/>
          </a:xfrm>
        </p:grpSpPr>
        <p:sp>
          <p:nvSpPr>
            <p:cNvPr id="24" name="Line 24"/>
            <p:cNvSpPr/>
            <p:nvPr/>
          </p:nvSpPr>
          <p:spPr>
            <a:xfrm>
              <a:off x="685800" y="4438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418" y="4660582"/>
              <a:ext cx="71135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「제공된 문서에 근거해 답하라」 · 「자료에 없으면 모른다고 답하라」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18" y="5022532"/>
              <a:ext cx="49812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출처 표기와 함께 쓰면 답변의 추적성이 높아진다.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7418" y="5619750"/>
            <a:ext cx="10828782" cy="525589"/>
            <a:chOff x="677418" y="5619750"/>
            <a:chExt cx="10828782" cy="525589"/>
          </a:xfrm>
        </p:grpSpPr>
        <p:sp>
          <p:nvSpPr>
            <p:cNvPr id="28" name="Line 28"/>
            <p:cNvSpPr/>
            <p:nvPr/>
          </p:nvSpPr>
          <p:spPr>
            <a:xfrm>
              <a:off x="685800" y="561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418" y="5822632"/>
              <a:ext cx="92579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RAG가 환각을 줄이는 핵심 이유 — 더 좋은 근거를 주고, 그 근거에 답변을 묶기 때문.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1" name="Line 3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22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681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4-9 · 4-10 · Advanced &amp; Agentic RAG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6663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검색 품질을 체계적으로 개선한다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7555344" cy="410718"/>
            <a:chOff x="675132" y="1678305"/>
            <a:chExt cx="755534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75553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「문서를 찾아주는 것」을 넘어 검색 전후에 단계를 더한다.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5894" y="2514600"/>
            <a:ext cx="3362706" cy="1325689"/>
            <a:chOff x="675894" y="2514600"/>
            <a:chExt cx="3362706" cy="1325689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761298"/>
              <a:ext cx="11701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단순 RAG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3231832"/>
              <a:ext cx="196557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질문 → 검색 → 생성의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일회성 흐름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09694" y="2514600"/>
            <a:ext cx="3362706" cy="2240089"/>
            <a:chOff x="4409694" y="2514600"/>
            <a:chExt cx="3362706" cy="2240089"/>
          </a:xfrm>
        </p:grpSpPr>
        <p:sp>
          <p:nvSpPr>
            <p:cNvPr id="12" name="Line 12"/>
            <p:cNvSpPr/>
            <p:nvPr/>
          </p:nvSpPr>
          <p:spPr>
            <a:xfrm>
              <a:off x="4419600" y="25146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09694" y="2761298"/>
              <a:ext cx="18061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Advanced RAG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1218" y="3231832"/>
              <a:ext cx="21122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검색 전: 질문 재작성·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다중 검색어 생성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1218" y="4146232"/>
              <a:ext cx="198653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검색 후: Reranking·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Compression·검증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43494" y="2514600"/>
            <a:ext cx="3362706" cy="2240089"/>
            <a:chOff x="8143494" y="2514600"/>
            <a:chExt cx="3362706" cy="2240089"/>
          </a:xfrm>
        </p:grpSpPr>
        <p:sp>
          <p:nvSpPr>
            <p:cNvPr id="17" name="Line 17"/>
            <p:cNvSpPr/>
            <p:nvPr/>
          </p:nvSpPr>
          <p:spPr>
            <a:xfrm>
              <a:off x="8153400" y="25146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43494" y="2761298"/>
              <a:ext cx="15842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Agentic RAG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5018" y="3231832"/>
              <a:ext cx="225894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검색 여부·데이터 소스·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재검색을 Agent가 판단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5018" y="4146232"/>
              <a:ext cx="214369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 xml:space="preserve">유연하지만 실행 통제· </a:t>
              </a:r>
              <a:r>
                <a:rPr lang="ko-KR" sz="1650" dirty="0">
                  <a:solidFill>
                    <a:srgbClr val="C2410C"/>
                  </a:solidFill>
                  <a:latin typeface="Pretendard"/>
                  <a:ea typeface="Pretendard"/>
                  <a:cs typeface="Pretendard"/>
                </a:rPr>
                <a:t>평가가 함께 필요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7418" y="5295900"/>
            <a:ext cx="10828782" cy="563689"/>
            <a:chOff x="677418" y="5295900"/>
            <a:chExt cx="10828782" cy="563689"/>
          </a:xfrm>
        </p:grpSpPr>
        <p:sp>
          <p:nvSpPr>
            <p:cNvPr id="22" name="Line 22"/>
            <p:cNvSpPr/>
            <p:nvPr/>
          </p:nvSpPr>
          <p:spPr>
            <a:xfrm>
              <a:off x="685800" y="5295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418" y="5536882"/>
              <a:ext cx="66582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고정된 검색 파이프라인보다 유연하지만, 실행 경로가 복잡해진다.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23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9066992" cy="1562100"/>
            <a:chOff x="647700" y="2409825"/>
            <a:chExt cx="9066992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335287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복잡한 작업을 잇는 법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906699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Chain · Workflow · LangChain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7048881" cy="810768"/>
            <a:chOff x="675132" y="4211955"/>
            <a:chExt cx="704888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704888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LLM 호출 하나가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여러 구성 요소를 조합해 애플리케이션을 만드는 이야기다.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7155532" cy="694944"/>
            <a:chOff x="676656" y="5292090"/>
            <a:chExt cx="7155532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7155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Chain에서 Workflow로 갈수록 조건·반복·상태 관리가 들어온다.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64100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LangChain은 그 구성 요소들을 공통 인터페이스로 잇는다.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56111" cy="824675"/>
            <a:chOff x="669798" y="670560"/>
            <a:chExt cx="10856111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66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5-1 ~ 5-3 · Chain · Pipeline · Workflow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108561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순서가 명확할수록 Chain, 분기가 많을수록 Workflow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5132" y="1866900"/>
            <a:ext cx="3363468" cy="3179445"/>
            <a:chOff x="675132" y="1866900"/>
            <a:chExt cx="3363468" cy="3179445"/>
          </a:xfrm>
        </p:grpSpPr>
        <p:sp>
          <p:nvSpPr>
            <p:cNvPr id="6" name="Line 6"/>
            <p:cNvSpPr/>
            <p:nvPr/>
          </p:nvSpPr>
          <p:spPr>
            <a:xfrm>
              <a:off x="685800" y="1866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5132" y="2097405"/>
              <a:ext cx="7718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Chain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418" y="2641282"/>
              <a:ext cx="18188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여러 작업을 일정한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순서로 연결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7418" y="3555682"/>
              <a:ext cx="16093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앞 단계의 출력이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다음 단계의 입력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4486275"/>
              <a:ext cx="1977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예: 요약 → 핵심어 추출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→ 질문 생성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08932" y="1866900"/>
            <a:ext cx="3363468" cy="3179445"/>
            <a:chOff x="4408932" y="1866900"/>
            <a:chExt cx="3363468" cy="3179445"/>
          </a:xfrm>
        </p:grpSpPr>
        <p:sp>
          <p:nvSpPr>
            <p:cNvPr id="12" name="Line 12"/>
            <p:cNvSpPr/>
            <p:nvPr/>
          </p:nvSpPr>
          <p:spPr>
            <a:xfrm>
              <a:off x="4419600" y="1866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08932" y="2097405"/>
              <a:ext cx="11124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Pipeline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1218" y="2641282"/>
              <a:ext cx="230085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입력이 여러 처리 단계를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순서대로 통과하는 선형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11218" y="3555682"/>
              <a:ext cx="20609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Chain보다 넓은 개념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11980" y="4486275"/>
              <a:ext cx="18345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데이터 처리·API 호출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까지 포함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42732" y="1866900"/>
            <a:ext cx="3363468" cy="3179445"/>
            <a:chOff x="8142732" y="1866900"/>
            <a:chExt cx="3363468" cy="3179445"/>
          </a:xfrm>
        </p:grpSpPr>
        <p:sp>
          <p:nvSpPr>
            <p:cNvPr id="18" name="Line 18"/>
            <p:cNvSpPr/>
            <p:nvPr/>
          </p:nvSpPr>
          <p:spPr>
            <a:xfrm>
              <a:off x="8153400" y="18669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42732" y="2097405"/>
              <a:ext cx="13815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Workflow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45018" y="2641282"/>
              <a:ext cx="22379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순차 + 조건 분기 +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 + 병렬 + 사람 승인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5018" y="3555682"/>
              <a:ext cx="202844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복잡한 AI 업무를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명시적 흐름으로 설계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5780" y="4486275"/>
              <a:ext cx="15106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예: 충분 → 생성 / 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부족 → 재검색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418" y="5334000"/>
            <a:ext cx="10828782" cy="563689"/>
            <a:chOff x="677418" y="5334000"/>
            <a:chExt cx="10828782" cy="563689"/>
          </a:xfrm>
        </p:grpSpPr>
        <p:sp>
          <p:nvSpPr>
            <p:cNvPr id="24" name="Line 24"/>
            <p:cNvSpPr/>
            <p:nvPr/>
          </p:nvSpPr>
          <p:spPr>
            <a:xfrm>
              <a:off x="685800" y="5334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7418" y="5574982"/>
              <a:ext cx="8081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Routing·Branching·Loop가 생기면 단순 Chain은 복잡한 Workflow로 확장된다.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7" name="Line 27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25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168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5-4 · State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64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State는 지금까지 아는 정보를 담는다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6977405" cy="410718"/>
            <a:chOff x="675132" y="1678305"/>
            <a:chExt cx="697740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69774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각 Node가 State를 읽고 수정하면서 작업을 이어간다.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85800" y="2209800"/>
            <a:ext cx="10820400" cy="3009900"/>
            <a:chOff x="685800" y="2209800"/>
            <a:chExt cx="10820400" cy="3009900"/>
          </a:xfrm>
        </p:grpSpPr>
        <p:sp>
          <p:nvSpPr>
            <p:cNvPr id="8" name="Rectangle 8"/>
            <p:cNvSpPr/>
            <p:nvPr/>
          </p:nvSpPr>
          <p:spPr>
            <a:xfrm>
              <a:off x="685800" y="2362200"/>
              <a:ext cx="10820400" cy="285750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2209800"/>
              <a:ext cx="1143000" cy="304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018" y="2260282"/>
              <a:ext cx="6654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State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066800" y="2781300"/>
              <a:ext cx="3143250" cy="914400"/>
              <a:chOff x="1066800" y="2781300"/>
              <a:chExt cx="3143250" cy="9144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066800" y="2781300"/>
                <a:ext cx="3143250" cy="914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86256" y="3120390"/>
                <a:ext cx="13667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사용자 질문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524375" y="2781300"/>
              <a:ext cx="3143250" cy="914400"/>
              <a:chOff x="4524375" y="2781300"/>
              <a:chExt cx="3143250" cy="9144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524375" y="2781300"/>
                <a:ext cx="3143250" cy="914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43831" y="3120390"/>
                <a:ext cx="11123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검색 결과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981950" y="2781300"/>
              <a:ext cx="3143250" cy="914400"/>
              <a:chOff x="7981950" y="2781300"/>
              <a:chExt cx="3143250" cy="914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7981950" y="2781300"/>
                <a:ext cx="3143250" cy="914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01406" y="3120390"/>
                <a:ext cx="11123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중간 답변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66800" y="3924300"/>
              <a:ext cx="4857750" cy="914400"/>
              <a:chOff x="1066800" y="3924300"/>
              <a:chExt cx="4857750" cy="9144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1066800" y="3924300"/>
                <a:ext cx="4857750" cy="914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86256" y="4263390"/>
                <a:ext cx="11123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평가 점수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267450" y="3924300"/>
              <a:ext cx="4857750" cy="914400"/>
              <a:chOff x="6267450" y="3924300"/>
              <a:chExt cx="4857750" cy="9144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67450" y="3924300"/>
                <a:ext cx="4857750" cy="9144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486906" y="4263390"/>
                <a:ext cx="11123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오류 상태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677418" y="5600700"/>
            <a:ext cx="10828782" cy="525589"/>
            <a:chOff x="677418" y="5600700"/>
            <a:chExt cx="10828782" cy="525589"/>
          </a:xfrm>
        </p:grpSpPr>
        <p:sp>
          <p:nvSpPr>
            <p:cNvPr id="27" name="Line 27"/>
            <p:cNvSpPr/>
            <p:nvPr/>
          </p:nvSpPr>
          <p:spPr>
            <a:xfrm>
              <a:off x="685800" y="5600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7418" y="5803582"/>
              <a:ext cx="76235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상태를 명시적으로 관리하면 복잡한 Agent Workflow를 추적하기 쉬워진다.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0" name="Line 3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26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01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5-5 · 5-6 · 제어 구조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2286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Chain을 Workflow로 확장하는 다섯 구조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148506" cy="410718"/>
            <a:chOff x="675132" y="1678305"/>
            <a:chExt cx="814850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1485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경로 선택·조건 분기·반복이 생기면 Chain은 Workflow가 된다.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6656" y="2447925"/>
            <a:ext cx="1655064" cy="1474470"/>
            <a:chOff x="676656" y="2447925"/>
            <a:chExt cx="1655064" cy="1474470"/>
          </a:xfrm>
        </p:grpSpPr>
        <p:grpSp>
          <p:nvGrpSpPr>
            <p:cNvPr id="11" name="Group 11"/>
            <p:cNvGrpSpPr/>
            <p:nvPr/>
          </p:nvGrpSpPr>
          <p:grpSpPr>
            <a:xfrm>
              <a:off x="733425" y="2447925"/>
              <a:ext cx="285751" cy="285751"/>
              <a:chOff x="733425" y="2447925"/>
              <a:chExt cx="285751" cy="28575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33425" y="26701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55676" y="24479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4550" y="247967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676656" y="2948940"/>
              <a:ext cx="9416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Routing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362325"/>
              <a:ext cx="16535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입력과 상태에 따라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다음 경로 선택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848356" y="2463800"/>
            <a:ext cx="1464564" cy="1458595"/>
            <a:chOff x="2848356" y="2463800"/>
            <a:chExt cx="1464564" cy="1458595"/>
          </a:xfrm>
        </p:grpSpPr>
        <p:grpSp>
          <p:nvGrpSpPr>
            <p:cNvPr id="21" name="Group 21"/>
            <p:cNvGrpSpPr/>
            <p:nvPr/>
          </p:nvGrpSpPr>
          <p:grpSpPr>
            <a:xfrm>
              <a:off x="2936875" y="2463800"/>
              <a:ext cx="238125" cy="254001"/>
              <a:chOff x="2936875" y="2463800"/>
              <a:chExt cx="238125" cy="25400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936875" y="2654301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936875" y="24638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095625" y="24638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968625" y="25273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000375" y="2574925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79750" y="2574925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48356" y="294894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Branching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49880" y="3362325"/>
              <a:ext cx="14630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조건에 따라 여러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실행 경로로 분기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020056" y="2447925"/>
            <a:ext cx="1845564" cy="1474470"/>
            <a:chOff x="5020056" y="2447925"/>
            <a:chExt cx="1845564" cy="1474470"/>
          </a:xfrm>
        </p:grpSpPr>
        <p:grpSp>
          <p:nvGrpSpPr>
            <p:cNvPr id="27" name="Group 27"/>
            <p:cNvGrpSpPr/>
            <p:nvPr/>
          </p:nvGrpSpPr>
          <p:grpSpPr>
            <a:xfrm>
              <a:off x="5092700" y="2447925"/>
              <a:ext cx="254001" cy="285750"/>
              <a:chOff x="5092700" y="2447925"/>
              <a:chExt cx="254001" cy="28575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092700" y="2447925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142875"/>
                    </a:moveTo>
                    <a:lnTo>
                      <a:pt x="0" y="95250"/>
                    </a:lnTo>
                    <a:cubicBezTo>
                      <a:pt x="0" y="68948"/>
                      <a:pt x="21322" y="47625"/>
                      <a:pt x="47625" y="47625"/>
                    </a:cubicBezTo>
                    <a:lnTo>
                      <a:pt x="254001" y="47625"/>
                    </a:lnTo>
                    <a:moveTo>
                      <a:pt x="206375" y="0"/>
                    </a:moveTo>
                    <a:lnTo>
                      <a:pt x="254001" y="47625"/>
                    </a:lnTo>
                    <a:lnTo>
                      <a:pt x="206375" y="9525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092700" y="259080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254001" y="0"/>
                    </a:moveTo>
                    <a:lnTo>
                      <a:pt x="254001" y="47625"/>
                    </a:lnTo>
                    <a:cubicBezTo>
                      <a:pt x="254001" y="73928"/>
                      <a:pt x="232678" y="95250"/>
                      <a:pt x="206375" y="95250"/>
                    </a:cubicBezTo>
                    <a:lnTo>
                      <a:pt x="0" y="95250"/>
                    </a:lnTo>
                    <a:moveTo>
                      <a:pt x="47625" y="142875"/>
                    </a:moveTo>
                    <a:lnTo>
                      <a:pt x="0" y="95250"/>
                    </a:lnTo>
                    <a:lnTo>
                      <a:pt x="47625" y="47625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020056" y="294894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Loop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1580" y="3362325"/>
              <a:ext cx="18440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조건이 만족될 때까지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특정 단계를 반복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191756" y="2457675"/>
            <a:ext cx="1216914" cy="1464720"/>
            <a:chOff x="7191756" y="2457675"/>
            <a:chExt cx="1216914" cy="1464720"/>
          </a:xfrm>
        </p:grpSpPr>
        <p:grpSp>
          <p:nvGrpSpPr>
            <p:cNvPr id="33" name="Group 33"/>
            <p:cNvGrpSpPr/>
            <p:nvPr/>
          </p:nvGrpSpPr>
          <p:grpSpPr>
            <a:xfrm>
              <a:off x="7264400" y="2457675"/>
              <a:ext cx="254001" cy="266250"/>
              <a:chOff x="7264400" y="2457675"/>
              <a:chExt cx="254001" cy="2662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264400" y="245767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254001" y="117250"/>
                    </a:moveTo>
                    <a:cubicBezTo>
                      <a:pt x="246020" y="59823"/>
                      <a:pt x="200595" y="14839"/>
                      <a:pt x="143092" y="7420"/>
                    </a:cubicBezTo>
                    <a:cubicBezTo>
                      <a:pt x="85590" y="0"/>
                      <a:pt x="30234" y="31980"/>
                      <a:pt x="7938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64400" y="2606675"/>
                <a:ext cx="254001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1"/>
                    </a:cubicBezTo>
                    <a:cubicBezTo>
                      <a:pt x="168411" y="117250"/>
                      <a:pt x="223766" y="85271"/>
                      <a:pt x="246063" y="31750"/>
                    </a:cubicBezTo>
                    <a:moveTo>
                      <a:pt x="254001" y="95250"/>
                    </a:moveTo>
                    <a:lnTo>
                      <a:pt x="254001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191756" y="294894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Retry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3280" y="3362325"/>
              <a:ext cx="1215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동일한 작업을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다시 시도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363456" y="2463800"/>
            <a:ext cx="1702689" cy="1458595"/>
            <a:chOff x="9363456" y="2463800"/>
            <a:chExt cx="1702689" cy="1458595"/>
          </a:xfrm>
        </p:grpSpPr>
        <p:grpSp>
          <p:nvGrpSpPr>
            <p:cNvPr id="41" name="Group 41"/>
            <p:cNvGrpSpPr/>
            <p:nvPr/>
          </p:nvGrpSpPr>
          <p:grpSpPr>
            <a:xfrm>
              <a:off x="9420225" y="2463800"/>
              <a:ext cx="285751" cy="254000"/>
              <a:chOff x="9420225" y="2463800"/>
              <a:chExt cx="285751" cy="254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420225" y="2590800"/>
                <a:ext cx="285751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79375">
                    <a:moveTo>
                      <a:pt x="285751" y="79375"/>
                    </a:moveTo>
                    <a:lnTo>
                      <a:pt x="158750" y="79375"/>
                    </a:lnTo>
                    <a:lnTo>
                      <a:pt x="103188" y="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523492" y="2511425"/>
                <a:ext cx="182483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82483" h="79375">
                    <a:moveTo>
                      <a:pt x="182483" y="0"/>
                    </a:moveTo>
                    <a:lnTo>
                      <a:pt x="55483" y="0"/>
                    </a:lnTo>
                    <a:lnTo>
                      <a:pt x="0" y="79375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658351" y="246380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95250"/>
                    </a:moveTo>
                    <a:lnTo>
                      <a:pt x="47625" y="47625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658351" y="26225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95250"/>
                    </a:moveTo>
                    <a:lnTo>
                      <a:pt x="47625" y="47625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9363456" y="2948940"/>
              <a:ext cx="10175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Fallback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64980" y="3362325"/>
              <a:ext cx="17011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실패 시 다른 모델·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도구·검색으로 전환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76656" y="4610100"/>
            <a:ext cx="10829544" cy="925639"/>
            <a:chOff x="676656" y="4610100"/>
            <a:chExt cx="10829544" cy="925639"/>
          </a:xfrm>
        </p:grpSpPr>
        <p:sp>
          <p:nvSpPr>
            <p:cNvPr id="45" name="Line 45"/>
            <p:cNvSpPr/>
            <p:nvPr/>
          </p:nvSpPr>
          <p:spPr>
            <a:xfrm>
              <a:off x="685800" y="4610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6656" y="4834890"/>
              <a:ext cx="55686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예: Vector Search 실패 → Keyword Search 사용.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7418" y="5213032"/>
              <a:ext cx="77852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안정적인 AI 시스템에서는 생성 능력뿐 아니라 실패 복구 전략이 중요하다.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9" name="Line 4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27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586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6-1 · LangChain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451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구성 요소를 공통 인터페이스로 연결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640263" cy="410718"/>
            <a:chOff x="675132" y="1678305"/>
            <a:chExt cx="1064026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6402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핵심 가치는 LLM 호출 하나가 아니라, 구성 요소를 조합해 앱을 만드는 데 있다.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0" y="2381250"/>
            <a:ext cx="2667000" cy="762000"/>
            <a:chOff x="4762500" y="2381250"/>
            <a:chExt cx="2667000" cy="762000"/>
          </a:xfrm>
        </p:grpSpPr>
        <p:sp>
          <p:nvSpPr>
            <p:cNvPr id="8" name="Rectangle 8"/>
            <p:cNvSpPr/>
            <p:nvPr/>
          </p:nvSpPr>
          <p:spPr>
            <a:xfrm>
              <a:off x="4762500" y="2381250"/>
              <a:ext cx="2667000" cy="7620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78990" y="2630805"/>
              <a:ext cx="14340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LangChain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905000" y="3143250"/>
            <a:ext cx="8382000" cy="933450"/>
            <a:chOff x="1905000" y="3143250"/>
            <a:chExt cx="8382000" cy="933450"/>
          </a:xfrm>
        </p:grpSpPr>
        <p:sp>
          <p:nvSpPr>
            <p:cNvPr id="11" name="Freeform 11"/>
            <p:cNvSpPr/>
            <p:nvPr/>
          </p:nvSpPr>
          <p:spPr>
            <a:xfrm>
              <a:off x="1905000" y="3143250"/>
              <a:ext cx="3429000" cy="933450"/>
            </a:xfrm>
            <a:custGeom>
              <a:avLst/>
              <a:gdLst/>
              <a:ahLst/>
              <a:cxnLst/>
              <a:rect l="l" t="t" r="r" b="b"/>
              <a:pathLst>
                <a:path w="3429000" h="933450">
                  <a:moveTo>
                    <a:pt x="3429000" y="0"/>
                  </a:moveTo>
                  <a:lnTo>
                    <a:pt x="0" y="9334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76750" y="3143250"/>
              <a:ext cx="1238250" cy="933450"/>
            </a:xfrm>
            <a:custGeom>
              <a:avLst/>
              <a:gdLst/>
              <a:ahLst/>
              <a:cxnLst/>
              <a:rect l="l" t="t" r="r" b="b"/>
              <a:pathLst>
                <a:path w="1238250" h="933450">
                  <a:moveTo>
                    <a:pt x="1238250" y="0"/>
                  </a:moveTo>
                  <a:lnTo>
                    <a:pt x="0" y="9334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3143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477000" y="3143250"/>
              <a:ext cx="1238250" cy="933450"/>
            </a:xfrm>
            <a:custGeom>
              <a:avLst/>
              <a:gdLst/>
              <a:ahLst/>
              <a:cxnLst/>
              <a:rect l="l" t="t" r="r" b="b"/>
              <a:pathLst>
                <a:path w="1238250" h="933450">
                  <a:moveTo>
                    <a:pt x="0" y="0"/>
                  </a:moveTo>
                  <a:lnTo>
                    <a:pt x="1238250" y="9334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858000" y="3143250"/>
              <a:ext cx="3429000" cy="933450"/>
            </a:xfrm>
            <a:custGeom>
              <a:avLst/>
              <a:gdLst/>
              <a:ahLst/>
              <a:cxnLst/>
              <a:rect l="l" t="t" r="r" b="b"/>
              <a:pathLst>
                <a:path w="3429000" h="933450">
                  <a:moveTo>
                    <a:pt x="0" y="0"/>
                  </a:moveTo>
                  <a:lnTo>
                    <a:pt x="3429000" y="9334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5800" y="4095750"/>
            <a:ext cx="2286000" cy="1108901"/>
            <a:chOff x="685800" y="4095750"/>
            <a:chExt cx="2286000" cy="1108901"/>
          </a:xfrm>
        </p:grpSpPr>
        <p:sp>
          <p:nvSpPr>
            <p:cNvPr id="17" name="Rectangle 17"/>
            <p:cNvSpPr/>
            <p:nvPr/>
          </p:nvSpPr>
          <p:spPr>
            <a:xfrm>
              <a:off x="685800" y="4095750"/>
              <a:ext cx="2286000" cy="1047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7156" y="43205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모델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9442" y="4712018"/>
              <a:ext cx="1093851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여러 제공자를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유사하게 호출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57550" y="4095750"/>
            <a:ext cx="2286000" cy="1108901"/>
            <a:chOff x="3257550" y="4095750"/>
            <a:chExt cx="2286000" cy="1108901"/>
          </a:xfrm>
        </p:grpSpPr>
        <p:sp>
          <p:nvSpPr>
            <p:cNvPr id="21" name="Rectangle 21"/>
            <p:cNvSpPr/>
            <p:nvPr/>
          </p:nvSpPr>
          <p:spPr>
            <a:xfrm>
              <a:off x="3257550" y="4095750"/>
              <a:ext cx="2286000" cy="1047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38906" y="4320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프롬프트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41192" y="4712018"/>
              <a:ext cx="131673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재사용 가능한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구성 요소로 관리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829300" y="4095750"/>
            <a:ext cx="2286000" cy="1108901"/>
            <a:chOff x="5829300" y="4095750"/>
            <a:chExt cx="2286000" cy="1108901"/>
          </a:xfrm>
        </p:grpSpPr>
        <p:sp>
          <p:nvSpPr>
            <p:cNvPr id="25" name="Rectangle 25"/>
            <p:cNvSpPr/>
            <p:nvPr/>
          </p:nvSpPr>
          <p:spPr>
            <a:xfrm>
              <a:off x="5829300" y="4095750"/>
              <a:ext cx="2286000" cy="1047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10656" y="432054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Retriever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2942" y="4712018"/>
              <a:ext cx="127387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질문 관련 chunk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검색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401050" y="4095750"/>
            <a:ext cx="2286000" cy="1047750"/>
            <a:chOff x="8401050" y="4095750"/>
            <a:chExt cx="2286000" cy="1047750"/>
          </a:xfrm>
        </p:grpSpPr>
        <p:sp>
          <p:nvSpPr>
            <p:cNvPr id="29" name="Rectangle 29"/>
            <p:cNvSpPr/>
            <p:nvPr/>
          </p:nvSpPr>
          <p:spPr>
            <a:xfrm>
              <a:off x="8401050" y="4095750"/>
              <a:ext cx="2286000" cy="1047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82406" y="4320540"/>
              <a:ext cx="5214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84692" y="4712018"/>
              <a:ext cx="1213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외부 기능 호출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401050" y="2381250"/>
            <a:ext cx="3105150" cy="762000"/>
            <a:chOff x="8401050" y="2381250"/>
            <a:chExt cx="3105150" cy="762000"/>
          </a:xfrm>
        </p:grpSpPr>
        <p:sp>
          <p:nvSpPr>
            <p:cNvPr id="33" name="Rectangle 33"/>
            <p:cNvSpPr/>
            <p:nvPr/>
          </p:nvSpPr>
          <p:spPr>
            <a:xfrm>
              <a:off x="8401050" y="2381250"/>
              <a:ext cx="3105150" cy="7620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83168" y="2546032"/>
              <a:ext cx="22011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Structured Output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84692" y="2845118"/>
              <a:ext cx="2423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출력을 JSON/스키마로 제한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7418" y="5600700"/>
            <a:ext cx="10828782" cy="525589"/>
            <a:chOff x="677418" y="5600700"/>
            <a:chExt cx="10828782" cy="525589"/>
          </a:xfrm>
        </p:grpSpPr>
        <p:sp>
          <p:nvSpPr>
            <p:cNvPr id="37" name="Line 37"/>
            <p:cNvSpPr/>
            <p:nvPr/>
          </p:nvSpPr>
          <p:spPr>
            <a:xfrm>
              <a:off x="685800" y="5600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418" y="5803582"/>
              <a:ext cx="81389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비교적 높은 수준의 추상화로, Agent와 다양한 AI 구성 요소를 빠르게 조합한다.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0" name="Line 4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28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1029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6-2 ~ 6-7 · LangChain 구성 요소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902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RAG와 Agent를 재사용 가능한 블록으로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76656" y="1890712"/>
            <a:ext cx="2108675" cy="1364933"/>
            <a:chOff x="676656" y="1890712"/>
            <a:chExt cx="2108675" cy="1364933"/>
          </a:xfrm>
        </p:grpSpPr>
        <p:grpSp>
          <p:nvGrpSpPr>
            <p:cNvPr id="8" name="Group 8"/>
            <p:cNvGrpSpPr/>
            <p:nvPr/>
          </p:nvGrpSpPr>
          <p:grpSpPr>
            <a:xfrm>
              <a:off x="757238" y="1890712"/>
              <a:ext cx="200025" cy="152401"/>
              <a:chOff x="757238" y="1890712"/>
              <a:chExt cx="200025" cy="1524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57238" y="1890712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0"/>
                    </a:moveTo>
                    <a:lnTo>
                      <a:pt x="71438" y="71438"/>
                    </a:lnTo>
                    <a:lnTo>
                      <a:pt x="0" y="142875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1538" y="20335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676656" y="2301240"/>
              <a:ext cx="21086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 Template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2695575"/>
              <a:ext cx="19964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고정 구조에 질문·검색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결과·역할·조건을 삽입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34256" y="1840869"/>
            <a:ext cx="1993255" cy="1414776"/>
            <a:chOff x="4334256" y="1840869"/>
            <a:chExt cx="1993255" cy="1414776"/>
          </a:xfrm>
        </p:grpSpPr>
        <p:grpSp>
          <p:nvGrpSpPr>
            <p:cNvPr id="15" name="Group 15"/>
            <p:cNvGrpSpPr/>
            <p:nvPr/>
          </p:nvGrpSpPr>
          <p:grpSpPr>
            <a:xfrm>
              <a:off x="4400548" y="1840869"/>
              <a:ext cx="235561" cy="242531"/>
              <a:chOff x="4400548" y="1840869"/>
              <a:chExt cx="235561" cy="24253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471988" y="191928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500562" y="1840869"/>
                <a:ext cx="135547" cy="135568"/>
              </a:xfrm>
              <a:custGeom>
                <a:avLst/>
                <a:gdLst/>
                <a:ahLst/>
                <a:cxnLst/>
                <a:rect l="l" t="t" r="r" b="b"/>
                <a:pathLst>
                  <a:path w="135547" h="135568">
                    <a:moveTo>
                      <a:pt x="0" y="35556"/>
                    </a:moveTo>
                    <a:lnTo>
                      <a:pt x="6615" y="27898"/>
                    </a:lnTo>
                    <a:cubicBezTo>
                      <a:pt x="34517" y="0"/>
                      <a:pt x="79751" y="3"/>
                      <a:pt x="107649" y="27905"/>
                    </a:cubicBezTo>
                    <a:cubicBezTo>
                      <a:pt x="135547" y="55807"/>
                      <a:pt x="135544" y="101041"/>
                      <a:pt x="107642" y="128939"/>
                    </a:cubicBezTo>
                    <a:lnTo>
                      <a:pt x="100012" y="135568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400548" y="1947862"/>
                <a:ext cx="128590" cy="135538"/>
              </a:xfrm>
              <a:custGeom>
                <a:avLst/>
                <a:gdLst/>
                <a:ahLst/>
                <a:cxnLst/>
                <a:rect l="l" t="t" r="r" b="b"/>
                <a:pathLst>
                  <a:path w="128590" h="135538">
                    <a:moveTo>
                      <a:pt x="128590" y="100012"/>
                    </a:moveTo>
                    <a:lnTo>
                      <a:pt x="122917" y="107642"/>
                    </a:lnTo>
                    <a:cubicBezTo>
                      <a:pt x="94707" y="135538"/>
                      <a:pt x="49301" y="135538"/>
                      <a:pt x="21090" y="107642"/>
                    </a:cubicBezTo>
                    <a:cubicBezTo>
                      <a:pt x="7595" y="94298"/>
                      <a:pt x="0" y="76108"/>
                      <a:pt x="0" y="57129"/>
                    </a:cubicBezTo>
                    <a:cubicBezTo>
                      <a:pt x="0" y="38149"/>
                      <a:pt x="7595" y="19960"/>
                      <a:pt x="21090" y="6615"/>
                    </a:cubicBezTo>
                    <a:lnTo>
                      <a:pt x="28577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334256" y="2301240"/>
              <a:ext cx="19932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Model Interface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5780" y="2695575"/>
              <a:ext cx="18726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서로 다른 LLM을 유사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하게 호출·교체·비교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991856" y="1833562"/>
            <a:ext cx="3350322" cy="1422083"/>
            <a:chOff x="7991856" y="1833562"/>
            <a:chExt cx="3350322" cy="1422083"/>
          </a:xfrm>
        </p:grpSpPr>
        <p:grpSp>
          <p:nvGrpSpPr>
            <p:cNvPr id="21" name="Group 21"/>
            <p:cNvGrpSpPr/>
            <p:nvPr/>
          </p:nvGrpSpPr>
          <p:grpSpPr>
            <a:xfrm>
              <a:off x="8043862" y="1833562"/>
              <a:ext cx="257175" cy="257175"/>
              <a:chOff x="8043862" y="1833562"/>
              <a:chExt cx="257175" cy="2571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43862" y="183356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15312" y="20050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991856" y="2301240"/>
              <a:ext cx="33503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Loader·Splitter·Retriever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3380" y="2695575"/>
              <a:ext cx="15963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RAG 주요 단계를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재사용 컴포넌트로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6656" y="4015800"/>
            <a:ext cx="1693164" cy="1430595"/>
            <a:chOff x="676656" y="4015800"/>
            <a:chExt cx="1693164" cy="1430595"/>
          </a:xfrm>
        </p:grpSpPr>
        <p:sp>
          <p:nvSpPr>
            <p:cNvPr id="25" name="Freeform 25"/>
            <p:cNvSpPr/>
            <p:nvPr/>
          </p:nvSpPr>
          <p:spPr>
            <a:xfrm>
              <a:off x="720150" y="4015800"/>
              <a:ext cx="270380" cy="270380"/>
            </a:xfrm>
            <a:custGeom>
              <a:avLst/>
              <a:gdLst/>
              <a:ahLst/>
              <a:cxnLst/>
              <a:rect l="l" t="t" r="r" b="b"/>
              <a:pathLst>
                <a:path w="270380" h="270380">
                  <a:moveTo>
                    <a:pt x="65663" y="108525"/>
                  </a:moveTo>
                  <a:lnTo>
                    <a:pt x="108525" y="108525"/>
                  </a:lnTo>
                  <a:lnTo>
                    <a:pt x="108525" y="65663"/>
                  </a:lnTo>
                  <a:lnTo>
                    <a:pt x="58519" y="15656"/>
                  </a:lnTo>
                  <a:cubicBezTo>
                    <a:pt x="91301" y="0"/>
                    <a:pt x="130392" y="6707"/>
                    <a:pt x="156080" y="32395"/>
                  </a:cubicBezTo>
                  <a:cubicBezTo>
                    <a:pt x="181768" y="58084"/>
                    <a:pt x="188475" y="97174"/>
                    <a:pt x="172819" y="129956"/>
                  </a:cubicBezTo>
                  <a:lnTo>
                    <a:pt x="258544" y="215681"/>
                  </a:lnTo>
                  <a:cubicBezTo>
                    <a:pt x="270380" y="227518"/>
                    <a:pt x="270380" y="246708"/>
                    <a:pt x="258544" y="258544"/>
                  </a:cubicBezTo>
                  <a:cubicBezTo>
                    <a:pt x="246708" y="270380"/>
                    <a:pt x="227518" y="270380"/>
                    <a:pt x="215681" y="258544"/>
                  </a:cubicBezTo>
                  <a:lnTo>
                    <a:pt x="129956" y="172819"/>
                  </a:lnTo>
                  <a:cubicBezTo>
                    <a:pt x="97174" y="188475"/>
                    <a:pt x="58084" y="181768"/>
                    <a:pt x="32395" y="156080"/>
                  </a:cubicBezTo>
                  <a:cubicBezTo>
                    <a:pt x="6707" y="130392"/>
                    <a:pt x="0" y="91301"/>
                    <a:pt x="15656" y="58519"/>
                  </a:cubicBezTo>
                  <a:lnTo>
                    <a:pt x="65663" y="108525"/>
                  </a:lnTo>
                </a:path>
              </a:pathLst>
            </a:custGeom>
            <a:noFill/>
            <a:ln w="28575">
              <a:solidFill>
                <a:srgbClr val="2563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656" y="4491990"/>
              <a:ext cx="5214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180" y="4886325"/>
              <a:ext cx="16916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웹 검색·계산기·DB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조회·코드 실행·API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34256" y="4038600"/>
            <a:ext cx="2401246" cy="1407795"/>
            <a:chOff x="4334256" y="4038600"/>
            <a:chExt cx="2401246" cy="1407795"/>
          </a:xfrm>
        </p:grpSpPr>
        <p:grpSp>
          <p:nvGrpSpPr>
            <p:cNvPr id="33" name="Group 33"/>
            <p:cNvGrpSpPr/>
            <p:nvPr/>
          </p:nvGrpSpPr>
          <p:grpSpPr>
            <a:xfrm>
              <a:off x="4414838" y="4038600"/>
              <a:ext cx="214312" cy="242888"/>
              <a:chOff x="4414838" y="4038600"/>
              <a:chExt cx="214312" cy="24288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414838" y="403860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65937" y="228600"/>
                    </a:move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142875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543425" y="42243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471988" y="409575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471988" y="4152900"/>
                <a:ext cx="28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9525">
                    <a:moveTo>
                      <a:pt x="0" y="0"/>
                    </a:moveTo>
                    <a:lnTo>
                      <a:pt x="28575" y="0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4334256" y="4491990"/>
              <a:ext cx="24012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Structured Output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35780" y="4886325"/>
              <a:ext cx="1967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출력을 JSON/스키마에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맞추도록 제한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991856" y="4024312"/>
            <a:ext cx="2036064" cy="1422083"/>
            <a:chOff x="7991856" y="4024312"/>
            <a:chExt cx="2036064" cy="1422083"/>
          </a:xfrm>
        </p:grpSpPr>
        <p:grpSp>
          <p:nvGrpSpPr>
            <p:cNvPr id="39" name="Group 39"/>
            <p:cNvGrpSpPr/>
            <p:nvPr/>
          </p:nvGrpSpPr>
          <p:grpSpPr>
            <a:xfrm>
              <a:off x="8058150" y="4024312"/>
              <a:ext cx="228600" cy="257176"/>
              <a:chOff x="8058150" y="4024312"/>
              <a:chExt cx="228600" cy="25717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058150" y="4024312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128588"/>
                    </a:moveTo>
                    <a:lnTo>
                      <a:pt x="0" y="85725"/>
                    </a:lnTo>
                    <a:cubicBezTo>
                      <a:pt x="0" y="62053"/>
                      <a:pt x="19190" y="42862"/>
                      <a:pt x="42862" y="42862"/>
                    </a:cubicBezTo>
                    <a:lnTo>
                      <a:pt x="228600" y="42862"/>
                    </a:lnTo>
                    <a:moveTo>
                      <a:pt x="185738" y="0"/>
                    </a:moveTo>
                    <a:lnTo>
                      <a:pt x="228600" y="42862"/>
                    </a:lnTo>
                    <a:lnTo>
                      <a:pt x="185738" y="85725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058150" y="415290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228600" y="0"/>
                    </a:moveTo>
                    <a:lnTo>
                      <a:pt x="228600" y="42862"/>
                    </a:lnTo>
                    <a:cubicBezTo>
                      <a:pt x="228600" y="66535"/>
                      <a:pt x="209410" y="85725"/>
                      <a:pt x="185738" y="85725"/>
                    </a:cubicBezTo>
                    <a:lnTo>
                      <a:pt x="0" y="85725"/>
                    </a:lnTo>
                    <a:moveTo>
                      <a:pt x="42862" y="128588"/>
                    </a:moveTo>
                    <a:lnTo>
                      <a:pt x="0" y="85725"/>
                    </a:lnTo>
                    <a:lnTo>
                      <a:pt x="42862" y="42862"/>
                    </a:lnTo>
                  </a:path>
                </a:pathLst>
              </a:custGeom>
              <a:noFill/>
              <a:ln w="28575">
                <a:solidFill>
                  <a:srgbClr val="2563E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991856" y="4491990"/>
              <a:ext cx="1971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Runnable · LCEL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93380" y="4886325"/>
              <a:ext cx="20345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실행 블록을 선언적으로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순차·병렬 연결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77418" y="5638800"/>
            <a:ext cx="10828782" cy="525589"/>
            <a:chOff x="677418" y="5638800"/>
            <a:chExt cx="10828782" cy="525589"/>
          </a:xfrm>
        </p:grpSpPr>
        <p:sp>
          <p:nvSpPr>
            <p:cNvPr id="43" name="Line 43"/>
            <p:cNvSpPr/>
            <p:nvPr/>
          </p:nvSpPr>
          <p:spPr>
            <a:xfrm>
              <a:off x="685800" y="5638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418" y="5841682"/>
              <a:ext cx="75505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복잡한 AI 처리를 재사용 가능한 실행 블록으로 구성하는 것이 핵심이다.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6" name="Line 4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29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780543" cy="1562100"/>
            <a:chOff x="647700" y="2409825"/>
            <a:chExt cx="6780543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78054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스스로 판단하는 시스템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651140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AI Agent · LangGraph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835396" cy="810768"/>
            <a:chOff x="675132" y="4211955"/>
            <a:chExt cx="583539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83539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Agent의 핵심은 「정해진 답변 생성」이 아니라,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「판단 → 행동 → 관찰」의 반복이다.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8078495" cy="694944"/>
            <a:chOff x="676656" y="5292090"/>
            <a:chExt cx="8078495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80784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LangChain이 빠른 조립이라면, LangGraph는 실행 흐름의 세밀한 통제다.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66456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자율성이 늘수록 유연하지만 예측 가능성과 통제는 낮아진다.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055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7-1 · 7-2 · AI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087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판단 → 행동 → 관찰을 반복한다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555630" cy="410718"/>
            <a:chOff x="675132" y="1678305"/>
            <a:chExt cx="1055563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5556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Agent는 다음 행동을 선택하고, Tool을 실행한 뒤 결과를 확인하고 다시 판단한다.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000" y="2438400"/>
            <a:ext cx="3619500" cy="838200"/>
            <a:chOff x="1143000" y="2438400"/>
            <a:chExt cx="3619500" cy="838200"/>
          </a:xfrm>
        </p:grpSpPr>
        <p:sp>
          <p:nvSpPr>
            <p:cNvPr id="8" name="Rectangle 8"/>
            <p:cNvSpPr/>
            <p:nvPr/>
          </p:nvSpPr>
          <p:spPr>
            <a:xfrm>
              <a:off x="1143000" y="2438400"/>
              <a:ext cx="3619500" cy="8382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64742" y="26736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2456" y="2834640"/>
              <a:ext cx="1865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Observe — 관찰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75404" y="3351848"/>
            <a:ext cx="164192" cy="381381"/>
            <a:chOff x="2775404" y="3351848"/>
            <a:chExt cx="164192" cy="381381"/>
          </a:xfrm>
        </p:grpSpPr>
        <p:sp>
          <p:nvSpPr>
            <p:cNvPr id="12" name="TextBox 12"/>
            <p:cNvSpPr txBox="1"/>
            <p:nvPr/>
          </p:nvSpPr>
          <p:spPr>
            <a:xfrm>
              <a:off x="2775404" y="3351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3000" y="3676650"/>
            <a:ext cx="3619500" cy="838200"/>
            <a:chOff x="1143000" y="3676650"/>
            <a:chExt cx="3619500" cy="838200"/>
          </a:xfrm>
        </p:grpSpPr>
        <p:sp>
          <p:nvSpPr>
            <p:cNvPr id="14" name="Rectangle 14"/>
            <p:cNvSpPr/>
            <p:nvPr/>
          </p:nvSpPr>
          <p:spPr>
            <a:xfrm>
              <a:off x="1143000" y="3676650"/>
              <a:ext cx="3619500" cy="8382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64742" y="39119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62456" y="4072890"/>
              <a:ext cx="27535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Reason / Decide — 판단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775404" y="4590098"/>
            <a:ext cx="164192" cy="381381"/>
            <a:chOff x="2775404" y="4590098"/>
            <a:chExt cx="164192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2775404" y="45900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↓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" y="4914900"/>
            <a:ext cx="3619500" cy="838200"/>
            <a:chOff x="1143000" y="4914900"/>
            <a:chExt cx="3619500" cy="838200"/>
          </a:xfrm>
        </p:grpSpPr>
        <p:sp>
          <p:nvSpPr>
            <p:cNvPr id="20" name="Rectangle 20"/>
            <p:cNvSpPr/>
            <p:nvPr/>
          </p:nvSpPr>
          <p:spPr>
            <a:xfrm>
              <a:off x="1143000" y="4914900"/>
              <a:ext cx="3619500" cy="8382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64742" y="51501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62456" y="5311140"/>
              <a:ext cx="2720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Act — 행동 (Tool 실행)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12502" y="2800350"/>
            <a:ext cx="630498" cy="2533650"/>
            <a:chOff x="512502" y="2800350"/>
            <a:chExt cx="630498" cy="2533650"/>
          </a:xfrm>
        </p:grpSpPr>
        <p:sp>
          <p:nvSpPr>
            <p:cNvPr id="24" name="Freeform 24"/>
            <p:cNvSpPr/>
            <p:nvPr/>
          </p:nvSpPr>
          <p:spPr>
            <a:xfrm>
              <a:off x="838200" y="2857500"/>
              <a:ext cx="304800" cy="2476500"/>
            </a:xfrm>
            <a:custGeom>
              <a:avLst/>
              <a:gdLst/>
              <a:ahLst/>
              <a:cxnLst/>
              <a:rect l="l" t="t" r="r" b="b"/>
              <a:pathLst>
                <a:path w="304800" h="2476500">
                  <a:moveTo>
                    <a:pt x="304800" y="2476500"/>
                  </a:moveTo>
                  <a:lnTo>
                    <a:pt x="0" y="2476500"/>
                  </a:lnTo>
                  <a:lnTo>
                    <a:pt x="0" y="0"/>
                  </a:lnTo>
                  <a:lnTo>
                    <a:pt x="30480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66800" y="2800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 rot="-5400000">
              <a:off x="512502" y="3963734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반복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0" y="2381250"/>
            <a:ext cx="9525" cy="3409950"/>
            <a:chOff x="5715000" y="2381250"/>
            <a:chExt cx="9525" cy="3409950"/>
          </a:xfrm>
        </p:grpSpPr>
        <p:sp>
          <p:nvSpPr>
            <p:cNvPr id="28" name="Line 28"/>
            <p:cNvSpPr/>
            <p:nvPr/>
          </p:nvSpPr>
          <p:spPr>
            <a:xfrm>
              <a:off x="5715000" y="2381250"/>
              <a:ext cx="9525" cy="3409950"/>
            </a:xfrm>
            <a:custGeom>
              <a:avLst/>
              <a:gdLst/>
              <a:ahLst/>
              <a:cxnLst/>
              <a:rect l="l" t="t" r="r" b="b"/>
              <a:pathLst>
                <a:path w="9525" h="3409950">
                  <a:moveTo>
                    <a:pt x="0" y="0"/>
                  </a:moveTo>
                  <a:lnTo>
                    <a:pt x="0" y="34099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277356" y="2571750"/>
            <a:ext cx="5326380" cy="614934"/>
            <a:chOff x="6277356" y="2571750"/>
            <a:chExt cx="5326380" cy="614934"/>
          </a:xfrm>
        </p:grpSpPr>
        <p:sp>
          <p:nvSpPr>
            <p:cNvPr id="30" name="Line 30"/>
            <p:cNvSpPr/>
            <p:nvPr/>
          </p:nvSpPr>
          <p:spPr>
            <a:xfrm>
              <a:off x="6286500" y="25717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77356" y="2834640"/>
              <a:ext cx="53263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 실행 결과가 다시 다음 판단의 입력이 된다.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77356" y="3905250"/>
            <a:ext cx="5228844" cy="938784"/>
            <a:chOff x="6277356" y="3905250"/>
            <a:chExt cx="5228844" cy="938784"/>
          </a:xfrm>
        </p:grpSpPr>
        <p:sp>
          <p:nvSpPr>
            <p:cNvPr id="33" name="Line 33"/>
            <p:cNvSpPr/>
            <p:nvPr/>
          </p:nvSpPr>
          <p:spPr>
            <a:xfrm>
              <a:off x="6286500" y="3905250"/>
              <a:ext cx="5219700" cy="9525"/>
            </a:xfrm>
            <a:custGeom>
              <a:avLst/>
              <a:gdLst/>
              <a:ahLst/>
              <a:cxnLst/>
              <a:rect l="l" t="t" r="r" b="b"/>
              <a:pathLst>
                <a:path w="5219700" h="9525">
                  <a:moveTo>
                    <a:pt x="0" y="0"/>
                  </a:moveTo>
                  <a:lnTo>
                    <a:pt x="52197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7356" y="4168140"/>
              <a:ext cx="361873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한 번의 LLM 호출이 아니라,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여러 번의 판단과 행동이 연결된다.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6" name="Line 3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31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43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7-3 · 7-4 · Planning &amp; Tool Calling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71448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목표를 하위 작업으로 나누고 도구를 부른다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028620" cy="410718"/>
            <a:chOff x="675132" y="1678305"/>
            <a:chExt cx="1002862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0286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Planning은 복잡한 목표를 여러 하위 작업으로 나누고 순서를 정하는 과정이다.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191000" y="2286000"/>
            <a:ext cx="3810000" cy="666750"/>
            <a:chOff x="4191000" y="2286000"/>
            <a:chExt cx="3810000" cy="666750"/>
          </a:xfrm>
        </p:grpSpPr>
        <p:sp>
          <p:nvSpPr>
            <p:cNvPr id="8" name="Rectangle 8"/>
            <p:cNvSpPr/>
            <p:nvPr/>
          </p:nvSpPr>
          <p:spPr>
            <a:xfrm>
              <a:off x="4191000" y="2286000"/>
              <a:ext cx="3810000" cy="66675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827419" y="2501265"/>
              <a:ext cx="2537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시장 분석 보고서 작성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14500" y="2952750"/>
            <a:ext cx="8763000" cy="590550"/>
            <a:chOff x="1714500" y="2952750"/>
            <a:chExt cx="8763000" cy="590550"/>
          </a:xfrm>
        </p:grpSpPr>
        <p:sp>
          <p:nvSpPr>
            <p:cNvPr id="11" name="Freeform 11"/>
            <p:cNvSpPr/>
            <p:nvPr/>
          </p:nvSpPr>
          <p:spPr>
            <a:xfrm>
              <a:off x="1714500" y="2952750"/>
              <a:ext cx="8763000" cy="590550"/>
            </a:xfrm>
            <a:custGeom>
              <a:avLst/>
              <a:gdLst/>
              <a:ahLst/>
              <a:cxnLst/>
              <a:rect l="l" t="t" r="r" b="b"/>
              <a:pathLst>
                <a:path w="8763000" h="590550">
                  <a:moveTo>
                    <a:pt x="4381500" y="0"/>
                  </a:moveTo>
                  <a:lnTo>
                    <a:pt x="4381500" y="285750"/>
                  </a:lnTo>
                  <a:moveTo>
                    <a:pt x="0" y="285750"/>
                  </a:moveTo>
                  <a:lnTo>
                    <a:pt x="8763000" y="285750"/>
                  </a:lnTo>
                  <a:moveTo>
                    <a:pt x="0" y="285750"/>
                  </a:moveTo>
                  <a:lnTo>
                    <a:pt x="0" y="590550"/>
                  </a:lnTo>
                  <a:moveTo>
                    <a:pt x="2190750" y="285750"/>
                  </a:moveTo>
                  <a:lnTo>
                    <a:pt x="2190750" y="590550"/>
                  </a:lnTo>
                  <a:moveTo>
                    <a:pt x="4381500" y="285750"/>
                  </a:moveTo>
                  <a:lnTo>
                    <a:pt x="4381500" y="590550"/>
                  </a:lnTo>
                  <a:moveTo>
                    <a:pt x="6572250" y="285750"/>
                  </a:moveTo>
                  <a:lnTo>
                    <a:pt x="6572250" y="590550"/>
                  </a:lnTo>
                  <a:moveTo>
                    <a:pt x="8763000" y="285750"/>
                  </a:moveTo>
                  <a:lnTo>
                    <a:pt x="8763000" y="5905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762000" y="3543300"/>
            <a:ext cx="1905000" cy="914400"/>
            <a:chOff x="762000" y="3543300"/>
            <a:chExt cx="1905000" cy="914400"/>
          </a:xfrm>
        </p:grpSpPr>
        <p:sp>
          <p:nvSpPr>
            <p:cNvPr id="13" name="Rectangle 13"/>
            <p:cNvSpPr/>
            <p:nvPr/>
          </p:nvSpPr>
          <p:spPr>
            <a:xfrm>
              <a:off x="762000" y="3543300"/>
              <a:ext cx="1905000" cy="914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28554" y="3898582"/>
              <a:ext cx="971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자료 검색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52750" y="3543300"/>
            <a:ext cx="1905000" cy="914400"/>
            <a:chOff x="2952750" y="3543300"/>
            <a:chExt cx="1905000" cy="914400"/>
          </a:xfrm>
        </p:grpSpPr>
        <p:sp>
          <p:nvSpPr>
            <p:cNvPr id="16" name="Rectangle 16"/>
            <p:cNvSpPr/>
            <p:nvPr/>
          </p:nvSpPr>
          <p:spPr>
            <a:xfrm>
              <a:off x="2952750" y="3543300"/>
              <a:ext cx="1905000" cy="914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08242" y="3898582"/>
              <a:ext cx="1194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경쟁사 분석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43500" y="3543300"/>
            <a:ext cx="1905000" cy="914400"/>
            <a:chOff x="5143500" y="3543300"/>
            <a:chExt cx="1905000" cy="914400"/>
          </a:xfrm>
        </p:grpSpPr>
        <p:sp>
          <p:nvSpPr>
            <p:cNvPr id="19" name="Rectangle 19"/>
            <p:cNvSpPr/>
            <p:nvPr/>
          </p:nvSpPr>
          <p:spPr>
            <a:xfrm>
              <a:off x="5143500" y="3543300"/>
              <a:ext cx="1905000" cy="914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98992" y="3898582"/>
              <a:ext cx="1194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데이터 정리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34250" y="3543300"/>
            <a:ext cx="1905000" cy="914400"/>
            <a:chOff x="7334250" y="3543300"/>
            <a:chExt cx="1905000" cy="914400"/>
          </a:xfrm>
        </p:grpSpPr>
        <p:sp>
          <p:nvSpPr>
            <p:cNvPr id="22" name="Rectangle 22"/>
            <p:cNvSpPr/>
            <p:nvPr/>
          </p:nvSpPr>
          <p:spPr>
            <a:xfrm>
              <a:off x="7334250" y="3543300"/>
              <a:ext cx="1905000" cy="914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0804" y="3898582"/>
              <a:ext cx="9718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초안 작성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0" y="3543300"/>
            <a:ext cx="1905000" cy="914400"/>
            <a:chOff x="9525000" y="3543300"/>
            <a:chExt cx="1905000" cy="914400"/>
          </a:xfrm>
        </p:grpSpPr>
        <p:sp>
          <p:nvSpPr>
            <p:cNvPr id="25" name="Rectangle 25"/>
            <p:cNvSpPr/>
            <p:nvPr/>
          </p:nvSpPr>
          <p:spPr>
            <a:xfrm>
              <a:off x="9525000" y="3543300"/>
              <a:ext cx="1905000" cy="9144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46995" y="38985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검증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7418" y="4914900"/>
            <a:ext cx="10828782" cy="1173289"/>
            <a:chOff x="677418" y="4914900"/>
            <a:chExt cx="10828782" cy="1173289"/>
          </a:xfrm>
        </p:grpSpPr>
        <p:sp>
          <p:nvSpPr>
            <p:cNvPr id="28" name="Line 28"/>
            <p:cNvSpPr/>
            <p:nvPr/>
          </p:nvSpPr>
          <p:spPr>
            <a:xfrm>
              <a:off x="685800" y="4914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7418" y="5117782"/>
              <a:ext cx="33221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Calling / Function Calling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7418" y="5441632"/>
              <a:ext cx="70136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필요한 도구를 선택해 호출 · 함수명·인수를 구조화해 프로그램과 연결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418" y="5765482"/>
              <a:ext cx="82311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검색·계산·DB 조회처럼 LLM 자체만으로 어려운 작업을 외부 시스템에 맡긴다.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3" name="Line 3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32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823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7-5 · 7-6 · ReAct · Planner–Executor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998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판단과 행동을 어떻게 엮을 것인가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1400252" cy="410718"/>
            <a:chOff x="675132" y="1678305"/>
            <a:chExt cx="1140025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14002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ReAct는 생각과 행동을 번갈아 반복하고, Planner–Executor는 계획과 실행을 분리한다.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5132" y="2514600"/>
            <a:ext cx="5192268" cy="2392489"/>
            <a:chOff x="675132" y="2514600"/>
            <a:chExt cx="5192268" cy="2392489"/>
          </a:xfrm>
        </p:grpSpPr>
        <p:sp>
          <p:nvSpPr>
            <p:cNvPr id="8" name="Line 8"/>
            <p:cNvSpPr/>
            <p:nvPr/>
          </p:nvSpPr>
          <p:spPr>
            <a:xfrm>
              <a:off x="685800" y="25146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132" y="2745105"/>
              <a:ext cx="856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ReAct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7418" y="3212782"/>
              <a:ext cx="20085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Reasoning + Acting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3653790"/>
              <a:ext cx="361873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상황을 바탕으로 다음 행동을 선택,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Tool 결과를 관찰한 뒤 다시 결정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7418" y="4584382"/>
              <a:ext cx="3223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생각 → 행동 → 관찰 → 다시 판단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0" y="2514600"/>
            <a:ext cx="9525" cy="2628900"/>
            <a:chOff x="6096000" y="2514600"/>
            <a:chExt cx="9525" cy="2628900"/>
          </a:xfrm>
        </p:grpSpPr>
        <p:sp>
          <p:nvSpPr>
            <p:cNvPr id="14" name="Line 14"/>
            <p:cNvSpPr/>
            <p:nvPr/>
          </p:nvSpPr>
          <p:spPr>
            <a:xfrm>
              <a:off x="6096000" y="2514600"/>
              <a:ext cx="9525" cy="2628900"/>
            </a:xfrm>
            <a:custGeom>
              <a:avLst/>
              <a:gdLst/>
              <a:ahLst/>
              <a:cxnLst/>
              <a:rect l="l" t="t" r="r" b="b"/>
              <a:pathLst>
                <a:path w="9525" h="2628900">
                  <a:moveTo>
                    <a:pt x="0" y="0"/>
                  </a:moveTo>
                  <a:lnTo>
                    <a:pt x="0" y="2628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313932" y="2514600"/>
            <a:ext cx="5192268" cy="1891284"/>
            <a:chOff x="6313932" y="2514600"/>
            <a:chExt cx="5192268" cy="1891284"/>
          </a:xfrm>
        </p:grpSpPr>
        <p:sp>
          <p:nvSpPr>
            <p:cNvPr id="16" name="Line 16"/>
            <p:cNvSpPr/>
            <p:nvPr/>
          </p:nvSpPr>
          <p:spPr>
            <a:xfrm>
              <a:off x="6324600" y="25146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13932" y="2745105"/>
              <a:ext cx="2578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Planner–Executor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218" y="3212782"/>
              <a:ext cx="1927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계획과 실행의 분리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15456" y="3653790"/>
              <a:ext cx="4647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Planner — 전체 목표를 하위 과업으로 분해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15456" y="4053840"/>
              <a:ext cx="42278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Executor — 검색·도구 호출·생성 수행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7418" y="5524500"/>
            <a:ext cx="10828782" cy="525589"/>
            <a:chOff x="677418" y="5524500"/>
            <a:chExt cx="10828782" cy="525589"/>
          </a:xfrm>
        </p:grpSpPr>
        <p:sp>
          <p:nvSpPr>
            <p:cNvPr id="22" name="Line 22"/>
            <p:cNvSpPr/>
            <p:nvPr/>
          </p:nvSpPr>
          <p:spPr>
            <a:xfrm>
              <a:off x="685800" y="552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418" y="5727382"/>
              <a:ext cx="7246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계획과 실행을 분리하면 복잡한 작업의 구조를 더 명확하게 만들 수 있다.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33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41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7-7 · 7-8 · Reflection · Human-in-the-Loop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141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스스로 고치되, 위험한 행동은 사람이 확인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166594" cy="410718"/>
            <a:chOff x="675132" y="1678305"/>
            <a:chExt cx="816659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166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Reflection은 평가 기준을 갖고 자기 결과를 수정하는 과정이다.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5894" y="2304098"/>
            <a:ext cx="6593129" cy="1802891"/>
            <a:chOff x="675894" y="2304098"/>
            <a:chExt cx="6593129" cy="1802891"/>
          </a:xfrm>
        </p:grpSpPr>
        <p:sp>
          <p:nvSpPr>
            <p:cNvPr id="8" name="TextBox 8"/>
            <p:cNvSpPr txBox="1"/>
            <p:nvPr/>
          </p:nvSpPr>
          <p:spPr>
            <a:xfrm>
              <a:off x="675894" y="2304098"/>
              <a:ext cx="38782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Reflection · Self-Correction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685800" y="2762250"/>
              <a:ext cx="1714500" cy="685800"/>
              <a:chOff x="685800" y="2762250"/>
              <a:chExt cx="1714500" cy="6858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85800" y="2762250"/>
                <a:ext cx="1714500" cy="6858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12545" y="2993708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생성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523744" y="296132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2857500" y="2762250"/>
              <a:ext cx="1714500" cy="685800"/>
              <a:chOff x="2857500" y="2762250"/>
              <a:chExt cx="1714500" cy="6858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2857500" y="2762250"/>
                <a:ext cx="1714500" cy="6858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484245" y="2993708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평가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695444" y="2961322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5029200" y="2762250"/>
              <a:ext cx="1714500" cy="685800"/>
              <a:chOff x="5029200" y="2762250"/>
              <a:chExt cx="1714500" cy="685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029200" y="2762250"/>
                <a:ext cx="1714500" cy="6858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644839" y="2993708"/>
                <a:ext cx="4832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수정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77418" y="3784282"/>
              <a:ext cx="6591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부족한 근거·오류·형식 문제를 찾아 수정 — 단순 재생성이 아니다.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5894" y="4419600"/>
            <a:ext cx="10830306" cy="1655445"/>
            <a:chOff x="675894" y="4419600"/>
            <a:chExt cx="10830306" cy="1655445"/>
          </a:xfrm>
        </p:grpSpPr>
        <p:sp>
          <p:nvSpPr>
            <p:cNvPr id="22" name="Line 22"/>
            <p:cNvSpPr/>
            <p:nvPr/>
          </p:nvSpPr>
          <p:spPr>
            <a:xfrm>
              <a:off x="685800" y="4419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5894" y="4628198"/>
              <a:ext cx="260394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Human-in-the-Loop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418" y="5041582"/>
              <a:ext cx="57697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되돌리기 어려운 행동은 특정 단계에서 사람이 확인·승인: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418" y="5422582"/>
              <a:ext cx="4564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이메일 발송 · 평가 결과 확정 · 데이터 삭제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8180" y="5781675"/>
              <a:ext cx="5406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Agent의 자율성과 인간의 통제를 균형 있게 설계하는 방식.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8" name="Line 2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34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629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8-1 · LangGraph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9121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상태를 가진 Workflow를 그래프로 설계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997427" cy="410718"/>
            <a:chOff x="675132" y="1678305"/>
            <a:chExt cx="999742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9974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LangChain이 빠른 조립이라면, LangGraph는 실행 흐름을 세밀하게 통제한다.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656" y="2548890"/>
            <a:ext cx="5038344" cy="2447544"/>
            <a:chOff x="676656" y="2548890"/>
            <a:chExt cx="5038344" cy="2447544"/>
          </a:xfrm>
        </p:grpSpPr>
        <p:sp>
          <p:nvSpPr>
            <p:cNvPr id="8" name="TextBox 8"/>
            <p:cNvSpPr txBox="1"/>
            <p:nvPr/>
          </p:nvSpPr>
          <p:spPr>
            <a:xfrm>
              <a:off x="676656" y="2548890"/>
              <a:ext cx="39387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Node와 Edge로 실행 흐름을 표현하고,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State를 통해 정보를 공유한다.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685800" y="37338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6656" y="3958590"/>
              <a:ext cx="4178808" cy="1037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반복 · 조건 분기 · 장기 실행 ·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Human-in-the-Loop 같은 복잡한 구조를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명시적으로 표현하는 데 적합하다.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0" y="2286000"/>
            <a:ext cx="4572000" cy="3619500"/>
            <a:chOff x="6667500" y="2286000"/>
            <a:chExt cx="4572000" cy="3619500"/>
          </a:xfrm>
        </p:grpSpPr>
        <p:sp>
          <p:nvSpPr>
            <p:cNvPr id="12" name="Line 12"/>
            <p:cNvSpPr/>
            <p:nvPr/>
          </p:nvSpPr>
          <p:spPr>
            <a:xfrm>
              <a:off x="66675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0" y="2476500"/>
              <a:ext cx="2095500" cy="6096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03461" y="2679382"/>
              <a:ext cx="7095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Node A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858250" y="30861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801100" y="3409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0" y="3524250"/>
              <a:ext cx="2095500" cy="6096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03461" y="3727132"/>
              <a:ext cx="7095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Node B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858250" y="41338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14288">
              <a:solidFill>
                <a:srgbClr val="2563EB"/>
              </a:solidFill>
              <a:custDash>
                <a:ds d="400000" sp="266666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8801100" y="44577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04554" y="4271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2563EB"/>
                  </a:solidFill>
                  <a:latin typeface="Pretendard"/>
                  <a:ea typeface="Pretendard"/>
                  <a:cs typeface="Pretendard"/>
                </a:rPr>
                <a:t>조건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4572000"/>
              <a:ext cx="2095500" cy="60960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86141" y="4774882"/>
              <a:ext cx="7442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Node C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048500" y="2781300"/>
              <a:ext cx="762000" cy="2095500"/>
            </a:xfrm>
            <a:custGeom>
              <a:avLst/>
              <a:gdLst/>
              <a:ahLst/>
              <a:cxnLst/>
              <a:rect l="l" t="t" r="r" b="b"/>
              <a:pathLst>
                <a:path w="762000" h="2095500">
                  <a:moveTo>
                    <a:pt x="762000" y="2095500"/>
                  </a:moveTo>
                  <a:cubicBezTo>
                    <a:pt x="0" y="2095500"/>
                    <a:pt x="0" y="0"/>
                    <a:pt x="714375" y="0"/>
                  </a:cubicBez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667625" y="2724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 rot="5400000">
              <a:off x="9690080" y="4143268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State 공유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382250" y="3143250"/>
              <a:ext cx="857250" cy="1714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  <a:prstDash val="dash"/>
            </a:ln>
          </p:spPr>
        </p:sp>
        <p:sp>
          <p:nvSpPr>
            <p:cNvPr id="28" name="TextBox 28"/>
            <p:cNvSpPr txBox="1"/>
            <p:nvPr/>
          </p:nvSpPr>
          <p:spPr>
            <a:xfrm rot="-5400000">
              <a:off x="10537584" y="3925634"/>
              <a:ext cx="5191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State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0" name="Line 3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35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785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8-2 ~ 8-4 · Node · Edge · StateGraph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8624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각 Node가 State를 읽고 수정한다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320576" cy="410718"/>
            <a:chOff x="675132" y="1678305"/>
            <a:chExt cx="832057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3205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StateGraph는 State를 중심으로 여러 Node와 Edge를 연결한다.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3000" y="2438400"/>
            <a:ext cx="9906000" cy="2266950"/>
            <a:chOff x="1143000" y="2438400"/>
            <a:chExt cx="9906000" cy="2266950"/>
          </a:xfrm>
        </p:grpSpPr>
        <p:sp>
          <p:nvSpPr>
            <p:cNvPr id="8" name="Rectangle 8"/>
            <p:cNvSpPr/>
            <p:nvPr/>
          </p:nvSpPr>
          <p:spPr>
            <a:xfrm>
              <a:off x="5048250" y="3143250"/>
              <a:ext cx="2095500" cy="85725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702806" y="3428048"/>
              <a:ext cx="786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State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143000" y="2438400"/>
              <a:ext cx="1905000" cy="666750"/>
              <a:chOff x="1143000" y="2438400"/>
              <a:chExt cx="1905000" cy="666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1143000" y="24384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600124" y="2660332"/>
                <a:ext cx="99075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LLM 호출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143000" y="4038600"/>
              <a:ext cx="1905000" cy="666750"/>
              <a:chOff x="1143000" y="4038600"/>
              <a:chExt cx="1905000" cy="666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143000" y="40386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864995" y="42605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검색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9144000" y="2438400"/>
              <a:ext cx="1905000" cy="666750"/>
              <a:chOff x="9144000" y="2438400"/>
              <a:chExt cx="1905000" cy="666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9144000" y="24384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865995" y="26603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평가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144000" y="4038600"/>
              <a:ext cx="1905000" cy="666750"/>
              <a:chOff x="9144000" y="4038600"/>
              <a:chExt cx="1905000" cy="6667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9144000" y="40386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610554" y="4260532"/>
                <a:ext cx="9718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사람 승인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048000" y="2771775"/>
              <a:ext cx="6096000" cy="1600200"/>
              <a:chOff x="3048000" y="2771775"/>
              <a:chExt cx="6096000" cy="16002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048000" y="2771775"/>
                <a:ext cx="1952625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1952625" h="561975">
                    <a:moveTo>
                      <a:pt x="0" y="0"/>
                    </a:moveTo>
                    <a:lnTo>
                      <a:pt x="1952625" y="561975"/>
                    </a:lnTo>
                  </a:path>
                </a:pathLst>
              </a:custGeom>
              <a:noFill/>
              <a:ln w="14288">
                <a:solidFill>
                  <a:srgbClr val="94A0A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048000" y="3810000"/>
                <a:ext cx="1952625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1952625" h="561975">
                    <a:moveTo>
                      <a:pt x="0" y="561975"/>
                    </a:moveTo>
                    <a:lnTo>
                      <a:pt x="1952625" y="0"/>
                    </a:lnTo>
                  </a:path>
                </a:pathLst>
              </a:custGeom>
              <a:noFill/>
              <a:ln w="14288">
                <a:solidFill>
                  <a:srgbClr val="94A0A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191375" y="2771775"/>
                <a:ext cx="1952625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1952625" h="561975">
                    <a:moveTo>
                      <a:pt x="0" y="561975"/>
                    </a:moveTo>
                    <a:lnTo>
                      <a:pt x="1952625" y="0"/>
                    </a:lnTo>
                  </a:path>
                </a:pathLst>
              </a:custGeom>
              <a:noFill/>
              <a:ln w="14288">
                <a:solidFill>
                  <a:srgbClr val="2563EB"/>
                </a:solidFill>
                <a:custDash>
                  <a:ds d="400000" sp="266666"/>
                </a:custDash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191375" y="3810000"/>
                <a:ext cx="1952625" cy="561975"/>
              </a:xfrm>
              <a:custGeom>
                <a:avLst/>
                <a:gdLst/>
                <a:ahLst/>
                <a:cxnLst/>
                <a:rect l="l" t="t" r="r" b="b"/>
                <a:pathLst>
                  <a:path w="1952625" h="561975">
                    <a:moveTo>
                      <a:pt x="0" y="0"/>
                    </a:moveTo>
                    <a:lnTo>
                      <a:pt x="1952625" y="561975"/>
                    </a:lnTo>
                  </a:path>
                </a:pathLst>
              </a:custGeom>
              <a:noFill/>
              <a:ln w="14288">
                <a:solidFill>
                  <a:srgbClr val="2563EB"/>
                </a:solidFill>
                <a:custDash>
                  <a:ds d="400000" sp="266666"/>
                </a:custDash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994404" y="2880360"/>
              <a:ext cx="749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일반 Edge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09154" y="2880360"/>
              <a:ext cx="1281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2563EB"/>
                  </a:solidFill>
                  <a:latin typeface="Pretendard"/>
                  <a:ea typeface="Pretendard"/>
                  <a:cs typeface="Pretendard"/>
                </a:rPr>
                <a:t>Conditional Edge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8180" y="5143500"/>
            <a:ext cx="10828020" cy="1122045"/>
            <a:chOff x="678180" y="5143500"/>
            <a:chExt cx="10828020" cy="1122045"/>
          </a:xfrm>
        </p:grpSpPr>
        <p:sp>
          <p:nvSpPr>
            <p:cNvPr id="30" name="Line 30"/>
            <p:cNvSpPr/>
            <p:nvPr/>
          </p:nvSpPr>
          <p:spPr>
            <a:xfrm>
              <a:off x="685800" y="5143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8180" y="5362575"/>
              <a:ext cx="7546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Node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— 하나의 작업(LLM 호출·검색·평가·Tool·사람 승인)을 수행하는 실행 단위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180" y="5667375"/>
              <a:ext cx="7390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Edge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— 일반 Edge는 정해진 다음 단계, Conditional Edge는 State를 평가해 분기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8180" y="5972175"/>
              <a:ext cx="5615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StateGraph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— 프로그램의 현재 진행 상황을 명시적으로 관리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5" name="Line 3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36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834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8-5 ~ 8-8 · 반복 · 중단 · 복구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이전 단계로 돌아가고, 중단돼도 이어진다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7418673" cy="410718"/>
            <a:chOff x="675132" y="1678305"/>
            <a:chExt cx="741867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74186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Cyclic Graph는 이전 단계로 되돌아가는 반복을 허용한다.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85850" y="2362200"/>
            <a:ext cx="6724650" cy="918401"/>
            <a:chOff x="1085850" y="2362200"/>
            <a:chExt cx="6724650" cy="918401"/>
          </a:xfrm>
        </p:grpSpPr>
        <p:grpSp>
          <p:nvGrpSpPr>
            <p:cNvPr id="10" name="Group 10"/>
            <p:cNvGrpSpPr/>
            <p:nvPr/>
          </p:nvGrpSpPr>
          <p:grpSpPr>
            <a:xfrm>
              <a:off x="1143000" y="2362200"/>
              <a:ext cx="1714500" cy="609600"/>
              <a:chOff x="1143000" y="2362200"/>
              <a:chExt cx="1714500" cy="6096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143000" y="2362200"/>
                <a:ext cx="1714500" cy="6096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769745" y="25650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검색</a:t>
                </a: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2999994" y="2532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3333750" y="2362200"/>
              <a:ext cx="1714500" cy="609600"/>
              <a:chOff x="3333750" y="2362200"/>
              <a:chExt cx="1714500" cy="6096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333750" y="2362200"/>
                <a:ext cx="1714500" cy="6096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960495" y="25650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답변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190744" y="2532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524500" y="2362200"/>
              <a:ext cx="1714500" cy="609600"/>
              <a:chOff x="5524500" y="2362200"/>
              <a:chExt cx="1714500" cy="6096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5524500" y="2362200"/>
                <a:ext cx="1714500" cy="6096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151245" y="256508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평가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1143000" y="2819400"/>
              <a:ext cx="6667500" cy="419100"/>
            </a:xfrm>
            <a:custGeom>
              <a:avLst/>
              <a:gdLst/>
              <a:ahLst/>
              <a:cxnLst/>
              <a:rect l="l" t="t" r="r" b="b"/>
              <a:pathLst>
                <a:path w="6667500" h="419100">
                  <a:moveTo>
                    <a:pt x="6096000" y="0"/>
                  </a:moveTo>
                  <a:lnTo>
                    <a:pt x="6667500" y="0"/>
                  </a:lnTo>
                  <a:lnTo>
                    <a:pt x="6667500" y="419100"/>
                  </a:lnTo>
                  <a:lnTo>
                    <a:pt x="0" y="419100"/>
                  </a:ln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2563EB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85850" y="30099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73385" y="3016568"/>
              <a:ext cx="14067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부족하면 재검색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77418" y="3733800"/>
            <a:ext cx="10828782" cy="2512695"/>
            <a:chOff x="677418" y="3733800"/>
            <a:chExt cx="10828782" cy="2512695"/>
          </a:xfrm>
        </p:grpSpPr>
        <p:sp>
          <p:nvSpPr>
            <p:cNvPr id="23" name="Line 23"/>
            <p:cNvSpPr/>
            <p:nvPr/>
          </p:nvSpPr>
          <p:spPr>
            <a:xfrm>
              <a:off x="685800" y="3733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7418" y="3974782"/>
              <a:ext cx="28774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Checkpoint · Persistence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180" y="4314825"/>
              <a:ext cx="5927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특정 시점의 State를 저장하고, 여러 실행 사이에서도 유지한다.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7418" y="4793932"/>
              <a:ext cx="2213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Interrupt · Resume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180" y="5133975"/>
              <a:ext cx="6285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특정 지점에서 멈추고, 사람의 입력·승인 후 그 지점부터 재실행한다.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7418" y="5613082"/>
              <a:ext cx="20367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Durable Execution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8180" y="5953125"/>
              <a:ext cx="5943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장시간 Workflow가 일시적 오류·중단에도 복구되도록 설계한다.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1" name="Line 3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37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9908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8-9 · LangChain vs LangGraph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3787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경쟁이 아니라 서로 다른 추상화 수준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884827" cy="410718"/>
            <a:chOff x="675132" y="1640205"/>
            <a:chExt cx="1088482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8848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단순한 앱은 LangChain으로 충분, 복잡한 조건·반복·승인엔 LangGraph가 유리하다.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2286000"/>
            <a:ext cx="10820400" cy="3248025"/>
            <a:chOff x="685800" y="2286000"/>
            <a:chExt cx="10820400" cy="3248025"/>
          </a:xfrm>
        </p:grpSpPr>
        <p:sp>
          <p:nvSpPr>
            <p:cNvPr id="8" name="Rectangle 8"/>
            <p:cNvSpPr/>
            <p:nvPr/>
          </p:nvSpPr>
          <p:spPr>
            <a:xfrm>
              <a:off x="685800" y="2286000"/>
              <a:ext cx="10820400" cy="5143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442" y="24641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63418" y="2431732"/>
              <a:ext cx="11267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LangChain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25868" y="2431732"/>
              <a:ext cx="11857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LangGraph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78130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22860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85800" y="2800350"/>
              <a:ext cx="10820400" cy="710184"/>
              <a:chOff x="685800" y="2800350"/>
              <a:chExt cx="10820400" cy="710184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685800" y="28003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69442" y="3207068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추상화 수준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962656" y="3158490"/>
                <a:ext cx="23081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높은 수준, 빠른 조합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325106" y="3158490"/>
                <a:ext cx="36636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State·Node·Edge로 세밀한 제어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85800" y="3695700"/>
              <a:ext cx="10820400" cy="710184"/>
              <a:chOff x="685800" y="3695700"/>
              <a:chExt cx="10820400" cy="710184"/>
            </a:xfrm>
          </p:grpSpPr>
          <p:sp>
            <p:nvSpPr>
              <p:cNvPr id="19" name="Line 19"/>
              <p:cNvSpPr/>
              <p:nvPr/>
            </p:nvSpPr>
            <p:spPr>
              <a:xfrm>
                <a:off x="685800" y="36957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69442" y="4102418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통제 대상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962656" y="4053840"/>
                <a:ext cx="4075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모델·프롬프트·Tool·Retriever 조합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106" y="4053840"/>
                <a:ext cx="348913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복잡한 Workflow와 Agent 실행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5800" y="4591050"/>
              <a:ext cx="10820400" cy="710184"/>
              <a:chOff x="685800" y="4591050"/>
              <a:chExt cx="10820400" cy="710184"/>
            </a:xfrm>
          </p:grpSpPr>
          <p:sp>
            <p:nvSpPr>
              <p:cNvPr id="24" name="Line 24"/>
              <p:cNvSpPr/>
              <p:nvPr/>
            </p:nvSpPr>
            <p:spPr>
              <a:xfrm>
                <a:off x="685800" y="45910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9442" y="4997768"/>
                <a:ext cx="7951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적합 상황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962656" y="4949190"/>
                <a:ext cx="29498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단순한 LLM 애플리케이션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325106" y="4949190"/>
                <a:ext cx="34712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조건·반복·장기 실행·사람 승인</a:t>
                </a:r>
              </a:p>
            </p:txBody>
          </p:sp>
        </p:grpSp>
        <p:sp>
          <p:nvSpPr>
            <p:cNvPr id="29" name="Line 29"/>
            <p:cNvSpPr/>
            <p:nvPr/>
          </p:nvSpPr>
          <p:spPr>
            <a:xfrm>
              <a:off x="685800" y="552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76656" y="5825490"/>
            <a:ext cx="3007862" cy="352044"/>
            <a:chOff x="676656" y="5825490"/>
            <a:chExt cx="3007862" cy="352044"/>
          </a:xfrm>
        </p:grpSpPr>
        <p:sp>
          <p:nvSpPr>
            <p:cNvPr id="31" name="TextBox 31"/>
            <p:cNvSpPr txBox="1"/>
            <p:nvPr/>
          </p:nvSpPr>
          <p:spPr>
            <a:xfrm>
              <a:off x="676656" y="5825490"/>
              <a:ext cx="3007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둘은 함께 사용할 수 있다.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3" name="Line 33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38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8843411" cy="1562100"/>
            <a:chOff x="647700" y="2409825"/>
            <a:chExt cx="8843411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760744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바깥 세계와 잇고 기억하기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884341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MCP · Memory · Multi-Agent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7662291" cy="810768"/>
            <a:chOff x="675132" y="4211955"/>
            <a:chExt cx="766229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766229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 자체의 능력이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모델이 외부 세계에 접근하고 정보를 보존하는 방식의 이야기다.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9723862" cy="352044"/>
            <a:chOff x="676656" y="5292090"/>
            <a:chExt cx="9723862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9723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MCP는 연결을 표준화하고, Memory는 정보를 보존하며, Multi-Agent는 역할을 나눈다.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575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9-1 · 9-2 · Model Context Protocol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694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일정한 규약으로 Tool과 Resource를 노출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209151" cy="410718"/>
            <a:chOff x="675132" y="1678305"/>
            <a:chExt cx="920915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2091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서비스마다 전용 연결을 새로 만드는 대신, 표준 인터페이스로 연결한다.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43000" y="2514600"/>
            <a:ext cx="3429000" cy="2857500"/>
            <a:chOff x="1143000" y="2514600"/>
            <a:chExt cx="3429000" cy="2857500"/>
          </a:xfrm>
        </p:grpSpPr>
        <p:sp>
          <p:nvSpPr>
            <p:cNvPr id="8" name="Rectangle 8"/>
            <p:cNvSpPr/>
            <p:nvPr/>
          </p:nvSpPr>
          <p:spPr>
            <a:xfrm>
              <a:off x="1143000" y="2514600"/>
              <a:ext cx="3429000" cy="285750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24356" y="27012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Host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3054668"/>
              <a:ext cx="1488186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AI 애플리케이션이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실행되는 상위 환경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428750" y="3810000"/>
              <a:ext cx="2857500" cy="123825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10106" y="3996690"/>
              <a:ext cx="737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Client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2392" y="4350068"/>
              <a:ext cx="1325309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Host 안에서 MCP </a:t>
              </a:r>
              <a:r>
                <a:rPr lang="ko-KR" sz="13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Server와 통신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0" y="3429000"/>
            <a:ext cx="3429000" cy="1428750"/>
            <a:chOff x="7620000" y="3429000"/>
            <a:chExt cx="34290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7620000" y="3429000"/>
              <a:ext cx="3429000" cy="1428750"/>
            </a:xfrm>
            <a:prstGeom prst="rect">
              <a:avLst/>
            </a:prstGeom>
            <a:noFill/>
            <a:ln w="14288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01356" y="361569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Server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3642" y="3969068"/>
              <a:ext cx="226828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Tool · Resource · Prompt를 </a:t>
              </a:r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제공하는 외부 서비스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0" y="3588068"/>
            <a:ext cx="2952750" cy="1426083"/>
            <a:chOff x="4572000" y="3588068"/>
            <a:chExt cx="2952750" cy="1426083"/>
          </a:xfrm>
        </p:grpSpPr>
        <p:sp>
          <p:nvSpPr>
            <p:cNvPr id="19" name="Freeform 19"/>
            <p:cNvSpPr/>
            <p:nvPr/>
          </p:nvSpPr>
          <p:spPr>
            <a:xfrm>
              <a:off x="4572000" y="3810000"/>
              <a:ext cx="2952750" cy="190500"/>
            </a:xfrm>
            <a:custGeom>
              <a:avLst/>
              <a:gdLst/>
              <a:ahLst/>
              <a:cxnLst/>
              <a:rect l="l" t="t" r="r" b="b"/>
              <a:pathLst>
                <a:path w="2952750" h="190500">
                  <a:moveTo>
                    <a:pt x="0" y="190500"/>
                  </a:moveTo>
                  <a:lnTo>
                    <a:pt x="2952750" y="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419975" y="37909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19050"/>
                  </a:moveTo>
                  <a:lnTo>
                    <a:pt x="0" y="0"/>
                  </a:lnTo>
                  <a:lnTo>
                    <a:pt x="38100" y="104775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30669" y="3588068"/>
              <a:ext cx="9496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발견 / 호출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572000" y="4476750"/>
              <a:ext cx="2952750" cy="190500"/>
            </a:xfrm>
            <a:custGeom>
              <a:avLst/>
              <a:gdLst/>
              <a:ahLst/>
              <a:cxnLst/>
              <a:rect l="l" t="t" r="r" b="b"/>
              <a:pathLst>
                <a:path w="2952750" h="190500">
                  <a:moveTo>
                    <a:pt x="295275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94A0AE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572000" y="45815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85725"/>
                  </a:moveTo>
                  <a:lnTo>
                    <a:pt x="104775" y="104775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94A0A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07907" y="4750118"/>
              <a:ext cx="795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결과 반환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7418" y="5676900"/>
            <a:ext cx="10828782" cy="525589"/>
            <a:chOff x="677418" y="5676900"/>
            <a:chExt cx="10828782" cy="525589"/>
          </a:xfrm>
        </p:grpSpPr>
        <p:sp>
          <p:nvSpPr>
            <p:cNvPr id="26" name="Line 26"/>
            <p:cNvSpPr/>
            <p:nvPr/>
          </p:nvSpPr>
          <p:spPr>
            <a:xfrm>
              <a:off x="685800" y="567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418" y="5879782"/>
              <a:ext cx="85129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핵심은 「모델의 능력」이 아니라 「모델이 외부 세계에 접근하는 방식의 표준화」다.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9" name="Line 29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40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264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9-3 ~ 9-5 · MCP Tool · Resource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038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「호출」이 Tool Calling, 「연결」이 MCP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76656" y="1866900"/>
            <a:ext cx="5305044" cy="1211389"/>
            <a:chOff x="676656" y="1866900"/>
            <a:chExt cx="5305044" cy="1211389"/>
          </a:xfrm>
        </p:grpSpPr>
        <p:sp>
          <p:nvSpPr>
            <p:cNvPr id="6" name="Line 6"/>
            <p:cNvSpPr/>
            <p:nvPr/>
          </p:nvSpPr>
          <p:spPr>
            <a:xfrm>
              <a:off x="685800" y="18669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6656" y="2091690"/>
              <a:ext cx="1095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Tool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7418" y="2469832"/>
              <a:ext cx="353720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일정 조회·DB 검색·파일 처리·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업무 시스템 호출 등 실행 가능한 기능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01156" y="1866900"/>
            <a:ext cx="5305044" cy="1211389"/>
            <a:chOff x="6201156" y="1866900"/>
            <a:chExt cx="5305044" cy="1211389"/>
          </a:xfrm>
        </p:grpSpPr>
        <p:sp>
          <p:nvSpPr>
            <p:cNvPr id="10" name="Line 10"/>
            <p:cNvSpPr/>
            <p:nvPr/>
          </p:nvSpPr>
          <p:spPr>
            <a:xfrm>
              <a:off x="6210300" y="18669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01156" y="2091690"/>
              <a:ext cx="17191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Resource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1918" y="2469832"/>
              <a:ext cx="321240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문서·데이터·파일·지식 저장소 등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모델이 참고할 정보 자원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3429000"/>
            <a:ext cx="10820400" cy="2105025"/>
            <a:chOff x="685800" y="3429000"/>
            <a:chExt cx="10820400" cy="2105025"/>
          </a:xfrm>
        </p:grpSpPr>
        <p:sp>
          <p:nvSpPr>
            <p:cNvPr id="14" name="Rectangle 14"/>
            <p:cNvSpPr/>
            <p:nvPr/>
          </p:nvSpPr>
          <p:spPr>
            <a:xfrm>
              <a:off x="685800" y="3429000"/>
              <a:ext cx="10820400" cy="4953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9442" y="35975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91918" y="3565208"/>
              <a:ext cx="12773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Calling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40118" y="3565208"/>
              <a:ext cx="4726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MCP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209800" y="34290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858000" y="34290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5800" y="3924300"/>
              <a:ext cx="10820400" cy="653034"/>
              <a:chOff x="685800" y="3924300"/>
              <a:chExt cx="10820400" cy="653034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685800" y="39243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69442" y="42738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초점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391156" y="4225290"/>
                <a:ext cx="17871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어떻게 호출할까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039356" y="4225290"/>
                <a:ext cx="28291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어떻게 연결하고 발견할까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85800" y="4724400"/>
              <a:ext cx="10820400" cy="653034"/>
              <a:chOff x="685800" y="4724400"/>
              <a:chExt cx="10820400" cy="653034"/>
            </a:xfrm>
          </p:grpSpPr>
          <p:sp>
            <p:nvSpPr>
              <p:cNvPr id="25" name="Line 25"/>
              <p:cNvSpPr/>
              <p:nvPr/>
            </p:nvSpPr>
            <p:spPr>
              <a:xfrm>
                <a:off x="685800" y="4724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69442" y="50739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정의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391156" y="5025390"/>
                <a:ext cx="34955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특정 Tool을 호출하는 행동 방식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039356" y="5025390"/>
                <a:ext cx="41276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Tool·Resource 제공 표준 인터페이스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685800" y="5524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78942" y="5835968"/>
            <a:ext cx="8924265" cy="264033"/>
            <a:chOff x="678942" y="5835968"/>
            <a:chExt cx="8924265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678942" y="5835968"/>
              <a:ext cx="8924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MCP Resource는 RAG 외부 지식과 유사해 보이지만, MCP는 「접근 인터페이스의 표준화」에 초점을 둔다.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4" name="Line 3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41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180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10-1 ~ 10-3 · Memory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181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Context는 지금, Memory는 나중에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417593" cy="410718"/>
            <a:chOff x="675132" y="1640205"/>
            <a:chExt cx="1041759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4175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Memory는 파라미터가 아니라 외부 저장소나 State에 정보를 보존하는 방식이다.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2114550"/>
            <a:ext cx="10820400" cy="476250"/>
            <a:chOff x="685800" y="2114550"/>
            <a:chExt cx="10820400" cy="476250"/>
          </a:xfrm>
        </p:grpSpPr>
        <p:sp>
          <p:nvSpPr>
            <p:cNvPr id="8" name="Rectangle 8"/>
            <p:cNvSpPr/>
            <p:nvPr/>
          </p:nvSpPr>
          <p:spPr>
            <a:xfrm>
              <a:off x="685800" y="2114550"/>
              <a:ext cx="10820400" cy="4762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8680" y="2257425"/>
              <a:ext cx="8180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Memory ≠ Context</a:t>
              </a:r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 — Context는 지금 추론에 들어온 정보, Memory는 이후 꺼내 쓸 정보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85800" y="2857500"/>
            <a:ext cx="10820400" cy="3057525"/>
            <a:chOff x="685800" y="2857500"/>
            <a:chExt cx="10820400" cy="3057525"/>
          </a:xfrm>
        </p:grpSpPr>
        <p:sp>
          <p:nvSpPr>
            <p:cNvPr id="11" name="Rectangle 11"/>
            <p:cNvSpPr/>
            <p:nvPr/>
          </p:nvSpPr>
          <p:spPr>
            <a:xfrm>
              <a:off x="685800" y="2857500"/>
              <a:ext cx="10820400" cy="4953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302609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구분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82418" y="2993708"/>
              <a:ext cx="23046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Short-Term Memory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35368" y="2993708"/>
              <a:ext cx="21766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Long-Term Memory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400300" y="2857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953250" y="28575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85800" y="3352800"/>
              <a:ext cx="10820400" cy="653034"/>
              <a:chOff x="685800" y="3352800"/>
              <a:chExt cx="10820400" cy="653034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685800" y="33528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69442" y="37023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범위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581656" y="3653790"/>
                <a:ext cx="26294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현재 대화·Workflow 안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134606" y="3653790"/>
                <a:ext cx="19204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여러 세션·장기간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85800" y="4152900"/>
              <a:ext cx="10820400" cy="653034"/>
              <a:chOff x="685800" y="4152900"/>
              <a:chExt cx="10820400" cy="653034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685800" y="41529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69442" y="450246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담는 것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581656" y="4453890"/>
                <a:ext cx="38779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최근 메시지·중간 결과·임시 State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134606" y="445389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사용자 선호·이전 결정·프로젝트 상태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85800" y="4953000"/>
              <a:ext cx="10820400" cy="653034"/>
              <a:chOff x="685800" y="4953000"/>
              <a:chExt cx="10820400" cy="653034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685800" y="49530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69442" y="53025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350" dirty="0">
                    <a:solidFill>
                      <a:srgbClr val="94A0AE"/>
                    </a:solidFill>
                    <a:latin typeface="Pretendard"/>
                    <a:ea typeface="Pretendard"/>
                    <a:cs typeface="Pretendard"/>
                  </a:rPr>
                  <a:t>과제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581656" y="5253990"/>
                <a:ext cx="285338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긴 대화엔 요약·선택·압축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134606" y="5253990"/>
                <a:ext cx="39438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80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무엇을 저장하고 언제 불러올지 정책</a:t>
                </a: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685800" y="5905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4" name="Line 34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42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61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10-4 ~ 10-7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9293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좋은 프롬프트 한 줄보다 좋은 컨텍스트 시스템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304381" cy="410718"/>
            <a:chOff x="675132" y="1640205"/>
            <a:chExt cx="1030438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3043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System Instruction·대화 기록·RAG 문서·Tool 결과·Memory를 함께 설계한다.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5132" y="2362200"/>
            <a:ext cx="10831068" cy="906589"/>
            <a:chOff x="675132" y="2362200"/>
            <a:chExt cx="10831068" cy="906589"/>
          </a:xfrm>
        </p:grpSpPr>
        <p:sp>
          <p:nvSpPr>
            <p:cNvPr id="8" name="Line 8"/>
            <p:cNvSpPr/>
            <p:nvPr/>
          </p:nvSpPr>
          <p:spPr>
            <a:xfrm>
              <a:off x="685800" y="236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132" y="25546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8082" y="2554605"/>
              <a:ext cx="25921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Selection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0368" y="2946082"/>
              <a:ext cx="81686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현재 작업에 필요한 정보만 선택 — 관련 없는 정보가 많으면 중요한 근거를 놓친다.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5132" y="3505200"/>
            <a:ext cx="10831068" cy="906589"/>
            <a:chOff x="675132" y="3505200"/>
            <a:chExt cx="10831068" cy="906589"/>
          </a:xfrm>
        </p:grpSpPr>
        <p:sp>
          <p:nvSpPr>
            <p:cNvPr id="13" name="Line 13"/>
            <p:cNvSpPr/>
            <p:nvPr/>
          </p:nvSpPr>
          <p:spPr>
            <a:xfrm>
              <a:off x="685800" y="3505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132" y="36976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8082" y="3697605"/>
              <a:ext cx="447425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Compression · Pruning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0368" y="4089082"/>
              <a:ext cx="86684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긴 정보를 요약·압축하고 불필요한 정보를 제거 — 제한된 예산에서 정보 밀도를 높인다.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5132" y="4648200"/>
            <a:ext cx="10831068" cy="906589"/>
            <a:chOff x="675132" y="4648200"/>
            <a:chExt cx="10831068" cy="906589"/>
          </a:xfrm>
        </p:grpSpPr>
        <p:sp>
          <p:nvSpPr>
            <p:cNvPr id="18" name="Line 18"/>
            <p:cNvSpPr/>
            <p:nvPr/>
          </p:nvSpPr>
          <p:spPr>
            <a:xfrm>
              <a:off x="685800" y="4648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" y="48406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8082" y="4840605"/>
              <a:ext cx="23404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Routing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20368" y="5232082"/>
              <a:ext cx="74185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질문 유형·작업 상태에 따라 다른 자료·Tool·Memory를 동적으로 넣는다.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8180" y="5791200"/>
            <a:ext cx="10828020" cy="493395"/>
            <a:chOff x="678180" y="5791200"/>
            <a:chExt cx="10828020" cy="493395"/>
          </a:xfrm>
        </p:grpSpPr>
        <p:sp>
          <p:nvSpPr>
            <p:cNvPr id="23" name="Line 23"/>
            <p:cNvSpPr/>
            <p:nvPr/>
          </p:nvSpPr>
          <p:spPr>
            <a:xfrm>
              <a:off x="685800" y="579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8180" y="5991225"/>
              <a:ext cx="63193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Context Window가 커져도 선택과 우선순위 설계는 여전히 중요하다.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6" name="Line 26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43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483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 · Multi-Agent System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8091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역할을 나누면 구조화되지만 복잡성이 는다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6339779" cy="410718"/>
            <a:chOff x="675132" y="1640205"/>
            <a:chExt cx="633977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63397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여러 Agent가 서로 다른 역할을 나누어 수행한다.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2154" y="2247900"/>
            <a:ext cx="9721596" cy="2257806"/>
            <a:chOff x="1232154" y="2247900"/>
            <a:chExt cx="9721596" cy="2257806"/>
          </a:xfrm>
        </p:grpSpPr>
        <p:sp>
          <p:nvSpPr>
            <p:cNvPr id="8" name="Rectangle 8"/>
            <p:cNvSpPr/>
            <p:nvPr/>
          </p:nvSpPr>
          <p:spPr>
            <a:xfrm>
              <a:off x="4667250" y="2247900"/>
              <a:ext cx="2857500" cy="666750"/>
            </a:xfrm>
            <a:prstGeom prst="rect">
              <a:avLst/>
            </a:prstGeom>
            <a:solidFill>
              <a:srgbClr val="F4F6F8"/>
            </a:solidFill>
            <a:ln w="19050">
              <a:solidFill>
                <a:srgbClr val="2563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511081" y="2469832"/>
              <a:ext cx="3169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Supervisor (Orchestrator)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90750" y="2914650"/>
              <a:ext cx="7810500" cy="514350"/>
            </a:xfrm>
            <a:custGeom>
              <a:avLst/>
              <a:gdLst/>
              <a:ahLst/>
              <a:cxnLst/>
              <a:rect l="l" t="t" r="r" b="b"/>
              <a:pathLst>
                <a:path w="7810500" h="514350">
                  <a:moveTo>
                    <a:pt x="3905250" y="0"/>
                  </a:moveTo>
                  <a:lnTo>
                    <a:pt x="3905250" y="247650"/>
                  </a:lnTo>
                  <a:moveTo>
                    <a:pt x="0" y="247650"/>
                  </a:moveTo>
                  <a:lnTo>
                    <a:pt x="7810500" y="247650"/>
                  </a:lnTo>
                  <a:moveTo>
                    <a:pt x="0" y="247650"/>
                  </a:moveTo>
                  <a:lnTo>
                    <a:pt x="0" y="514350"/>
                  </a:lnTo>
                  <a:moveTo>
                    <a:pt x="2600325" y="247650"/>
                  </a:moveTo>
                  <a:lnTo>
                    <a:pt x="2600325" y="514350"/>
                  </a:lnTo>
                  <a:moveTo>
                    <a:pt x="5210175" y="247650"/>
                  </a:moveTo>
                  <a:lnTo>
                    <a:pt x="5210175" y="514350"/>
                  </a:lnTo>
                  <a:moveTo>
                    <a:pt x="7810500" y="247650"/>
                  </a:moveTo>
                  <a:lnTo>
                    <a:pt x="7810500" y="5143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38250" y="3429000"/>
              <a:ext cx="1905000" cy="666750"/>
              <a:chOff x="1238250" y="3429000"/>
              <a:chExt cx="1905000" cy="666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238250" y="34290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960245" y="36509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검색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838575" y="3429000"/>
              <a:ext cx="1905000" cy="666750"/>
              <a:chOff x="3838575" y="3429000"/>
              <a:chExt cx="1905000" cy="666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838575" y="34290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60570" y="36509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분석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6448425" y="3429000"/>
              <a:ext cx="1905000" cy="666750"/>
              <a:chOff x="6448425" y="3429000"/>
              <a:chExt cx="1905000" cy="666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448425" y="34290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170420" y="3650932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요약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048750" y="3429000"/>
              <a:ext cx="1905000" cy="666750"/>
              <a:chOff x="9048750" y="3429000"/>
              <a:chExt cx="1905000" cy="666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048750" y="3429000"/>
                <a:ext cx="1905000" cy="66675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515304" y="3650932"/>
                <a:ext cx="9718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코드 작성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1232154" y="4271010"/>
              <a:ext cx="46146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Worker Agent — 배정된 하위 과업을 역할별로 전문화하여 수행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7418" y="4743450"/>
            <a:ext cx="10828782" cy="887539"/>
            <a:chOff x="677418" y="4743450"/>
            <a:chExt cx="10828782" cy="887539"/>
          </a:xfrm>
        </p:grpSpPr>
        <p:sp>
          <p:nvSpPr>
            <p:cNvPr id="25" name="Line 25"/>
            <p:cNvSpPr/>
            <p:nvPr/>
          </p:nvSpPr>
          <p:spPr>
            <a:xfrm>
              <a:off x="685800" y="4743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18" y="4965382"/>
              <a:ext cx="101832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Agent Handoff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 — 한 Agent가 작업을 다른 Agent에게 넘김. 어떤 정보·State를 함께 넘길지가 중요.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7418" y="5308282"/>
              <a:ext cx="6604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예: Research Agent → Writing Agent → Critic Agent → Finalizer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8180" y="5791200"/>
            <a:ext cx="10828020" cy="493395"/>
            <a:chOff x="678180" y="5791200"/>
            <a:chExt cx="10828020" cy="493395"/>
          </a:xfrm>
        </p:grpSpPr>
        <p:sp>
          <p:nvSpPr>
            <p:cNvPr id="29" name="Line 29"/>
            <p:cNvSpPr/>
            <p:nvPr/>
          </p:nvSpPr>
          <p:spPr>
            <a:xfrm>
              <a:off x="685800" y="579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180" y="5991225"/>
              <a:ext cx="7777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Multi-Agent에서는 자율성보다 명시적인 역할·종료 조건·평가 기준이 중요하다.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2" name="Line 3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44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5317560" cy="1562100"/>
            <a:chOff x="647700" y="2409825"/>
            <a:chExt cx="5317560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4045401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잘 작동하는가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531756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평가 · 관측 · 통제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5942076" cy="810768"/>
            <a:chOff x="675132" y="4211955"/>
            <a:chExt cx="5942076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594207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「잘 작동하는가」와 「왜 그렇게 작동했는가」를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검증하고, 허용된 범위 안에서 돌게 통제한다.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5292090"/>
            <a:ext cx="7275652" cy="694944"/>
            <a:chOff x="676656" y="5292090"/>
            <a:chExt cx="7275652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7275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단순히 「좋아 보인다」가 아니라 반복 가능한 평가 기준을 만든다.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634990"/>
              <a:ext cx="66593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Agent가 외부 시스템과 연결될수록 통제의 중요성이 커진다.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475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12-1 ~ 12-4 · Evaluation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998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검색 실패와 생성 실패를 구분한다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415577" cy="410718"/>
            <a:chOff x="675132" y="1640205"/>
            <a:chExt cx="941557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415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 가능한 평가 기준을 만들고, RAG는 검색과 생성을 따로 평가한다.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5894" y="2286000"/>
            <a:ext cx="10830306" cy="868489"/>
            <a:chOff x="675894" y="2286000"/>
            <a:chExt cx="10830306" cy="868489"/>
          </a:xfrm>
        </p:grpSpPr>
        <p:sp>
          <p:nvSpPr>
            <p:cNvPr id="8" name="Line 8"/>
            <p:cNvSpPr/>
            <p:nvPr/>
          </p:nvSpPr>
          <p:spPr>
            <a:xfrm>
              <a:off x="685800" y="2286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894" y="24755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80744" y="2475548"/>
              <a:ext cx="20249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LLM Evaluation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268" y="2831782"/>
              <a:ext cx="6835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정확성·관련성·형식 준수·안전성·비용을 반복 가능한 기준으로 평가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5894" y="3352800"/>
            <a:ext cx="10830306" cy="868489"/>
            <a:chOff x="675894" y="3352800"/>
            <a:chExt cx="10830306" cy="868489"/>
          </a:xfrm>
        </p:grpSpPr>
        <p:sp>
          <p:nvSpPr>
            <p:cNvPr id="13" name="Line 13"/>
            <p:cNvSpPr/>
            <p:nvPr/>
          </p:nvSpPr>
          <p:spPr>
            <a:xfrm>
              <a:off x="685800" y="3352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894" y="35423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80744" y="3542348"/>
              <a:ext cx="19688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RAG Evaluation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2268" y="3898582"/>
              <a:ext cx="6713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검색 단계(필요한 문서를 찾았나) + 생성 단계(근거를 바르게 썼나)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5894" y="4419600"/>
            <a:ext cx="10830306" cy="868489"/>
            <a:chOff x="675894" y="4419600"/>
            <a:chExt cx="10830306" cy="868489"/>
          </a:xfrm>
        </p:grpSpPr>
        <p:sp>
          <p:nvSpPr>
            <p:cNvPr id="18" name="Line 18"/>
            <p:cNvSpPr/>
            <p:nvPr/>
          </p:nvSpPr>
          <p:spPr>
            <a:xfrm>
              <a:off x="685800" y="4419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894" y="46091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0744" y="4609148"/>
              <a:ext cx="23237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Retrieval Quality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82268" y="4965382"/>
              <a:ext cx="63950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Precision — 결과 중 관련 문서 비율 · Recall — 놓치지 않은 정도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5894" y="5486400"/>
            <a:ext cx="10830306" cy="868489"/>
            <a:chOff x="675894" y="5486400"/>
            <a:chExt cx="10830306" cy="868489"/>
          </a:xfrm>
        </p:grpSpPr>
        <p:sp>
          <p:nvSpPr>
            <p:cNvPr id="23" name="Line 23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894" y="5675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0744" y="5675948"/>
              <a:ext cx="38553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Faithfulness · Groundedness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2268" y="6032182"/>
              <a:ext cx="6225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답변이 제공된 근거와 일치하나 / 주장이 실제 근거에 연결되나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8" name="Line 2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46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805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12-5 ~ 12-8 · Observability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6663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답변만이 아니라 「경로」를 본다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123505" cy="410718"/>
            <a:chOff x="675132" y="1640205"/>
            <a:chExt cx="1012350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1235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Agent는 행동 궤적(trajectory)을 평가하고, 전체 실행 경로를 기록해야 한다.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286000"/>
            <a:ext cx="10820400" cy="887539"/>
            <a:chOff x="685800" y="2286000"/>
            <a:chExt cx="10820400" cy="887539"/>
          </a:xfrm>
        </p:grpSpPr>
        <p:sp>
          <p:nvSpPr>
            <p:cNvPr id="8" name="Line 8"/>
            <p:cNvSpPr/>
            <p:nvPr/>
          </p:nvSpPr>
          <p:spPr>
            <a:xfrm>
              <a:off x="685800" y="2286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21571" y="2474171"/>
              <a:ext cx="233545" cy="240453"/>
              <a:chOff x="721571" y="2474171"/>
              <a:chExt cx="233545" cy="24045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12800" y="2565400"/>
                <a:ext cx="142316" cy="142287"/>
              </a:xfrm>
              <a:custGeom>
                <a:avLst/>
                <a:gdLst/>
                <a:ahLst/>
                <a:cxnLst/>
                <a:rect l="l" t="t" r="r" b="b"/>
                <a:pathLst>
                  <a:path w="142316" h="142287">
                    <a:moveTo>
                      <a:pt x="38100" y="0"/>
                    </a:moveTo>
                    <a:lnTo>
                      <a:pt x="131864" y="94208"/>
                    </a:lnTo>
                    <a:cubicBezTo>
                      <a:pt x="142316" y="104622"/>
                      <a:pt x="142316" y="121488"/>
                      <a:pt x="131864" y="131889"/>
                    </a:cubicBezTo>
                    <a:cubicBezTo>
                      <a:pt x="121411" y="142287"/>
                      <a:pt x="104522" y="142287"/>
                      <a:pt x="94069" y="131889"/>
                    </a:cubicBez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62000" y="2552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0100" y="25146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50800" y="5080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23900" y="2705099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21571" y="2474171"/>
                <a:ext cx="169757" cy="169757"/>
              </a:xfrm>
              <a:custGeom>
                <a:avLst/>
                <a:gdLst/>
                <a:ahLst/>
                <a:cxnLst/>
                <a:rect l="l" t="t" r="r" b="b"/>
                <a:pathLst>
                  <a:path w="169757" h="169757">
                    <a:moveTo>
                      <a:pt x="50500" y="164800"/>
                    </a:moveTo>
                    <a:lnTo>
                      <a:pt x="4958" y="119258"/>
                    </a:lnTo>
                    <a:cubicBezTo>
                      <a:pt x="0" y="114298"/>
                      <a:pt x="0" y="106259"/>
                      <a:pt x="4958" y="101300"/>
                    </a:cubicBezTo>
                    <a:lnTo>
                      <a:pt x="34079" y="72179"/>
                    </a:lnTo>
                    <a:lnTo>
                      <a:pt x="40429" y="78529"/>
                    </a:lnTo>
                    <a:lnTo>
                      <a:pt x="78529" y="40429"/>
                    </a:lnTo>
                    <a:lnTo>
                      <a:pt x="72179" y="34079"/>
                    </a:lnTo>
                    <a:lnTo>
                      <a:pt x="101300" y="4958"/>
                    </a:lnTo>
                    <a:cubicBezTo>
                      <a:pt x="106259" y="0"/>
                      <a:pt x="114298" y="0"/>
                      <a:pt x="119258" y="4958"/>
                    </a:cubicBezTo>
                    <a:lnTo>
                      <a:pt x="164800" y="50500"/>
                    </a:lnTo>
                    <a:cubicBezTo>
                      <a:pt x="169757" y="55459"/>
                      <a:pt x="169757" y="63498"/>
                      <a:pt x="164800" y="68458"/>
                    </a:cubicBezTo>
                    <a:lnTo>
                      <a:pt x="135679" y="97579"/>
                    </a:lnTo>
                    <a:lnTo>
                      <a:pt x="129329" y="91229"/>
                    </a:lnTo>
                    <a:lnTo>
                      <a:pt x="91229" y="129329"/>
                    </a:lnTo>
                    <a:lnTo>
                      <a:pt x="97579" y="135679"/>
                    </a:lnTo>
                    <a:lnTo>
                      <a:pt x="68458" y="164800"/>
                    </a:lnTo>
                    <a:cubicBezTo>
                      <a:pt x="63498" y="169757"/>
                      <a:pt x="55459" y="169757"/>
                      <a:pt x="50500" y="164800"/>
                    </a:cubicBez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33094" y="2494598"/>
              <a:ext cx="22421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LLM-as-a-Judge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4618" y="2850832"/>
              <a:ext cx="77030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다른 LLM을 평가자로 사용 — 편향·불안정성 고려, 인간·규칙 평가와 병행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3352800"/>
            <a:ext cx="10820400" cy="887539"/>
            <a:chOff x="685800" y="3352800"/>
            <a:chExt cx="10820400" cy="887539"/>
          </a:xfrm>
        </p:grpSpPr>
        <p:sp>
          <p:nvSpPr>
            <p:cNvPr id="18" name="Line 18"/>
            <p:cNvSpPr/>
            <p:nvPr/>
          </p:nvSpPr>
          <p:spPr>
            <a:xfrm>
              <a:off x="685800" y="3352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49300" y="3530600"/>
              <a:ext cx="177800" cy="241300"/>
              <a:chOff x="749300" y="3530600"/>
              <a:chExt cx="177800" cy="2413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62000" y="35560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35306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0100" y="3657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6300" y="3657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49300" y="36830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6300" y="36830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00100" y="37337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800" y="360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63600" y="3606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133094" y="3561398"/>
              <a:ext cx="22554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Evaluation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4618" y="3917632"/>
              <a:ext cx="7766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불필요한 Tool 호출·무한 Loop·잘못된 Routing·과도한 비용을 궤적으로 평가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5800" y="4419600"/>
            <a:ext cx="10820400" cy="887539"/>
            <a:chOff x="685800" y="4419600"/>
            <a:chExt cx="10820400" cy="887539"/>
          </a:xfrm>
        </p:grpSpPr>
        <p:sp>
          <p:nvSpPr>
            <p:cNvPr id="32" name="Line 32"/>
            <p:cNvSpPr/>
            <p:nvPr/>
          </p:nvSpPr>
          <p:spPr>
            <a:xfrm>
              <a:off x="685800" y="4419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3900" y="4648200"/>
              <a:ext cx="228599" cy="152400"/>
              <a:chOff x="723900" y="4648200"/>
              <a:chExt cx="228599" cy="152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12800" y="46990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3900" y="4648200"/>
                <a:ext cx="228599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52400">
                    <a:moveTo>
                      <a:pt x="228599" y="76200"/>
                    </a:moveTo>
                    <a:cubicBezTo>
                      <a:pt x="198120" y="127000"/>
                      <a:pt x="160020" y="152400"/>
                      <a:pt x="114300" y="152400"/>
                    </a:cubicBezTo>
                    <a:cubicBezTo>
                      <a:pt x="68580" y="152400"/>
                      <a:pt x="30480" y="127000"/>
                      <a:pt x="0" y="76200"/>
                    </a:cubicBezTo>
                    <a:cubicBezTo>
                      <a:pt x="30480" y="25400"/>
                      <a:pt x="68580" y="0"/>
                      <a:pt x="114300" y="0"/>
                    </a:cubicBezTo>
                    <a:cubicBezTo>
                      <a:pt x="160020" y="0"/>
                      <a:pt x="198120" y="25400"/>
                      <a:pt x="228599" y="76200"/>
                    </a:cubicBez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133094" y="4628198"/>
              <a:ext cx="1846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Observability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4618" y="4984432"/>
              <a:ext cx="69692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Prompt·모델 호출·Tool 호출·검색 결과·지연시간·비용·오류를 기록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5800" y="5486400"/>
            <a:ext cx="10820400" cy="887539"/>
            <a:chOff x="685800" y="5486400"/>
            <a:chExt cx="10820400" cy="887539"/>
          </a:xfrm>
        </p:grpSpPr>
        <p:sp>
          <p:nvSpPr>
            <p:cNvPr id="39" name="Line 39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6600" y="5676900"/>
              <a:ext cx="203200" cy="241299"/>
              <a:chOff x="736600" y="5676900"/>
              <a:chExt cx="203200" cy="241299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12800" y="58673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36600" y="58927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76200" y="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63600" y="58927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62000" y="56769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76200" y="152400"/>
                    </a:moveTo>
                    <a:lnTo>
                      <a:pt x="50800" y="127000"/>
                    </a:lnTo>
                    <a:lnTo>
                      <a:pt x="12700" y="127000"/>
                    </a:lnTo>
                    <a:cubicBezTo>
                      <a:pt x="5686" y="127000"/>
                      <a:pt x="0" y="121314"/>
                      <a:pt x="0" y="1143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139700" y="0"/>
                    </a:lnTo>
                    <a:cubicBezTo>
                      <a:pt x="146714" y="0"/>
                      <a:pt x="152400" y="5686"/>
                      <a:pt x="152400" y="12700"/>
                    </a:cubicBezTo>
                    <a:lnTo>
                      <a:pt x="152400" y="114300"/>
                    </a:lnTo>
                    <a:cubicBezTo>
                      <a:pt x="152400" y="121314"/>
                      <a:pt x="146714" y="127000"/>
                      <a:pt x="139700" y="127000"/>
                    </a:cubicBezTo>
                    <a:lnTo>
                      <a:pt x="101600" y="127000"/>
                    </a:lnTo>
                    <a:lnTo>
                      <a:pt x="76200" y="152400"/>
                    </a:lnTo>
                  </a:path>
                </a:pathLst>
              </a:custGeom>
              <a:noFill/>
              <a:ln w="25400">
                <a:solidFill>
                  <a:srgbClr val="2563EB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33094" y="56949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Tracing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34618" y="6051232"/>
              <a:ext cx="7011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한 요청의 전체 실행 경로를 기록 — 어떤 Node에서 문제가 났는지 확인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8" name="Line 4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47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177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13 · Guardrails와 통제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998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허용된 범위 안에서 동작하게 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726216" cy="410718"/>
            <a:chOff x="675132" y="1640205"/>
            <a:chExt cx="972621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7262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입력·출력·Tool 사용을 제한한다 — 검색된 문서도 신뢰할 수 없는 입력이다.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5894" y="2409825"/>
            <a:ext cx="2817876" cy="1531620"/>
            <a:chOff x="675894" y="2409825"/>
            <a:chExt cx="2817876" cy="1531620"/>
          </a:xfrm>
        </p:grpSpPr>
        <p:grpSp>
          <p:nvGrpSpPr>
            <p:cNvPr id="10" name="Group 10"/>
            <p:cNvGrpSpPr/>
            <p:nvPr/>
          </p:nvGrpSpPr>
          <p:grpSpPr>
            <a:xfrm>
              <a:off x="712001" y="2409825"/>
              <a:ext cx="310011" cy="285751"/>
              <a:chOff x="712001" y="2409825"/>
              <a:chExt cx="310011" cy="28575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12001" y="240982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23925" y="26320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675894" y="2951798"/>
              <a:ext cx="14057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Guardrails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8180" y="3381375"/>
              <a:ext cx="28155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유해 콘텐츠·개인정보·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잘못된 Tool 호출·정책 위반 제어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6594" y="2473325"/>
            <a:ext cx="2665476" cy="1468120"/>
            <a:chOff x="6276594" y="2473325"/>
            <a:chExt cx="2665476" cy="1468120"/>
          </a:xfrm>
        </p:grpSpPr>
        <p:grpSp>
          <p:nvGrpSpPr>
            <p:cNvPr id="16" name="Group 16"/>
            <p:cNvGrpSpPr/>
            <p:nvPr/>
          </p:nvGrpSpPr>
          <p:grpSpPr>
            <a:xfrm>
              <a:off x="6365875" y="2473325"/>
              <a:ext cx="222250" cy="168276"/>
              <a:chOff x="6365875" y="2473325"/>
              <a:chExt cx="222250" cy="16827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365875" y="2473325"/>
                <a:ext cx="7937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58750">
                    <a:moveTo>
                      <a:pt x="0" y="0"/>
                    </a:moveTo>
                    <a:lnTo>
                      <a:pt x="79375" y="79375"/>
                    </a:lnTo>
                    <a:lnTo>
                      <a:pt x="0" y="15875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492875" y="2632076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C2410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6276594" y="2951798"/>
              <a:ext cx="22415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 Injection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8880" y="3381375"/>
              <a:ext cx="26631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외부 문서·입력의 지시가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시스템 규칙을 우회하도록 유도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5894" y="4391025"/>
            <a:ext cx="2532126" cy="1531620"/>
            <a:chOff x="675894" y="4391025"/>
            <a:chExt cx="2532126" cy="1531620"/>
          </a:xfrm>
        </p:grpSpPr>
        <p:grpSp>
          <p:nvGrpSpPr>
            <p:cNvPr id="23" name="Group 23"/>
            <p:cNvGrpSpPr/>
            <p:nvPr/>
          </p:nvGrpSpPr>
          <p:grpSpPr>
            <a:xfrm>
              <a:off x="765175" y="4391025"/>
              <a:ext cx="222250" cy="285750"/>
              <a:chOff x="765175" y="4391025"/>
              <a:chExt cx="222250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65175" y="4518025"/>
                <a:ext cx="2222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5875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127000"/>
                    </a:lnTo>
                    <a:cubicBezTo>
                      <a:pt x="222250" y="144535"/>
                      <a:pt x="208035" y="158750"/>
                      <a:pt x="190500" y="158750"/>
                    </a:cubicBezTo>
                    <a:lnTo>
                      <a:pt x="31750" y="158750"/>
                    </a:lnTo>
                    <a:cubicBezTo>
                      <a:pt x="14215" y="158750"/>
                      <a:pt x="0" y="144535"/>
                      <a:pt x="0" y="12700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60425" y="45815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800" y="43910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12700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cubicBezTo>
                      <a:pt x="98570" y="0"/>
                      <a:pt x="127000" y="28430"/>
                      <a:pt x="127000" y="63500"/>
                    </a:cubicBezTo>
                    <a:lnTo>
                      <a:pt x="127000" y="12700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75894" y="4932998"/>
              <a:ext cx="2089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Permission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8180" y="5362575"/>
              <a:ext cx="25298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읽기·쓰기·삭제·결제·전송을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위험 수준에 따라 권한 분리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76594" y="4391025"/>
            <a:ext cx="2474976" cy="1531620"/>
            <a:chOff x="6276594" y="4391025"/>
            <a:chExt cx="2474976" cy="1531620"/>
          </a:xfrm>
        </p:grpSpPr>
        <p:grpSp>
          <p:nvGrpSpPr>
            <p:cNvPr id="31" name="Group 31"/>
            <p:cNvGrpSpPr/>
            <p:nvPr/>
          </p:nvGrpSpPr>
          <p:grpSpPr>
            <a:xfrm>
              <a:off x="6350000" y="4391025"/>
              <a:ext cx="254001" cy="285751"/>
              <a:chOff x="6350000" y="4391025"/>
              <a:chExt cx="254001" cy="28575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350000" y="4391025"/>
                <a:ext cx="25400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85751">
                    <a:moveTo>
                      <a:pt x="127000" y="0"/>
                    </a:moveTo>
                    <a:lnTo>
                      <a:pt x="254001" y="71438"/>
                    </a:lnTo>
                    <a:lnTo>
                      <a:pt x="254001" y="214313"/>
                    </a:lnTo>
                    <a:lnTo>
                      <a:pt x="127000" y="285751"/>
                    </a:lnTo>
                    <a:lnTo>
                      <a:pt x="0" y="214313"/>
                    </a:lnTo>
                    <a:lnTo>
                      <a:pt x="0" y="71438"/>
                    </a:ln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477000" y="4462463"/>
                <a:ext cx="1270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8">
                    <a:moveTo>
                      <a:pt x="0" y="71438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477000" y="45339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350000" y="4462463"/>
                <a:ext cx="1270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1438">
                    <a:moveTo>
                      <a:pt x="127000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2563EB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276594" y="4932998"/>
              <a:ext cx="14750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Sandboxing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78880" y="5362575"/>
              <a:ext cx="2472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코드 실행·파일 조작 같은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위험 작업을 격리된 환경에서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8942" y="6019800"/>
            <a:ext cx="10827258" cy="442151"/>
            <a:chOff x="678942" y="6019800"/>
            <a:chExt cx="10827258" cy="442151"/>
          </a:xfrm>
        </p:grpSpPr>
        <p:sp>
          <p:nvSpPr>
            <p:cNvPr id="35" name="Line 35"/>
            <p:cNvSpPr/>
            <p:nvPr/>
          </p:nvSpPr>
          <p:spPr>
            <a:xfrm>
              <a:off x="685800" y="601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942" y="6197918"/>
              <a:ext cx="83120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민감한 작업은 사람의 승인을 요구하는 것이 안전하다. Agent가 외부와 연결될수록 중요성이 커진다.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8" name="Line 3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48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9594294" cy="1562100"/>
            <a:chOff x="647700" y="2409825"/>
            <a:chExt cx="9594294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277324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전체 지도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9594294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LLM에서 Agentic AI System까지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6088761" cy="810768"/>
            <a:chOff x="675132" y="4211955"/>
            <a:chExt cx="6088761" cy="81076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6088761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15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AX의 핵심은 가장 복잡한 기술을 쓰는 것이 아니라,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문제에 맞는 최소한의 구조를 선택하는 것이다.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5292090"/>
            <a:ext cx="5046345" cy="352044"/>
            <a:chOff x="676656" y="5292090"/>
            <a:chExt cx="5046345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5292090"/>
              <a:ext cx="5046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지금까지의 조각을 하나의 스택으로 조립한다.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949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14-1 · LLM Application Stack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065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열 개의 레이어로 보는 Agentic AI System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676656" y="1676400"/>
            <a:ext cx="10829544" cy="4562475"/>
            <a:chOff x="676656" y="1676400"/>
            <a:chExt cx="10829544" cy="4562475"/>
          </a:xfrm>
        </p:grpSpPr>
        <p:grpSp>
          <p:nvGrpSpPr>
            <p:cNvPr id="9" name="Group 9"/>
            <p:cNvGrpSpPr/>
            <p:nvPr/>
          </p:nvGrpSpPr>
          <p:grpSpPr>
            <a:xfrm>
              <a:off x="676656" y="1676400"/>
              <a:ext cx="10829544" cy="443484"/>
              <a:chOff x="676656" y="1676400"/>
              <a:chExt cx="10829544" cy="443484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685800" y="1676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676656" y="1767840"/>
                <a:ext cx="7130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Model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992118" y="1784032"/>
                <a:ext cx="19999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LLM이 토큰을 생성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76656" y="2133600"/>
              <a:ext cx="10829544" cy="443484"/>
              <a:chOff x="676656" y="2133600"/>
              <a:chExt cx="10829544" cy="443484"/>
            </a:xfrm>
          </p:grpSpPr>
          <p:sp>
            <p:nvSpPr>
              <p:cNvPr id="10" name="Line 10"/>
              <p:cNvSpPr/>
              <p:nvPr/>
            </p:nvSpPr>
            <p:spPr>
              <a:xfrm>
                <a:off x="685800" y="2133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76656" y="2225040"/>
                <a:ext cx="21997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Prompt / Context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992118" y="2241232"/>
                <a:ext cx="24379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현재 지시와 맥락을 구성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76656" y="2590800"/>
              <a:ext cx="10829544" cy="443484"/>
              <a:chOff x="676656" y="2590800"/>
              <a:chExt cx="10829544" cy="443484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685800" y="25908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676656" y="2682240"/>
                <a:ext cx="115763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Retrieval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992118" y="2698432"/>
                <a:ext cx="24379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필요한 외부 지식을 검색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76656" y="3048000"/>
              <a:ext cx="10829544" cy="443484"/>
              <a:chOff x="676656" y="3048000"/>
              <a:chExt cx="10829544" cy="443484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685800" y="30480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6656" y="3139440"/>
                <a:ext cx="5214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Tool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992118" y="3155632"/>
                <a:ext cx="38540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검색·계산·API·DB 등 외부 행동 수행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76656" y="3505200"/>
              <a:ext cx="10829544" cy="443484"/>
              <a:chOff x="676656" y="3505200"/>
              <a:chExt cx="10829544" cy="443484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685800" y="35052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6656" y="3596640"/>
                <a:ext cx="7258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Agent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992118" y="3612832"/>
                <a:ext cx="22157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어떤 행동을 할지 판단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76656" y="3962400"/>
              <a:ext cx="10829544" cy="443484"/>
              <a:chOff x="676656" y="3962400"/>
              <a:chExt cx="10829544" cy="443484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685800" y="39624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6656" y="4053840"/>
                <a:ext cx="18326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Orchestration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992118" y="4070032"/>
                <a:ext cx="24379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여러 단계와 상태를 연결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76656" y="4419600"/>
              <a:ext cx="10829544" cy="443484"/>
              <a:chOff x="676656" y="4419600"/>
              <a:chExt cx="10829544" cy="443484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685800" y="44196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6656" y="4511040"/>
                <a:ext cx="96856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Memory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992118" y="4527232"/>
                <a:ext cx="31042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필요한 정보를 저장하고 재사용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76656" y="4876800"/>
              <a:ext cx="10829544" cy="443484"/>
              <a:chOff x="676656" y="4876800"/>
              <a:chExt cx="10829544" cy="443484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685800" y="48768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6656" y="4968240"/>
                <a:ext cx="12976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Evaluation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992118" y="4984432"/>
                <a:ext cx="192702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결과와 과정을 평가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76656" y="5334000"/>
              <a:ext cx="10829544" cy="443484"/>
              <a:chOff x="676656" y="5334000"/>
              <a:chExt cx="10829544" cy="443484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685800" y="53340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6656" y="5425440"/>
                <a:ext cx="170485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Observability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992118" y="5441632"/>
                <a:ext cx="300431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실행 경로와 비용·오류를 추적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76656" y="5791200"/>
              <a:ext cx="10829544" cy="447675"/>
              <a:chOff x="676656" y="5791200"/>
              <a:chExt cx="10829544" cy="447675"/>
            </a:xfrm>
          </p:grpSpPr>
          <p:sp>
            <p:nvSpPr>
              <p:cNvPr id="42" name="Line 42"/>
              <p:cNvSpPr/>
              <p:nvPr/>
            </p:nvSpPr>
            <p:spPr>
              <a:xfrm>
                <a:off x="685800" y="579120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76656" y="5882640"/>
                <a:ext cx="10816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Security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992118" y="5898832"/>
                <a:ext cx="28377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권한·보안·안전 규칙을 적용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685800" y="6229350"/>
                <a:ext cx="1082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20400" h="9525">
                    <a:moveTo>
                      <a:pt x="0" y="0"/>
                    </a:moveTo>
                    <a:lnTo>
                      <a:pt x="10820400" y="0"/>
                    </a:lnTo>
                  </a:path>
                </a:pathLst>
              </a:custGeom>
              <a:noFill/>
              <a:ln w="9525">
                <a:solidFill>
                  <a:srgbClr val="E2E6EB"/>
                </a:solidFill>
              </a:ln>
            </p:spPr>
          </p:sp>
        </p:grpSp>
      </p:grpSp>
      <p:grpSp>
        <p:nvGrpSpPr>
          <p:cNvPr id="51" name="Group 5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8" name="Line 4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50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647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14-2 · Prompt vs RAG vs Agent vs Fine-tuning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8239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문제의 종류에 따라 개입 지점이 다르다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85800" y="1714500"/>
            <a:ext cx="5295900" cy="2190750"/>
            <a:chOff x="685800" y="1714500"/>
            <a:chExt cx="5295900" cy="219075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5295900" cy="2190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1832" y="1945005"/>
              <a:ext cx="10700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Prompt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118" y="2450782"/>
              <a:ext cx="2028444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지금 이 요청에서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어떻게 답할지를 지시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714500"/>
            <a:ext cx="5295900" cy="2190750"/>
            <a:chOff x="6210300" y="1714500"/>
            <a:chExt cx="5295900" cy="2190750"/>
          </a:xfrm>
        </p:grpSpPr>
        <p:sp>
          <p:nvSpPr>
            <p:cNvPr id="10" name="Rectangle 10"/>
            <p:cNvSpPr/>
            <p:nvPr/>
          </p:nvSpPr>
          <p:spPr>
            <a:xfrm>
              <a:off x="6210300" y="1714500"/>
              <a:ext cx="5295900" cy="2190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6332" y="1945005"/>
              <a:ext cx="5388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RAG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8618" y="2450782"/>
              <a:ext cx="2091309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지금 답하는 데 필요한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외부 지식을 제공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4095750"/>
            <a:ext cx="5295900" cy="2190750"/>
            <a:chOff x="685800" y="4095750"/>
            <a:chExt cx="5295900" cy="2190750"/>
          </a:xfrm>
        </p:grpSpPr>
        <p:sp>
          <p:nvSpPr>
            <p:cNvPr id="14" name="Rectangle 14"/>
            <p:cNvSpPr/>
            <p:nvPr/>
          </p:nvSpPr>
          <p:spPr>
            <a:xfrm>
              <a:off x="685800" y="4095750"/>
              <a:ext cx="5295900" cy="2190750"/>
            </a:xfrm>
            <a:prstGeom prst="rect">
              <a:avLst/>
            </a:prstGeom>
            <a:noFill/>
            <a:ln w="14288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1832" y="4326255"/>
              <a:ext cx="8468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118" y="4832032"/>
              <a:ext cx="2300859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목표를 위해 다음 행동을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선택하고 Tool을 사용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10300" y="4095750"/>
            <a:ext cx="5295900" cy="2190750"/>
            <a:chOff x="6210300" y="4095750"/>
            <a:chExt cx="5295900" cy="2190750"/>
          </a:xfrm>
        </p:grpSpPr>
        <p:sp>
          <p:nvSpPr>
            <p:cNvPr id="18" name="Rectangle 18"/>
            <p:cNvSpPr/>
            <p:nvPr/>
          </p:nvSpPr>
          <p:spPr>
            <a:xfrm>
              <a:off x="6210300" y="4095750"/>
              <a:ext cx="5295900" cy="2190750"/>
            </a:xfrm>
            <a:prstGeom prst="rect">
              <a:avLst/>
            </a:prstGeom>
            <a:solidFill>
              <a:srgbClr val="F4F6F8"/>
            </a:solidFill>
            <a:ln w="14288">
              <a:solidFill>
                <a:srgbClr val="C2410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66332" y="4326255"/>
              <a:ext cx="16781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C2410C"/>
                  </a:solidFill>
                  <a:latin typeface="Pretendard SemiBold"/>
                  <a:ea typeface="Pretendard SemiBold"/>
                  <a:cs typeface="Pretendard SemiBold"/>
                </a:rPr>
                <a:t>Fine-tuning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8618" y="4832032"/>
              <a:ext cx="2510409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기본 행동·스타일·태스크 </a:t>
              </a:r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수행 방식을 학습으로 변경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2" name="Line 22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51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000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14-3 · 14-4 · 계층으로 정리하기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9334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경쟁 도구가 아니라 서로 다른 계층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685800" y="1809750"/>
            <a:ext cx="10820400" cy="1914525"/>
            <a:chOff x="685800" y="1809750"/>
            <a:chExt cx="10820400" cy="1914525"/>
          </a:xfrm>
        </p:grpSpPr>
        <p:sp>
          <p:nvSpPr>
            <p:cNvPr id="6" name="Rectangle 6"/>
            <p:cNvSpPr/>
            <p:nvPr/>
          </p:nvSpPr>
          <p:spPr>
            <a:xfrm>
              <a:off x="685800" y="1809750"/>
              <a:ext cx="10820400" cy="5334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156" y="1958340"/>
              <a:ext cx="12291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LangChain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77131" y="1958340"/>
              <a:ext cx="12935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LangGraph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87106" y="1958340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MCP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295775" y="180975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7905750" y="180975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85800" y="23431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67918" y="2774632"/>
              <a:ext cx="10039445" cy="322707"/>
              <a:chOff x="867918" y="2774632"/>
              <a:chExt cx="10039445" cy="32270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67918" y="2774632"/>
                <a:ext cx="21491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구성 요소를 조합한다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77893" y="2774632"/>
                <a:ext cx="33077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State·Graph로 실행을 통제한다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087868" y="2774632"/>
                <a:ext cx="281949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ko-KR" sz="1650" dirty="0">
                    <a:solidFill>
                      <a:srgbClr val="1D2430"/>
                    </a:solidFill>
                    <a:latin typeface="Pretendard"/>
                    <a:ea typeface="Pretendard"/>
                    <a:cs typeface="Pretendard"/>
                  </a:rPr>
                  <a:t>Tool·Resource 연결 표준화</a:t>
                </a: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685800" y="3714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676656" y="4091940"/>
            <a:ext cx="10067544" cy="1242060"/>
            <a:chOff x="676656" y="4091940"/>
            <a:chExt cx="10067544" cy="1242060"/>
          </a:xfrm>
        </p:grpSpPr>
        <p:sp>
          <p:nvSpPr>
            <p:cNvPr id="19" name="TextBox 19"/>
            <p:cNvSpPr txBox="1"/>
            <p:nvPr/>
          </p:nvSpPr>
          <p:spPr>
            <a:xfrm>
              <a:off x="676656" y="4091940"/>
              <a:ext cx="57175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자율성이 높아질수록 유연성↑, 예측 가능성·통제↓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85800" y="4572000"/>
              <a:ext cx="3048000" cy="762000"/>
              <a:chOff x="685800" y="4572000"/>
              <a:chExt cx="3048000" cy="762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85800" y="4572000"/>
                <a:ext cx="3048000" cy="7620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906581" y="4755832"/>
                <a:ext cx="6064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Chain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721339" y="5035868"/>
                <a:ext cx="9769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정해진 순서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3838194" y="4818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4191000" y="4572000"/>
              <a:ext cx="3048000" cy="762000"/>
              <a:chOff x="4191000" y="4572000"/>
              <a:chExt cx="30480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191000" y="4572000"/>
                <a:ext cx="3048000" cy="762000"/>
              </a:xfrm>
              <a:prstGeom prst="rect">
                <a:avLst/>
              </a:prstGeom>
              <a:noFill/>
              <a:ln w="14288">
                <a:solidFill>
                  <a:srgbClr val="E2E6E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172267" y="4755832"/>
                <a:ext cx="108546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14181F"/>
                    </a:solidFill>
                    <a:latin typeface="Pretendard SemiBold"/>
                    <a:ea typeface="Pretendard SemiBold"/>
                    <a:cs typeface="Pretendard SemiBold"/>
                  </a:rPr>
                  <a:t>Workflow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062976" y="5035868"/>
                <a:ext cx="1304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조건·분기·반복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7343394" y="4818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696200" y="4572000"/>
              <a:ext cx="3048000" cy="762000"/>
              <a:chOff x="7696200" y="4572000"/>
              <a:chExt cx="3048000" cy="762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96200" y="4572000"/>
                <a:ext cx="3048000" cy="762000"/>
              </a:xfrm>
              <a:prstGeom prst="rect">
                <a:avLst/>
              </a:prstGeom>
              <a:solidFill>
                <a:srgbClr val="F4F6F8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887497" y="4755832"/>
                <a:ext cx="6654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2563EB"/>
                    </a:solidFill>
                    <a:latin typeface="Pretendard SemiBold"/>
                    <a:ea typeface="Pretendard SemiBold"/>
                    <a:cs typeface="Pretendard SemiBold"/>
                  </a:rPr>
                  <a:t>Agent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81213" y="5035868"/>
                <a:ext cx="20779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ko-KR" sz="1350" dirty="0">
                    <a:solidFill>
                      <a:srgbClr val="5B6472"/>
                    </a:solidFill>
                    <a:latin typeface="Pretendard"/>
                    <a:ea typeface="Pretendard"/>
                    <a:cs typeface="Pretendard"/>
                  </a:rPr>
                  <a:t>다음 행동을 LLM이 판단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678180" y="5715000"/>
            <a:ext cx="10828020" cy="512445"/>
            <a:chOff x="678180" y="5715000"/>
            <a:chExt cx="10828020" cy="512445"/>
          </a:xfrm>
        </p:grpSpPr>
        <p:sp>
          <p:nvSpPr>
            <p:cNvPr id="35" name="Line 35"/>
            <p:cNvSpPr/>
            <p:nvPr/>
          </p:nvSpPr>
          <p:spPr>
            <a:xfrm>
              <a:off x="685800" y="5715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180" y="5934075"/>
              <a:ext cx="7628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세 기술은 같은 문제를 푸는 경쟁 도구가 아니라, 서로 다른 계층의 문제를 해결한다.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8" name="Line 38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52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911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14-5 · 최소한의 구조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1124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가장 자율적인 AI가 정답은 아니다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070805" cy="410718"/>
            <a:chOff x="675132" y="1678305"/>
            <a:chExt cx="1007080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0708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모든 문제를 Agent로 만들 필요는 없다 — 문제에 맞는 최소한의 구조를 고른다.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5132" y="2400300"/>
            <a:ext cx="10831068" cy="641223"/>
            <a:chOff x="675132" y="2400300"/>
            <a:chExt cx="10831068" cy="641223"/>
          </a:xfrm>
        </p:grpSpPr>
        <p:sp>
          <p:nvSpPr>
            <p:cNvPr id="8" name="Line 8"/>
            <p:cNvSpPr/>
            <p:nvPr/>
          </p:nvSpPr>
          <p:spPr>
            <a:xfrm>
              <a:off x="685800" y="24003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5132" y="26308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9606" y="2663190"/>
              <a:ext cx="2586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규칙으로 해결 가능하면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86856" y="2663190"/>
              <a:ext cx="28624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→ Workflow (더 안정적)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5132" y="3200400"/>
            <a:ext cx="10831068" cy="641223"/>
            <a:chOff x="675132" y="3200400"/>
            <a:chExt cx="10831068" cy="641223"/>
          </a:xfrm>
        </p:grpSpPr>
        <p:sp>
          <p:nvSpPr>
            <p:cNvPr id="13" name="Line 13"/>
            <p:cNvSpPr/>
            <p:nvPr/>
          </p:nvSpPr>
          <p:spPr>
            <a:xfrm>
              <a:off x="685800" y="3200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5132" y="34309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19606" y="346329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최신 정보가 문제라면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86856" y="3463290"/>
              <a:ext cx="1308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→ RAG 먼저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5132" y="4000500"/>
            <a:ext cx="10831068" cy="641223"/>
            <a:chOff x="675132" y="4000500"/>
            <a:chExt cx="10831068" cy="641223"/>
          </a:xfrm>
        </p:grpSpPr>
        <p:sp>
          <p:nvSpPr>
            <p:cNvPr id="18" name="Line 18"/>
            <p:cNvSpPr/>
            <p:nvPr/>
          </p:nvSpPr>
          <p:spPr>
            <a:xfrm>
              <a:off x="685800" y="4000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" y="42310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94A0AE"/>
                  </a:solidFill>
                  <a:latin typeface="Pretendard ExtraBold"/>
                  <a:ea typeface="Pretendard ExtraBold"/>
                  <a:cs typeface="Pretendard ExtraBold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19606" y="4263390"/>
              <a:ext cx="3689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반복되는 스타일·행동이 문제라면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86856" y="42633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→ 파인튜닝 고려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5132" y="4800600"/>
            <a:ext cx="10831068" cy="809625"/>
            <a:chOff x="675132" y="4800600"/>
            <a:chExt cx="10831068" cy="809625"/>
          </a:xfrm>
        </p:grpSpPr>
        <p:sp>
          <p:nvSpPr>
            <p:cNvPr id="23" name="Line 23"/>
            <p:cNvSpPr/>
            <p:nvPr/>
          </p:nvSpPr>
          <p:spPr>
            <a:xfrm>
              <a:off x="685800" y="4800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132" y="503110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19606" y="5063490"/>
              <a:ext cx="3144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복잡한 외부 행동이 필요하면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6856" y="5063490"/>
              <a:ext cx="23369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→ Agent + Tool 추가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85800" y="5600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677418" y="5860732"/>
            <a:ext cx="9133303" cy="322707"/>
            <a:chOff x="677418" y="5860732"/>
            <a:chExt cx="9133303" cy="322707"/>
          </a:xfrm>
        </p:grpSpPr>
        <p:sp>
          <p:nvSpPr>
            <p:cNvPr id="29" name="TextBox 29"/>
            <p:cNvSpPr txBox="1"/>
            <p:nvPr/>
          </p:nvSpPr>
          <p:spPr>
            <a:xfrm>
              <a:off x="677418" y="5860732"/>
              <a:ext cx="91333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정해진 규칙으로 되면 Workflow가 더 안정적이고, 최신 정보가 문제면 RAG가 먼저다.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1" name="Line 31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704" y="65379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AX · LLM 시스템 문해력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53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838200"/>
            <a:ext cx="646767" cy="537401"/>
            <a:chOff x="678942" y="838200"/>
            <a:chExt cx="646767" cy="537401"/>
          </a:xfrm>
        </p:grpSpPr>
        <p:sp>
          <p:nvSpPr>
            <p:cNvPr id="2" name="Rectangle 2"/>
            <p:cNvSpPr/>
            <p:nvPr/>
          </p:nvSpPr>
          <p:spPr>
            <a:xfrm>
              <a:off x="685800" y="8382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111568"/>
              <a:ext cx="646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마무리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70560" y="1847850"/>
            <a:ext cx="5093208" cy="2450973"/>
            <a:chOff x="670560" y="1847850"/>
            <a:chExt cx="5093208" cy="2450973"/>
          </a:xfrm>
        </p:grpSpPr>
        <p:sp>
          <p:nvSpPr>
            <p:cNvPr id="5" name="TextBox 5"/>
            <p:cNvSpPr txBox="1"/>
            <p:nvPr/>
          </p:nvSpPr>
          <p:spPr>
            <a:xfrm>
              <a:off x="670560" y="1847850"/>
              <a:ext cx="28980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0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AX 문해력이란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5132" y="2630805"/>
              <a:ext cx="5088636" cy="16680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모델을 이해하는 능력을 넘어,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문제에 맞는 AI 시스템 구조를 선택하고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실패를 진단하며 비용·리스크·통제를 함께 </a:t>
              </a:r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판단하는 능력이다.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81800" y="1714500"/>
            <a:ext cx="9525" cy="3619500"/>
            <a:chOff x="6781800" y="17145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7818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229856" y="1805940"/>
            <a:ext cx="3471539" cy="3043999"/>
            <a:chOff x="7229856" y="1805940"/>
            <a:chExt cx="3471539" cy="3043999"/>
          </a:xfrm>
        </p:grpSpPr>
        <p:sp>
          <p:nvSpPr>
            <p:cNvPr id="10" name="TextBox 10"/>
            <p:cNvSpPr txBox="1"/>
            <p:nvPr/>
          </p:nvSpPr>
          <p:spPr>
            <a:xfrm>
              <a:off x="7229856" y="1805940"/>
              <a:ext cx="1875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판단 체크리스트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30618" y="2412682"/>
              <a:ext cx="30709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① 우리 문제의 위치를 짚었는가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30618" y="3022282"/>
              <a:ext cx="27821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② 최소한의 구조를 골랐는가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30618" y="3631882"/>
              <a:ext cx="29598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③ 실패를 검색·생성·행동으로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218" y="3917632"/>
              <a:ext cx="16382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나눠 진단하는가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30618" y="4527232"/>
              <a:ext cx="34707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65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④ 비용·리스크·통제를 함께 봤는가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942" y="5638800"/>
            <a:ext cx="10827258" cy="727901"/>
            <a:chOff x="678942" y="5638800"/>
            <a:chExt cx="10827258" cy="727901"/>
          </a:xfrm>
        </p:grpSpPr>
        <p:sp>
          <p:nvSpPr>
            <p:cNvPr id="17" name="Line 17"/>
            <p:cNvSpPr/>
            <p:nvPr/>
          </p:nvSpPr>
          <p:spPr>
            <a:xfrm>
              <a:off x="685800" y="5638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8942" y="5835968"/>
              <a:ext cx="6120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LLM은 코퍼스로 다음 토큰 예측을 학습하고 고정된 가중치로 추론한다.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6102668"/>
              <a:ext cx="10197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Prompt는 입력을, RAG는 지식을, Fine-tuning은 행동을 바꾼다 — LangChain·LangGraph·MCP는 서로 다른 계층을 잇는다.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9704" y="6496050"/>
            <a:ext cx="10832592" cy="314706"/>
            <a:chOff x="679704" y="6496050"/>
            <a:chExt cx="10832592" cy="314706"/>
          </a:xfrm>
        </p:grpSpPr>
        <p:sp>
          <p:nvSpPr>
            <p:cNvPr id="21" name="Line 21"/>
            <p:cNvSpPr/>
            <p:nvPr/>
          </p:nvSpPr>
          <p:spPr>
            <a:xfrm>
              <a:off x="685800" y="6496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9704" y="6576060"/>
              <a:ext cx="3007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전문성 강화 영어교과 심화 연수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8932" y="65760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54 / 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2026-09-06T17:13:15Z</dcterms:created>
  <dcterms:modified xsi:type="dcterms:W3CDTF">2026-09-06T17:13:15Z</dcterms:modified>
  <cp:category/>
  <cp:contentStatus/>
</cp:coreProperties>
</file>